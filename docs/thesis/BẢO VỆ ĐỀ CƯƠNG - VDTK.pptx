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3"/>
  </p:notesMasterIdLst>
  <p:sldIdLst>
    <p:sldId id="256" r:id="rId2"/>
    <p:sldId id="257" r:id="rId3"/>
    <p:sldId id="258" r:id="rId4"/>
    <p:sldId id="259" r:id="rId5"/>
    <p:sldId id="260" r:id="rId6"/>
    <p:sldId id="261" r:id="rId7"/>
    <p:sldId id="263" r:id="rId8"/>
    <p:sldId id="264" r:id="rId9"/>
    <p:sldId id="277"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8288000" cy="10287000"/>
  <p:notesSz cx="6858000" cy="9144000"/>
  <p:embeddedFontLst>
    <p:embeddedFont>
      <p:font typeface="Arial Bold" panose="020B0704020202020204" pitchFamily="34" charset="0"/>
      <p:regular r:id="rId24"/>
      <p:bold r:id="rId25"/>
    </p:embeddedFont>
    <p:embeddedFont>
      <p:font typeface="Arial Italics" panose="020B0604020202020204" charset="0"/>
      <p:regular r:id="rId26"/>
    </p:embeddedFont>
    <p:embeddedFont>
      <p:font typeface="Times New Roman Bold" panose="02020803070505020304" pitchFamily="18" charset="0"/>
      <p:regular r:id="rId27"/>
      <p:bold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6" d="100"/>
          <a:sy n="56" d="100"/>
        </p:scale>
        <p:origin x="219"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12.09.2026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9/12/2026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jpe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5.jpeg"/><Relationship Id="rId5" Type="http://schemas.openxmlformats.org/officeDocument/2006/relationships/image" Target="../media/image2.sv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5.jpe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8.jpeg"/><Relationship Id="rId5" Type="http://schemas.openxmlformats.org/officeDocument/2006/relationships/image" Target="../media/image2.sv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5.jpeg"/><Relationship Id="rId5" Type="http://schemas.openxmlformats.org/officeDocument/2006/relationships/image" Target="../media/image2.sv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3.png"/><Relationship Id="rId7"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5.jpeg"/><Relationship Id="rId5" Type="http://schemas.openxmlformats.org/officeDocument/2006/relationships/image" Target="../media/image2.svg"/><Relationship Id="rId4" Type="http://schemas.openxmlformats.org/officeDocument/2006/relationships/image" Target="../media/image4.png"/><Relationship Id="rId9" Type="http://schemas.openxmlformats.org/officeDocument/2006/relationships/image" Target="../media/image11.png"/></Relationships>
</file>

<file path=ppt/slides/_rels/slide6.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3.png"/><Relationship Id="rId7" Type="http://schemas.openxmlformats.org/officeDocument/2006/relationships/image" Target="../media/image12.png"/><Relationship Id="rId12" Type="http://schemas.openxmlformats.org/officeDocument/2006/relationships/image" Target="../media/image17.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5.jpeg"/><Relationship Id="rId11" Type="http://schemas.openxmlformats.org/officeDocument/2006/relationships/image" Target="../media/image16.png"/><Relationship Id="rId5" Type="http://schemas.openxmlformats.org/officeDocument/2006/relationships/image" Target="../media/image2.svg"/><Relationship Id="rId10" Type="http://schemas.openxmlformats.org/officeDocument/2006/relationships/image" Target="../media/image15.png"/><Relationship Id="rId4" Type="http://schemas.openxmlformats.org/officeDocument/2006/relationships/image" Target="../media/image4.png"/><Relationship Id="rId9"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5.jpe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8.jpeg"/><Relationship Id="rId5" Type="http://schemas.openxmlformats.org/officeDocument/2006/relationships/image" Target="../media/image2.sv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8.jpe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5.jpeg"/><Relationship Id="rId5" Type="http://schemas.openxmlformats.org/officeDocument/2006/relationships/image" Target="../media/image2.sv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3.png"/><Relationship Id="rId7" Type="http://schemas.openxmlformats.org/officeDocument/2006/relationships/image" Target="../media/image12.png"/><Relationship Id="rId12" Type="http://schemas.openxmlformats.org/officeDocument/2006/relationships/image" Target="../media/image17.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5.jpeg"/><Relationship Id="rId11" Type="http://schemas.openxmlformats.org/officeDocument/2006/relationships/image" Target="../media/image16.png"/><Relationship Id="rId5" Type="http://schemas.openxmlformats.org/officeDocument/2006/relationships/image" Target="../media/image2.svg"/><Relationship Id="rId10" Type="http://schemas.openxmlformats.org/officeDocument/2006/relationships/image" Target="../media/image15.png"/><Relationship Id="rId4" Type="http://schemas.openxmlformats.org/officeDocument/2006/relationships/image" Target="../media/image4.png"/><Relationship Id="rId9"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5.jpeg"/><Relationship Id="rId5" Type="http://schemas.openxmlformats.org/officeDocument/2006/relationships/image" Target="../media/image2.sv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5.jpe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8.jpeg"/><Relationship Id="rId5" Type="http://schemas.openxmlformats.org/officeDocument/2006/relationships/image" Target="../media/image2.sv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24.png"/><Relationship Id="rId3" Type="http://schemas.openxmlformats.org/officeDocument/2006/relationships/image" Target="../media/image6.png"/><Relationship Id="rId7" Type="http://schemas.openxmlformats.org/officeDocument/2006/relationships/image" Target="../media/image5.jpeg"/><Relationship Id="rId12" Type="http://schemas.openxmlformats.org/officeDocument/2006/relationships/image" Target="../media/image23.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2.svg"/><Relationship Id="rId11" Type="http://schemas.openxmlformats.org/officeDocument/2006/relationships/image" Target="../media/image22.png"/><Relationship Id="rId5" Type="http://schemas.openxmlformats.org/officeDocument/2006/relationships/image" Target="../media/image4.png"/><Relationship Id="rId10" Type="http://schemas.openxmlformats.org/officeDocument/2006/relationships/image" Target="../media/image21.png"/><Relationship Id="rId4" Type="http://schemas.openxmlformats.org/officeDocument/2006/relationships/image" Target="../media/image3.png"/><Relationship Id="rId9" Type="http://schemas.openxmlformats.org/officeDocument/2006/relationships/image" Target="../media/image20.png"/></Relationships>
</file>

<file path=ppt/slides/_rels/slide13.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6.png"/><Relationship Id="rId7"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2.sv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26.png"/></Relationships>
</file>

<file path=ppt/slides/_rels/slide14.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6.png"/><Relationship Id="rId7"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2.svg"/><Relationship Id="rId5" Type="http://schemas.openxmlformats.org/officeDocument/2006/relationships/image" Target="../media/image4.png"/><Relationship Id="rId10" Type="http://schemas.openxmlformats.org/officeDocument/2006/relationships/image" Target="../media/image29.png"/><Relationship Id="rId4" Type="http://schemas.openxmlformats.org/officeDocument/2006/relationships/image" Target="../media/image3.png"/><Relationship Id="rId9" Type="http://schemas.openxmlformats.org/officeDocument/2006/relationships/image" Target="../media/image28.png"/></Relationships>
</file>

<file path=ppt/slides/_rels/slide15.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6.png"/><Relationship Id="rId7"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2.svg"/><Relationship Id="rId5" Type="http://schemas.openxmlformats.org/officeDocument/2006/relationships/image" Target="../media/image4.pn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31.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5.jpeg"/><Relationship Id="rId5" Type="http://schemas.openxmlformats.org/officeDocument/2006/relationships/image" Target="../media/image2.svg"/><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5.jpe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8.jpeg"/><Relationship Id="rId5" Type="http://schemas.openxmlformats.org/officeDocument/2006/relationships/image" Target="../media/image2.svg"/><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5.jpeg"/><Relationship Id="rId5" Type="http://schemas.openxmlformats.org/officeDocument/2006/relationships/image" Target="../media/image2.svg"/><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5.jpeg"/><Relationship Id="rId5" Type="http://schemas.openxmlformats.org/officeDocument/2006/relationships/image" Target="../media/image2.svg"/><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5.jpeg"/><Relationship Id="rId5" Type="http://schemas.openxmlformats.org/officeDocument/2006/relationships/image" Target="../media/image2.svg"/><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5.jpe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8.jpeg"/><Relationship Id="rId5" Type="http://schemas.openxmlformats.org/officeDocument/2006/relationships/image" Target="../media/image2.sv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91440" y="-2287991"/>
            <a:ext cx="18105120" cy="527771"/>
          </a:xfrm>
          <a:prstGeom prst="rect">
            <a:avLst/>
          </a:prstGeom>
        </p:spPr>
        <p:txBody>
          <a:bodyPr lIns="0" tIns="0" rIns="0" bIns="0" rtlCol="0" anchor="t">
            <a:spAutoFit/>
          </a:bodyPr>
          <a:lstStyle/>
          <a:p>
            <a:pPr algn="ctr">
              <a:lnSpc>
                <a:spcPts val="3600"/>
              </a:lnSpc>
            </a:pPr>
            <a:r>
              <a:rPr lang="en-US" sz="3000">
                <a:solidFill>
                  <a:srgbClr val="C3C3C3"/>
                </a:solidFill>
                <a:latin typeface="Arial"/>
                <a:ea typeface="Arial"/>
                <a:cs typeface="Arial"/>
                <a:sym typeface="Arial"/>
              </a:rPr>
              <a:t>www.9slide.vn</a:t>
            </a:r>
          </a:p>
        </p:txBody>
      </p:sp>
      <p:grpSp>
        <p:nvGrpSpPr>
          <p:cNvPr id="3" name="Group 3"/>
          <p:cNvGrpSpPr/>
          <p:nvPr/>
        </p:nvGrpSpPr>
        <p:grpSpPr>
          <a:xfrm>
            <a:off x="0" y="2124"/>
            <a:ext cx="18291715" cy="10295487"/>
            <a:chOff x="0" y="0"/>
            <a:chExt cx="24388953" cy="13727316"/>
          </a:xfrm>
        </p:grpSpPr>
        <p:sp>
          <p:nvSpPr>
            <p:cNvPr id="4" name="Freeform 4"/>
            <p:cNvSpPr/>
            <p:nvPr/>
          </p:nvSpPr>
          <p:spPr>
            <a:xfrm>
              <a:off x="0" y="0"/>
              <a:ext cx="24388953" cy="13727303"/>
            </a:xfrm>
            <a:custGeom>
              <a:avLst/>
              <a:gdLst/>
              <a:ahLst/>
              <a:cxnLst/>
              <a:rect l="l" t="t" r="r" b="b"/>
              <a:pathLst>
                <a:path w="24388953" h="1372730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txBody>
            <a:bodyPr/>
            <a:lstStyle/>
            <a:p>
              <a:endParaRPr lang="vi-VN"/>
            </a:p>
          </p:txBody>
        </p:sp>
      </p:grpSp>
      <p:grpSp>
        <p:nvGrpSpPr>
          <p:cNvPr id="5" name="Group 5"/>
          <p:cNvGrpSpPr/>
          <p:nvPr/>
        </p:nvGrpSpPr>
        <p:grpSpPr>
          <a:xfrm>
            <a:off x="-36214" y="0"/>
            <a:ext cx="950614" cy="10287000"/>
            <a:chOff x="0" y="0"/>
            <a:chExt cx="1267485" cy="13716000"/>
          </a:xfrm>
        </p:grpSpPr>
        <p:sp>
          <p:nvSpPr>
            <p:cNvPr id="6" name="Freeform 6"/>
            <p:cNvSpPr/>
            <p:nvPr/>
          </p:nvSpPr>
          <p:spPr>
            <a:xfrm>
              <a:off x="0" y="0"/>
              <a:ext cx="1267460" cy="13716000"/>
            </a:xfrm>
            <a:custGeom>
              <a:avLst/>
              <a:gdLst/>
              <a:ahLst/>
              <a:cxnLst/>
              <a:rect l="l" t="t" r="r" b="b"/>
              <a:pathLst>
                <a:path w="1267460" h="13716000">
                  <a:moveTo>
                    <a:pt x="0" y="0"/>
                  </a:moveTo>
                  <a:lnTo>
                    <a:pt x="1267460" y="0"/>
                  </a:lnTo>
                  <a:lnTo>
                    <a:pt x="1267460" y="13716000"/>
                  </a:lnTo>
                  <a:lnTo>
                    <a:pt x="0" y="13716000"/>
                  </a:lnTo>
                  <a:close/>
                </a:path>
              </a:pathLst>
            </a:custGeom>
            <a:gradFill rotWithShape="1">
              <a:gsLst>
                <a:gs pos="0">
                  <a:srgbClr val="10CD57">
                    <a:alpha val="100000"/>
                  </a:srgbClr>
                </a:gs>
                <a:gs pos="100000">
                  <a:srgbClr val="027159">
                    <a:alpha val="100000"/>
                  </a:srgbClr>
                </a:gs>
              </a:gsLst>
              <a:lin ang="5400000"/>
            </a:gradFill>
          </p:spPr>
          <p:txBody>
            <a:bodyPr/>
            <a:lstStyle/>
            <a:p>
              <a:endParaRPr lang="vi-VN"/>
            </a:p>
          </p:txBody>
        </p:sp>
      </p:grpSp>
      <p:grpSp>
        <p:nvGrpSpPr>
          <p:cNvPr id="7" name="Group 7"/>
          <p:cNvGrpSpPr/>
          <p:nvPr/>
        </p:nvGrpSpPr>
        <p:grpSpPr>
          <a:xfrm>
            <a:off x="-46873" y="0"/>
            <a:ext cx="950614" cy="10287000"/>
            <a:chOff x="0" y="0"/>
            <a:chExt cx="1267485" cy="13716000"/>
          </a:xfrm>
        </p:grpSpPr>
        <p:sp>
          <p:nvSpPr>
            <p:cNvPr id="8" name="Freeform 8"/>
            <p:cNvSpPr/>
            <p:nvPr/>
          </p:nvSpPr>
          <p:spPr>
            <a:xfrm flipV="1">
              <a:off x="0" y="0"/>
              <a:ext cx="1267460" cy="13716000"/>
            </a:xfrm>
            <a:custGeom>
              <a:avLst/>
              <a:gdLst/>
              <a:ahLst/>
              <a:cxnLst/>
              <a:rect l="l" t="t" r="r" b="b"/>
              <a:pathLst>
                <a:path w="1267460" h="13716000">
                  <a:moveTo>
                    <a:pt x="0" y="0"/>
                  </a:moveTo>
                  <a:lnTo>
                    <a:pt x="1267460" y="0"/>
                  </a:lnTo>
                  <a:lnTo>
                    <a:pt x="1267460" y="13716000"/>
                  </a:lnTo>
                  <a:lnTo>
                    <a:pt x="0" y="13716000"/>
                  </a:lnTo>
                  <a:close/>
                </a:path>
              </a:pathLst>
            </a:custGeom>
            <a:blipFill>
              <a:blip r:embed="rId2"/>
              <a:stretch>
                <a:fillRect l="-2951" r="-2953"/>
              </a:stretch>
            </a:blipFill>
          </p:spPr>
          <p:txBody>
            <a:bodyPr/>
            <a:lstStyle/>
            <a:p>
              <a:endParaRPr lang="vi-VN"/>
            </a:p>
          </p:txBody>
        </p:sp>
      </p:grpSp>
      <p:sp>
        <p:nvSpPr>
          <p:cNvPr id="9" name="TextBox 9"/>
          <p:cNvSpPr txBox="1"/>
          <p:nvPr/>
        </p:nvSpPr>
        <p:spPr>
          <a:xfrm rot="-5400000">
            <a:off x="-2614688" y="6739452"/>
            <a:ext cx="6076721" cy="425920"/>
          </a:xfrm>
          <a:prstGeom prst="rect">
            <a:avLst/>
          </a:prstGeom>
        </p:spPr>
        <p:txBody>
          <a:bodyPr lIns="0" tIns="0" rIns="0" bIns="0" rtlCol="0" anchor="t">
            <a:spAutoFit/>
          </a:bodyPr>
          <a:lstStyle/>
          <a:p>
            <a:pPr algn="l">
              <a:lnSpc>
                <a:spcPts val="2879"/>
              </a:lnSpc>
            </a:pPr>
            <a:r>
              <a:rPr lang="en-US" sz="2400" b="1">
                <a:solidFill>
                  <a:srgbClr val="FFFFFF"/>
                </a:solidFill>
                <a:latin typeface="Arial Bold"/>
                <a:ea typeface="Arial Bold"/>
                <a:cs typeface="Arial Bold"/>
                <a:sym typeface="Arial Bold"/>
              </a:rPr>
              <a:t>FACULTY OF COMPUTER ENGINEERING</a:t>
            </a:r>
          </a:p>
        </p:txBody>
      </p:sp>
      <p:sp>
        <p:nvSpPr>
          <p:cNvPr id="10" name="Freeform 10"/>
          <p:cNvSpPr/>
          <p:nvPr/>
        </p:nvSpPr>
        <p:spPr>
          <a:xfrm>
            <a:off x="17262338" y="364607"/>
            <a:ext cx="819198" cy="819198"/>
          </a:xfrm>
          <a:custGeom>
            <a:avLst/>
            <a:gdLst/>
            <a:ahLst/>
            <a:cxnLst/>
            <a:rect l="l" t="t" r="r" b="b"/>
            <a:pathLst>
              <a:path w="819198" h="819198">
                <a:moveTo>
                  <a:pt x="0" y="0"/>
                </a:moveTo>
                <a:lnTo>
                  <a:pt x="819198" y="0"/>
                </a:lnTo>
                <a:lnTo>
                  <a:pt x="819198" y="819198"/>
                </a:lnTo>
                <a:lnTo>
                  <a:pt x="0" y="81919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vi-VN"/>
          </a:p>
        </p:txBody>
      </p:sp>
      <p:grpSp>
        <p:nvGrpSpPr>
          <p:cNvPr id="11" name="Group 11"/>
          <p:cNvGrpSpPr/>
          <p:nvPr/>
        </p:nvGrpSpPr>
        <p:grpSpPr>
          <a:xfrm>
            <a:off x="6719973" y="293294"/>
            <a:ext cx="4848044" cy="957948"/>
            <a:chOff x="0" y="0"/>
            <a:chExt cx="6464059" cy="1277264"/>
          </a:xfrm>
        </p:grpSpPr>
        <p:sp>
          <p:nvSpPr>
            <p:cNvPr id="12" name="Freeform 12"/>
            <p:cNvSpPr/>
            <p:nvPr/>
          </p:nvSpPr>
          <p:spPr>
            <a:xfrm>
              <a:off x="0" y="0"/>
              <a:ext cx="6464173" cy="1277366"/>
            </a:xfrm>
            <a:custGeom>
              <a:avLst/>
              <a:gdLst/>
              <a:ahLst/>
              <a:cxnLst/>
              <a:rect l="l" t="t" r="r" b="b"/>
              <a:pathLst>
                <a:path w="6464173" h="1277366">
                  <a:moveTo>
                    <a:pt x="0" y="638683"/>
                  </a:moveTo>
                  <a:cubicBezTo>
                    <a:pt x="0" y="285877"/>
                    <a:pt x="285877" y="0"/>
                    <a:pt x="638683" y="0"/>
                  </a:cubicBezTo>
                  <a:lnTo>
                    <a:pt x="5825490" y="0"/>
                  </a:lnTo>
                  <a:cubicBezTo>
                    <a:pt x="6178169" y="0"/>
                    <a:pt x="6464173" y="285877"/>
                    <a:pt x="6464173" y="638683"/>
                  </a:cubicBezTo>
                  <a:cubicBezTo>
                    <a:pt x="6464173" y="991489"/>
                    <a:pt x="6178296" y="1277366"/>
                    <a:pt x="5825490" y="1277366"/>
                  </a:cubicBezTo>
                  <a:lnTo>
                    <a:pt x="638683" y="1277366"/>
                  </a:lnTo>
                  <a:cubicBezTo>
                    <a:pt x="285877" y="1277239"/>
                    <a:pt x="0" y="991362"/>
                    <a:pt x="0" y="638683"/>
                  </a:cubicBezTo>
                  <a:close/>
                </a:path>
              </a:pathLst>
            </a:custGeom>
            <a:gradFill rotWithShape="1">
              <a:gsLst>
                <a:gs pos="0">
                  <a:srgbClr val="38EF7D">
                    <a:alpha val="100000"/>
                  </a:srgbClr>
                </a:gs>
                <a:gs pos="100000">
                  <a:srgbClr val="752AFF">
                    <a:alpha val="100000"/>
                  </a:srgbClr>
                </a:gs>
              </a:gsLst>
              <a:lin ang="4729360"/>
            </a:gradFill>
          </p:spPr>
          <p:txBody>
            <a:bodyPr/>
            <a:lstStyle/>
            <a:p>
              <a:endParaRPr lang="vi-VN"/>
            </a:p>
          </p:txBody>
        </p:sp>
      </p:grpSp>
      <p:grpSp>
        <p:nvGrpSpPr>
          <p:cNvPr id="13" name="Group 13"/>
          <p:cNvGrpSpPr/>
          <p:nvPr/>
        </p:nvGrpSpPr>
        <p:grpSpPr>
          <a:xfrm>
            <a:off x="6807460" y="371332"/>
            <a:ext cx="4673079" cy="801872"/>
            <a:chOff x="0" y="0"/>
            <a:chExt cx="6230772" cy="1069162"/>
          </a:xfrm>
        </p:grpSpPr>
        <p:sp>
          <p:nvSpPr>
            <p:cNvPr id="14" name="Freeform 14"/>
            <p:cNvSpPr/>
            <p:nvPr/>
          </p:nvSpPr>
          <p:spPr>
            <a:xfrm>
              <a:off x="0" y="0"/>
              <a:ext cx="6230747" cy="1069086"/>
            </a:xfrm>
            <a:custGeom>
              <a:avLst/>
              <a:gdLst/>
              <a:ahLst/>
              <a:cxnLst/>
              <a:rect l="l" t="t" r="r" b="b"/>
              <a:pathLst>
                <a:path w="6230747" h="1069086">
                  <a:moveTo>
                    <a:pt x="0" y="534543"/>
                  </a:moveTo>
                  <a:cubicBezTo>
                    <a:pt x="0" y="239395"/>
                    <a:pt x="239395" y="0"/>
                    <a:pt x="534543" y="0"/>
                  </a:cubicBezTo>
                  <a:lnTo>
                    <a:pt x="5696204" y="0"/>
                  </a:lnTo>
                  <a:cubicBezTo>
                    <a:pt x="5991479" y="0"/>
                    <a:pt x="6230747" y="239395"/>
                    <a:pt x="6230747" y="534543"/>
                  </a:cubicBezTo>
                  <a:cubicBezTo>
                    <a:pt x="6230747" y="829691"/>
                    <a:pt x="5991352" y="1069086"/>
                    <a:pt x="5696204" y="1069086"/>
                  </a:cubicBezTo>
                  <a:lnTo>
                    <a:pt x="534543" y="1069086"/>
                  </a:lnTo>
                  <a:cubicBezTo>
                    <a:pt x="239395" y="1069213"/>
                    <a:pt x="0" y="829818"/>
                    <a:pt x="0" y="534543"/>
                  </a:cubicBezTo>
                  <a:close/>
                </a:path>
              </a:pathLst>
            </a:custGeom>
            <a:solidFill>
              <a:srgbClr val="FFFFFF"/>
            </a:solidFill>
          </p:spPr>
          <p:txBody>
            <a:bodyPr/>
            <a:lstStyle/>
            <a:p>
              <a:endParaRPr lang="vi-VN"/>
            </a:p>
          </p:txBody>
        </p:sp>
      </p:grpSp>
      <p:grpSp>
        <p:nvGrpSpPr>
          <p:cNvPr id="15" name="Group 15"/>
          <p:cNvGrpSpPr/>
          <p:nvPr/>
        </p:nvGrpSpPr>
        <p:grpSpPr>
          <a:xfrm>
            <a:off x="9436446" y="197910"/>
            <a:ext cx="1163307" cy="1152592"/>
            <a:chOff x="0" y="0"/>
            <a:chExt cx="1551076" cy="1536789"/>
          </a:xfrm>
        </p:grpSpPr>
        <p:sp>
          <p:nvSpPr>
            <p:cNvPr id="16" name="Freeform 16" descr="Icon  Description automatically generated with medium confidence"/>
            <p:cNvSpPr/>
            <p:nvPr/>
          </p:nvSpPr>
          <p:spPr>
            <a:xfrm>
              <a:off x="0" y="0"/>
              <a:ext cx="1551051" cy="1536827"/>
            </a:xfrm>
            <a:custGeom>
              <a:avLst/>
              <a:gdLst/>
              <a:ahLst/>
              <a:cxnLst/>
              <a:rect l="l" t="t" r="r" b="b"/>
              <a:pathLst>
                <a:path w="1551051" h="1536827">
                  <a:moveTo>
                    <a:pt x="0" y="0"/>
                  </a:moveTo>
                  <a:lnTo>
                    <a:pt x="1551051" y="0"/>
                  </a:lnTo>
                  <a:lnTo>
                    <a:pt x="1551051" y="1536827"/>
                  </a:lnTo>
                  <a:lnTo>
                    <a:pt x="0" y="1536827"/>
                  </a:lnTo>
                  <a:lnTo>
                    <a:pt x="0" y="0"/>
                  </a:lnTo>
                  <a:close/>
                </a:path>
              </a:pathLst>
            </a:custGeom>
            <a:blipFill>
              <a:blip r:embed="rId4"/>
              <a:stretch>
                <a:fillRect l="-75" r="-76" b="2"/>
              </a:stretch>
            </a:blipFill>
          </p:spPr>
          <p:txBody>
            <a:bodyPr/>
            <a:lstStyle/>
            <a:p>
              <a:endParaRPr lang="vi-VN"/>
            </a:p>
          </p:txBody>
        </p:sp>
      </p:grpSp>
      <p:grpSp>
        <p:nvGrpSpPr>
          <p:cNvPr id="17" name="Group 17"/>
          <p:cNvGrpSpPr/>
          <p:nvPr/>
        </p:nvGrpSpPr>
        <p:grpSpPr>
          <a:xfrm>
            <a:off x="7688247" y="233439"/>
            <a:ext cx="1307516" cy="1081516"/>
            <a:chOff x="0" y="0"/>
            <a:chExt cx="1743354" cy="1442022"/>
          </a:xfrm>
        </p:grpSpPr>
        <p:sp>
          <p:nvSpPr>
            <p:cNvPr id="18" name="Freeform 18" descr="A picture containing clipart, vector graphics  Description automatically generated"/>
            <p:cNvSpPr/>
            <p:nvPr/>
          </p:nvSpPr>
          <p:spPr>
            <a:xfrm>
              <a:off x="0" y="0"/>
              <a:ext cx="1743329" cy="1442085"/>
            </a:xfrm>
            <a:custGeom>
              <a:avLst/>
              <a:gdLst/>
              <a:ahLst/>
              <a:cxnLst/>
              <a:rect l="l" t="t" r="r" b="b"/>
              <a:pathLst>
                <a:path w="1743329" h="1442085">
                  <a:moveTo>
                    <a:pt x="0" y="0"/>
                  </a:moveTo>
                  <a:lnTo>
                    <a:pt x="1743329" y="0"/>
                  </a:lnTo>
                  <a:lnTo>
                    <a:pt x="1743329" y="1442085"/>
                  </a:lnTo>
                  <a:lnTo>
                    <a:pt x="0" y="1442085"/>
                  </a:lnTo>
                  <a:lnTo>
                    <a:pt x="0" y="0"/>
                  </a:lnTo>
                  <a:close/>
                </a:path>
              </a:pathLst>
            </a:custGeom>
            <a:blipFill>
              <a:blip r:embed="rId5"/>
              <a:stretch>
                <a:fillRect t="-74" r="-1" b="-71"/>
              </a:stretch>
            </a:blipFill>
          </p:spPr>
          <p:txBody>
            <a:bodyPr/>
            <a:lstStyle/>
            <a:p>
              <a:endParaRPr lang="vi-VN"/>
            </a:p>
          </p:txBody>
        </p:sp>
      </p:grpSp>
      <p:grpSp>
        <p:nvGrpSpPr>
          <p:cNvPr id="19" name="Group 19"/>
          <p:cNvGrpSpPr/>
          <p:nvPr/>
        </p:nvGrpSpPr>
        <p:grpSpPr>
          <a:xfrm>
            <a:off x="0" y="2124"/>
            <a:ext cx="18291715" cy="10295487"/>
            <a:chOff x="0" y="0"/>
            <a:chExt cx="24388953" cy="13727316"/>
          </a:xfrm>
        </p:grpSpPr>
        <p:sp>
          <p:nvSpPr>
            <p:cNvPr id="20" name="Freeform 20"/>
            <p:cNvSpPr/>
            <p:nvPr/>
          </p:nvSpPr>
          <p:spPr>
            <a:xfrm>
              <a:off x="0" y="0"/>
              <a:ext cx="24388953" cy="13727303"/>
            </a:xfrm>
            <a:custGeom>
              <a:avLst/>
              <a:gdLst/>
              <a:ahLst/>
              <a:cxnLst/>
              <a:rect l="l" t="t" r="r" b="b"/>
              <a:pathLst>
                <a:path w="24388953" h="1372730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txBody>
            <a:bodyPr/>
            <a:lstStyle/>
            <a:p>
              <a:endParaRPr lang="vi-VN"/>
            </a:p>
          </p:txBody>
        </p:sp>
      </p:grpSp>
      <p:grpSp>
        <p:nvGrpSpPr>
          <p:cNvPr id="21" name="Group 21"/>
          <p:cNvGrpSpPr/>
          <p:nvPr/>
        </p:nvGrpSpPr>
        <p:grpSpPr>
          <a:xfrm>
            <a:off x="2266950" y="2367572"/>
            <a:ext cx="14344650" cy="2794979"/>
            <a:chOff x="0" y="0"/>
            <a:chExt cx="19126200" cy="3726638"/>
          </a:xfrm>
        </p:grpSpPr>
        <p:sp>
          <p:nvSpPr>
            <p:cNvPr id="22" name="Freeform 22"/>
            <p:cNvSpPr/>
            <p:nvPr/>
          </p:nvSpPr>
          <p:spPr>
            <a:xfrm>
              <a:off x="0" y="0"/>
              <a:ext cx="18338800" cy="3726638"/>
            </a:xfrm>
            <a:custGeom>
              <a:avLst/>
              <a:gdLst/>
              <a:ahLst/>
              <a:cxnLst/>
              <a:rect l="l" t="t" r="r" b="b"/>
              <a:pathLst>
                <a:path w="18338800" h="3726638">
                  <a:moveTo>
                    <a:pt x="0" y="0"/>
                  </a:moveTo>
                  <a:lnTo>
                    <a:pt x="18338800" y="0"/>
                  </a:lnTo>
                  <a:lnTo>
                    <a:pt x="18338800" y="3726638"/>
                  </a:lnTo>
                  <a:lnTo>
                    <a:pt x="0" y="3726638"/>
                  </a:lnTo>
                  <a:close/>
                </a:path>
              </a:pathLst>
            </a:custGeom>
            <a:blipFill>
              <a:blip r:embed="rId6">
                <a:alphaModFix amt="0"/>
              </a:blip>
              <a:stretch>
                <a:fillRect t="-45885" b="-45885"/>
              </a:stretch>
            </a:blipFill>
          </p:spPr>
          <p:txBody>
            <a:bodyPr/>
            <a:lstStyle/>
            <a:p>
              <a:endParaRPr lang="vi-VN"/>
            </a:p>
          </p:txBody>
        </p:sp>
        <p:sp>
          <p:nvSpPr>
            <p:cNvPr id="23" name="TextBox 23"/>
            <p:cNvSpPr txBox="1"/>
            <p:nvPr/>
          </p:nvSpPr>
          <p:spPr>
            <a:xfrm>
              <a:off x="0" y="47625"/>
              <a:ext cx="19126200" cy="3679012"/>
            </a:xfrm>
            <a:prstGeom prst="rect">
              <a:avLst/>
            </a:prstGeom>
          </p:spPr>
          <p:txBody>
            <a:bodyPr lIns="0" tIns="0" rIns="0" bIns="0" rtlCol="0" anchor="ctr"/>
            <a:lstStyle/>
            <a:p>
              <a:pPr algn="ctr">
                <a:lnSpc>
                  <a:spcPts val="6998"/>
                </a:lnSpc>
              </a:pPr>
              <a:r>
                <a:rPr lang="en-US" sz="6480" b="1" dirty="0">
                  <a:gradFill>
                    <a:gsLst>
                      <a:gs pos="0">
                        <a:srgbClr val="11998E">
                          <a:alpha val="100000"/>
                        </a:srgbClr>
                      </a:gs>
                      <a:gs pos="100000">
                        <a:srgbClr val="38EF7D">
                          <a:alpha val="100000"/>
                        </a:srgbClr>
                      </a:gs>
                    </a:gsLst>
                    <a:lin ang="16200000"/>
                  </a:gradFill>
                  <a:latin typeface="Times New Roman Bold"/>
                  <a:ea typeface="Times New Roman Bold"/>
                  <a:cs typeface="Times New Roman Bold"/>
                  <a:sym typeface="Times New Roman Bold"/>
                </a:rPr>
                <a:t> </a:t>
              </a:r>
              <a:r>
                <a:rPr lang="en-US" sz="6480" b="1" dirty="0" err="1">
                  <a:gradFill>
                    <a:gsLst>
                      <a:gs pos="0">
                        <a:srgbClr val="11998E">
                          <a:alpha val="100000"/>
                        </a:srgbClr>
                      </a:gs>
                      <a:gs pos="100000">
                        <a:srgbClr val="38EF7D">
                          <a:alpha val="100000"/>
                        </a:srgbClr>
                      </a:gs>
                    </a:gsLst>
                    <a:lin ang="16200000"/>
                  </a:gradFill>
                  <a:latin typeface="Times New Roman Bold"/>
                  <a:ea typeface="Times New Roman Bold"/>
                  <a:cs typeface="Times New Roman Bold"/>
                  <a:sym typeface="Times New Roman Bold"/>
                </a:rPr>
                <a:t>Thiết</a:t>
              </a:r>
              <a:r>
                <a:rPr lang="en-US" sz="6480" b="1" dirty="0">
                  <a:gradFill>
                    <a:gsLst>
                      <a:gs pos="0">
                        <a:srgbClr val="11998E">
                          <a:alpha val="100000"/>
                        </a:srgbClr>
                      </a:gs>
                      <a:gs pos="100000">
                        <a:srgbClr val="38EF7D">
                          <a:alpha val="100000"/>
                        </a:srgbClr>
                      </a:gs>
                    </a:gsLst>
                    <a:lin ang="16200000"/>
                  </a:gradFill>
                  <a:latin typeface="Times New Roman Bold"/>
                  <a:ea typeface="Times New Roman Bold"/>
                  <a:cs typeface="Times New Roman Bold"/>
                  <a:sym typeface="Times New Roman Bold"/>
                </a:rPr>
                <a:t> </a:t>
              </a:r>
              <a:r>
                <a:rPr lang="en-US" sz="6480" b="1" dirty="0" err="1">
                  <a:gradFill>
                    <a:gsLst>
                      <a:gs pos="0">
                        <a:srgbClr val="11998E">
                          <a:alpha val="100000"/>
                        </a:srgbClr>
                      </a:gs>
                      <a:gs pos="100000">
                        <a:srgbClr val="38EF7D">
                          <a:alpha val="100000"/>
                        </a:srgbClr>
                      </a:gs>
                    </a:gsLst>
                    <a:lin ang="16200000"/>
                  </a:gradFill>
                  <a:latin typeface="Times New Roman Bold"/>
                  <a:ea typeface="Times New Roman Bold"/>
                  <a:cs typeface="Times New Roman Bold"/>
                  <a:sym typeface="Times New Roman Bold"/>
                </a:rPr>
                <a:t>kế</a:t>
              </a:r>
              <a:r>
                <a:rPr lang="en-US" sz="6480" b="1" dirty="0">
                  <a:gradFill>
                    <a:gsLst>
                      <a:gs pos="0">
                        <a:srgbClr val="11998E">
                          <a:alpha val="100000"/>
                        </a:srgbClr>
                      </a:gs>
                      <a:gs pos="100000">
                        <a:srgbClr val="38EF7D">
                          <a:alpha val="100000"/>
                        </a:srgbClr>
                      </a:gs>
                    </a:gsLst>
                    <a:lin ang="16200000"/>
                  </a:gradFill>
                  <a:latin typeface="Times New Roman Bold"/>
                  <a:ea typeface="Times New Roman Bold"/>
                  <a:cs typeface="Times New Roman Bold"/>
                  <a:sym typeface="Times New Roman Bold"/>
                </a:rPr>
                <a:t> </a:t>
              </a:r>
              <a:r>
                <a:rPr lang="en-US" sz="6480" b="1" dirty="0" err="1">
                  <a:gradFill>
                    <a:gsLst>
                      <a:gs pos="0">
                        <a:srgbClr val="11998E">
                          <a:alpha val="100000"/>
                        </a:srgbClr>
                      </a:gs>
                      <a:gs pos="100000">
                        <a:srgbClr val="38EF7D">
                          <a:alpha val="100000"/>
                        </a:srgbClr>
                      </a:gs>
                    </a:gsLst>
                    <a:lin ang="16200000"/>
                  </a:gradFill>
                  <a:latin typeface="Times New Roman Bold"/>
                  <a:ea typeface="Times New Roman Bold"/>
                  <a:cs typeface="Times New Roman Bold"/>
                  <a:sym typeface="Times New Roman Bold"/>
                </a:rPr>
                <a:t>bộ</a:t>
              </a:r>
              <a:r>
                <a:rPr lang="en-US" sz="6480" b="1" dirty="0">
                  <a:gradFill>
                    <a:gsLst>
                      <a:gs pos="0">
                        <a:srgbClr val="11998E">
                          <a:alpha val="100000"/>
                        </a:srgbClr>
                      </a:gs>
                      <a:gs pos="100000">
                        <a:srgbClr val="38EF7D">
                          <a:alpha val="100000"/>
                        </a:srgbClr>
                      </a:gs>
                    </a:gsLst>
                    <a:lin ang="16200000"/>
                  </a:gradFill>
                  <a:latin typeface="Times New Roman Bold"/>
                  <a:ea typeface="Times New Roman Bold"/>
                  <a:cs typeface="Times New Roman Bold"/>
                  <a:sym typeface="Times New Roman Bold"/>
                </a:rPr>
                <a:t> </a:t>
              </a:r>
              <a:r>
                <a:rPr lang="en-US" sz="6480" b="1" dirty="0" err="1">
                  <a:gradFill>
                    <a:gsLst>
                      <a:gs pos="0">
                        <a:srgbClr val="11998E">
                          <a:alpha val="100000"/>
                        </a:srgbClr>
                      </a:gs>
                      <a:gs pos="100000">
                        <a:srgbClr val="38EF7D">
                          <a:alpha val="100000"/>
                        </a:srgbClr>
                      </a:gs>
                    </a:gsLst>
                    <a:lin ang="16200000"/>
                  </a:gradFill>
                  <a:latin typeface="Times New Roman Bold"/>
                  <a:ea typeface="Times New Roman Bold"/>
                  <a:cs typeface="Times New Roman Bold"/>
                  <a:sym typeface="Times New Roman Bold"/>
                </a:rPr>
                <a:t>tăng</a:t>
              </a:r>
              <a:r>
                <a:rPr lang="en-US" sz="6480" b="1" dirty="0">
                  <a:gradFill>
                    <a:gsLst>
                      <a:gs pos="0">
                        <a:srgbClr val="11998E">
                          <a:alpha val="100000"/>
                        </a:srgbClr>
                      </a:gs>
                      <a:gs pos="100000">
                        <a:srgbClr val="38EF7D">
                          <a:alpha val="100000"/>
                        </a:srgbClr>
                      </a:gs>
                    </a:gsLst>
                    <a:lin ang="16200000"/>
                  </a:gradFill>
                  <a:latin typeface="Times New Roman Bold"/>
                  <a:ea typeface="Times New Roman Bold"/>
                  <a:cs typeface="Times New Roman Bold"/>
                  <a:sym typeface="Times New Roman Bold"/>
                </a:rPr>
                <a:t> </a:t>
              </a:r>
              <a:r>
                <a:rPr lang="en-US" sz="6480" b="1" dirty="0" err="1">
                  <a:gradFill>
                    <a:gsLst>
                      <a:gs pos="0">
                        <a:srgbClr val="11998E">
                          <a:alpha val="100000"/>
                        </a:srgbClr>
                      </a:gs>
                      <a:gs pos="100000">
                        <a:srgbClr val="38EF7D">
                          <a:alpha val="100000"/>
                        </a:srgbClr>
                      </a:gs>
                    </a:gsLst>
                    <a:lin ang="16200000"/>
                  </a:gradFill>
                  <a:latin typeface="Times New Roman Bold"/>
                  <a:ea typeface="Times New Roman Bold"/>
                  <a:cs typeface="Times New Roman Bold"/>
                  <a:sym typeface="Times New Roman Bold"/>
                </a:rPr>
                <a:t>tốc</a:t>
              </a:r>
              <a:r>
                <a:rPr lang="en-US" sz="6480" b="1" dirty="0">
                  <a:gradFill>
                    <a:gsLst>
                      <a:gs pos="0">
                        <a:srgbClr val="11998E">
                          <a:alpha val="100000"/>
                        </a:srgbClr>
                      </a:gs>
                      <a:gs pos="100000">
                        <a:srgbClr val="38EF7D">
                          <a:alpha val="100000"/>
                        </a:srgbClr>
                      </a:gs>
                    </a:gsLst>
                    <a:lin ang="16200000"/>
                  </a:gradFill>
                  <a:latin typeface="Times New Roman Bold"/>
                  <a:ea typeface="Times New Roman Bold"/>
                  <a:cs typeface="Times New Roman Bold"/>
                  <a:sym typeface="Times New Roman Bold"/>
                </a:rPr>
                <a:t> </a:t>
              </a:r>
              <a:r>
                <a:rPr lang="en-US" sz="6480" b="1" dirty="0" err="1">
                  <a:gradFill>
                    <a:gsLst>
                      <a:gs pos="0">
                        <a:srgbClr val="11998E">
                          <a:alpha val="100000"/>
                        </a:srgbClr>
                      </a:gs>
                      <a:gs pos="100000">
                        <a:srgbClr val="38EF7D">
                          <a:alpha val="100000"/>
                        </a:srgbClr>
                      </a:gs>
                    </a:gsLst>
                    <a:lin ang="16200000"/>
                  </a:gradFill>
                  <a:latin typeface="Times New Roman Bold"/>
                  <a:ea typeface="Times New Roman Bold"/>
                  <a:cs typeface="Times New Roman Bold"/>
                  <a:sym typeface="Times New Roman Bold"/>
                </a:rPr>
                <a:t>giải</a:t>
              </a:r>
              <a:r>
                <a:rPr lang="en-US" sz="6480" b="1" dirty="0">
                  <a:gradFill>
                    <a:gsLst>
                      <a:gs pos="0">
                        <a:srgbClr val="11998E">
                          <a:alpha val="100000"/>
                        </a:srgbClr>
                      </a:gs>
                      <a:gs pos="100000">
                        <a:srgbClr val="38EF7D">
                          <a:alpha val="100000"/>
                        </a:srgbClr>
                      </a:gs>
                    </a:gsLst>
                    <a:lin ang="16200000"/>
                  </a:gradFill>
                  <a:latin typeface="Times New Roman Bold"/>
                  <a:ea typeface="Times New Roman Bold"/>
                  <a:cs typeface="Times New Roman Bold"/>
                  <a:sym typeface="Times New Roman Bold"/>
                </a:rPr>
                <a:t> </a:t>
              </a:r>
              <a:r>
                <a:rPr lang="en-US" sz="6480" b="1" dirty="0" err="1">
                  <a:gradFill>
                    <a:gsLst>
                      <a:gs pos="0">
                        <a:srgbClr val="11998E">
                          <a:alpha val="100000"/>
                        </a:srgbClr>
                      </a:gs>
                      <a:gs pos="100000">
                        <a:srgbClr val="38EF7D">
                          <a:alpha val="100000"/>
                        </a:srgbClr>
                      </a:gs>
                    </a:gsLst>
                    <a:lin ang="16200000"/>
                  </a:gradFill>
                  <a:latin typeface="Times New Roman Bold"/>
                  <a:ea typeface="Times New Roman Bold"/>
                  <a:cs typeface="Times New Roman Bold"/>
                  <a:sym typeface="Times New Roman Bold"/>
                </a:rPr>
                <a:t>mã</a:t>
              </a:r>
              <a:r>
                <a:rPr lang="en-US" sz="6480" b="1" dirty="0">
                  <a:gradFill>
                    <a:gsLst>
                      <a:gs pos="0">
                        <a:srgbClr val="11998E">
                          <a:alpha val="100000"/>
                        </a:srgbClr>
                      </a:gs>
                      <a:gs pos="100000">
                        <a:srgbClr val="38EF7D">
                          <a:alpha val="100000"/>
                        </a:srgbClr>
                      </a:gs>
                    </a:gsLst>
                    <a:lin ang="16200000"/>
                  </a:gradFill>
                  <a:latin typeface="Times New Roman Bold"/>
                  <a:ea typeface="Times New Roman Bold"/>
                  <a:cs typeface="Times New Roman Bold"/>
                  <a:sym typeface="Times New Roman Bold"/>
                </a:rPr>
                <a:t> Llama 2-7B </a:t>
              </a:r>
              <a:r>
                <a:rPr lang="en-US" sz="6480" b="1" dirty="0" err="1">
                  <a:gradFill>
                    <a:gsLst>
                      <a:gs pos="0">
                        <a:srgbClr val="11998E">
                          <a:alpha val="100000"/>
                        </a:srgbClr>
                      </a:gs>
                      <a:gs pos="100000">
                        <a:srgbClr val="38EF7D">
                          <a:alpha val="100000"/>
                        </a:srgbClr>
                      </a:gs>
                    </a:gsLst>
                    <a:lin ang="16200000"/>
                  </a:gradFill>
                  <a:latin typeface="Times New Roman Bold"/>
                  <a:ea typeface="Times New Roman Bold"/>
                  <a:cs typeface="Times New Roman Bold"/>
                  <a:sym typeface="Times New Roman Bold"/>
                </a:rPr>
                <a:t>trên</a:t>
              </a:r>
              <a:r>
                <a:rPr lang="en-US" sz="6480" b="1" dirty="0">
                  <a:gradFill>
                    <a:gsLst>
                      <a:gs pos="0">
                        <a:srgbClr val="11998E">
                          <a:alpha val="100000"/>
                        </a:srgbClr>
                      </a:gs>
                      <a:gs pos="100000">
                        <a:srgbClr val="38EF7D">
                          <a:alpha val="100000"/>
                        </a:srgbClr>
                      </a:gs>
                    </a:gsLst>
                    <a:lin ang="16200000"/>
                  </a:gradFill>
                  <a:latin typeface="Times New Roman Bold"/>
                  <a:ea typeface="Times New Roman Bold"/>
                  <a:cs typeface="Times New Roman Bold"/>
                  <a:sym typeface="Times New Roman Bold"/>
                </a:rPr>
                <a:t> Card </a:t>
              </a:r>
            </a:p>
            <a:p>
              <a:pPr algn="ctr">
                <a:lnSpc>
                  <a:spcPts val="6998"/>
                </a:lnSpc>
              </a:pPr>
              <a:r>
                <a:rPr lang="en-US" sz="6480" b="1" dirty="0" err="1">
                  <a:gradFill>
                    <a:gsLst>
                      <a:gs pos="0">
                        <a:srgbClr val="11998E">
                          <a:alpha val="100000"/>
                        </a:srgbClr>
                      </a:gs>
                      <a:gs pos="100000">
                        <a:srgbClr val="38EF7D">
                          <a:alpha val="100000"/>
                        </a:srgbClr>
                      </a:gs>
                    </a:gsLst>
                    <a:lin ang="16200000"/>
                  </a:gradFill>
                  <a:latin typeface="Times New Roman Bold"/>
                  <a:ea typeface="Times New Roman Bold"/>
                  <a:cs typeface="Times New Roman Bold"/>
                  <a:sym typeface="Times New Roman Bold"/>
                </a:rPr>
                <a:t>Tăng</a:t>
              </a:r>
              <a:r>
                <a:rPr lang="en-US" sz="6480" b="1" dirty="0">
                  <a:gradFill>
                    <a:gsLst>
                      <a:gs pos="0">
                        <a:srgbClr val="11998E">
                          <a:alpha val="100000"/>
                        </a:srgbClr>
                      </a:gs>
                      <a:gs pos="100000">
                        <a:srgbClr val="38EF7D">
                          <a:alpha val="100000"/>
                        </a:srgbClr>
                      </a:gs>
                    </a:gsLst>
                    <a:lin ang="16200000"/>
                  </a:gradFill>
                  <a:latin typeface="Times New Roman Bold"/>
                  <a:ea typeface="Times New Roman Bold"/>
                  <a:cs typeface="Times New Roman Bold"/>
                  <a:sym typeface="Times New Roman Bold"/>
                </a:rPr>
                <a:t> </a:t>
              </a:r>
              <a:r>
                <a:rPr lang="en-US" sz="6480" b="1" dirty="0" err="1">
                  <a:gradFill>
                    <a:gsLst>
                      <a:gs pos="0">
                        <a:srgbClr val="11998E">
                          <a:alpha val="100000"/>
                        </a:srgbClr>
                      </a:gs>
                      <a:gs pos="100000">
                        <a:srgbClr val="38EF7D">
                          <a:alpha val="100000"/>
                        </a:srgbClr>
                      </a:gs>
                    </a:gsLst>
                    <a:lin ang="16200000"/>
                  </a:gradFill>
                  <a:latin typeface="Times New Roman Bold"/>
                  <a:ea typeface="Times New Roman Bold"/>
                  <a:cs typeface="Times New Roman Bold"/>
                  <a:sym typeface="Times New Roman Bold"/>
                </a:rPr>
                <a:t>Tốc</a:t>
              </a:r>
              <a:r>
                <a:rPr lang="en-US" sz="6480" b="1" dirty="0">
                  <a:gradFill>
                    <a:gsLst>
                      <a:gs pos="0">
                        <a:srgbClr val="11998E">
                          <a:alpha val="100000"/>
                        </a:srgbClr>
                      </a:gs>
                      <a:gs pos="100000">
                        <a:srgbClr val="38EF7D">
                          <a:alpha val="100000"/>
                        </a:srgbClr>
                      </a:gs>
                    </a:gsLst>
                    <a:lin ang="16200000"/>
                  </a:gradFill>
                  <a:latin typeface="Times New Roman Bold"/>
                  <a:ea typeface="Times New Roman Bold"/>
                  <a:cs typeface="Times New Roman Bold"/>
                  <a:sym typeface="Times New Roman Bold"/>
                </a:rPr>
                <a:t> FPGA Xilinx Alveo </a:t>
              </a:r>
            </a:p>
          </p:txBody>
        </p:sp>
      </p:grpSp>
      <p:grpSp>
        <p:nvGrpSpPr>
          <p:cNvPr id="24" name="Group 24"/>
          <p:cNvGrpSpPr/>
          <p:nvPr/>
        </p:nvGrpSpPr>
        <p:grpSpPr>
          <a:xfrm>
            <a:off x="2286000" y="9007793"/>
            <a:ext cx="13716000" cy="778669"/>
            <a:chOff x="0" y="0"/>
            <a:chExt cx="18288000" cy="1038225"/>
          </a:xfrm>
        </p:grpSpPr>
        <p:sp>
          <p:nvSpPr>
            <p:cNvPr id="25" name="Freeform 25"/>
            <p:cNvSpPr/>
            <p:nvPr/>
          </p:nvSpPr>
          <p:spPr>
            <a:xfrm>
              <a:off x="0" y="0"/>
              <a:ext cx="18288000" cy="1038226"/>
            </a:xfrm>
            <a:custGeom>
              <a:avLst/>
              <a:gdLst/>
              <a:ahLst/>
              <a:cxnLst/>
              <a:rect l="l" t="t" r="r" b="b"/>
              <a:pathLst>
                <a:path w="18288000" h="1038226">
                  <a:moveTo>
                    <a:pt x="0" y="0"/>
                  </a:moveTo>
                  <a:lnTo>
                    <a:pt x="18288000" y="0"/>
                  </a:lnTo>
                  <a:lnTo>
                    <a:pt x="18288000" y="1038226"/>
                  </a:lnTo>
                  <a:lnTo>
                    <a:pt x="0" y="1038226"/>
                  </a:lnTo>
                  <a:close/>
                </a:path>
              </a:pathLst>
            </a:custGeom>
            <a:blipFill>
              <a:blip r:embed="rId6">
                <a:alphaModFix amt="0"/>
              </a:blip>
              <a:stretch>
                <a:fillRect t="-293222" b="-293222"/>
              </a:stretch>
            </a:blipFill>
          </p:spPr>
          <p:txBody>
            <a:bodyPr/>
            <a:lstStyle/>
            <a:p>
              <a:endParaRPr lang="vi-VN"/>
            </a:p>
          </p:txBody>
        </p:sp>
        <p:sp>
          <p:nvSpPr>
            <p:cNvPr id="26" name="TextBox 26"/>
            <p:cNvSpPr txBox="1"/>
            <p:nvPr/>
          </p:nvSpPr>
          <p:spPr>
            <a:xfrm>
              <a:off x="0" y="9525"/>
              <a:ext cx="18288000" cy="1028700"/>
            </a:xfrm>
            <a:prstGeom prst="rect">
              <a:avLst/>
            </a:prstGeom>
          </p:spPr>
          <p:txBody>
            <a:bodyPr lIns="0" tIns="0" rIns="0" bIns="0" rtlCol="0" anchor="ctr"/>
            <a:lstStyle/>
            <a:p>
              <a:pPr algn="ctr">
                <a:lnSpc>
                  <a:spcPts val="2916"/>
                </a:lnSpc>
              </a:pPr>
              <a:r>
                <a:rPr lang="en-US" sz="2700" i="1" dirty="0">
                  <a:solidFill>
                    <a:srgbClr val="000000"/>
                  </a:solidFill>
                  <a:latin typeface="Arial Italics"/>
                  <a:ea typeface="Arial Italics"/>
                  <a:cs typeface="Arial Italics"/>
                  <a:sym typeface="Arial Italics"/>
                </a:rPr>
                <a:t>TP. </a:t>
              </a:r>
              <a:r>
                <a:rPr lang="en-US" sz="2700" i="1" dirty="0" err="1">
                  <a:solidFill>
                    <a:srgbClr val="000000"/>
                  </a:solidFill>
                  <a:latin typeface="Arial Italics"/>
                  <a:ea typeface="Arial Italics"/>
                  <a:cs typeface="Arial Italics"/>
                  <a:sym typeface="Arial Italics"/>
                </a:rPr>
                <a:t>Hồ</a:t>
              </a:r>
              <a:r>
                <a:rPr lang="en-US" sz="2700" i="1" dirty="0">
                  <a:solidFill>
                    <a:srgbClr val="000000"/>
                  </a:solidFill>
                  <a:latin typeface="Arial Italics"/>
                  <a:ea typeface="Arial Italics"/>
                  <a:cs typeface="Arial Italics"/>
                  <a:sym typeface="Arial Italics"/>
                </a:rPr>
                <a:t> Chí Minh, </a:t>
              </a:r>
              <a:r>
                <a:rPr lang="en-US" sz="2700" i="1" dirty="0" err="1">
                  <a:solidFill>
                    <a:srgbClr val="000000"/>
                  </a:solidFill>
                  <a:latin typeface="Arial Italics"/>
                  <a:ea typeface="Arial Italics"/>
                  <a:cs typeface="Arial Italics"/>
                  <a:sym typeface="Arial Italics"/>
                </a:rPr>
                <a:t>ngày</a:t>
              </a:r>
              <a:r>
                <a:rPr lang="en-US" sz="2700" i="1" dirty="0">
                  <a:solidFill>
                    <a:srgbClr val="000000"/>
                  </a:solidFill>
                  <a:latin typeface="Arial Italics"/>
                  <a:ea typeface="Arial Italics"/>
                  <a:cs typeface="Arial Italics"/>
                  <a:sym typeface="Arial Italics"/>
                </a:rPr>
                <a:t> 12 </a:t>
              </a:r>
              <a:r>
                <a:rPr lang="en-US" sz="2700" i="1" dirty="0" err="1">
                  <a:solidFill>
                    <a:srgbClr val="000000"/>
                  </a:solidFill>
                  <a:latin typeface="Arial Italics"/>
                  <a:ea typeface="Arial Italics"/>
                  <a:cs typeface="Arial Italics"/>
                  <a:sym typeface="Arial Italics"/>
                </a:rPr>
                <a:t>tháng</a:t>
              </a:r>
              <a:r>
                <a:rPr lang="en-US" sz="2700" i="1" dirty="0">
                  <a:solidFill>
                    <a:srgbClr val="000000"/>
                  </a:solidFill>
                  <a:latin typeface="Arial Italics"/>
                  <a:ea typeface="Arial Italics"/>
                  <a:cs typeface="Arial Italics"/>
                  <a:sym typeface="Arial Italics"/>
                </a:rPr>
                <a:t> 9 </a:t>
              </a:r>
              <a:r>
                <a:rPr lang="en-US" sz="2700" i="1" dirty="0" err="1">
                  <a:solidFill>
                    <a:srgbClr val="000000"/>
                  </a:solidFill>
                  <a:latin typeface="Arial Italics"/>
                  <a:ea typeface="Arial Italics"/>
                  <a:cs typeface="Arial Italics"/>
                  <a:sym typeface="Arial Italics"/>
                </a:rPr>
                <a:t>năm</a:t>
              </a:r>
              <a:r>
                <a:rPr lang="en-US" sz="2700" i="1" dirty="0">
                  <a:solidFill>
                    <a:srgbClr val="000000"/>
                  </a:solidFill>
                  <a:latin typeface="Arial Italics"/>
                  <a:ea typeface="Arial Italics"/>
                  <a:cs typeface="Arial Italics"/>
                  <a:sym typeface="Arial Italics"/>
                </a:rPr>
                <a:t> 2026</a:t>
              </a:r>
            </a:p>
          </p:txBody>
        </p:sp>
      </p:grpSp>
      <p:grpSp>
        <p:nvGrpSpPr>
          <p:cNvPr id="27" name="Group 27"/>
          <p:cNvGrpSpPr/>
          <p:nvPr/>
        </p:nvGrpSpPr>
        <p:grpSpPr>
          <a:xfrm>
            <a:off x="5595423" y="1826343"/>
            <a:ext cx="3548577" cy="571500"/>
            <a:chOff x="0" y="0"/>
            <a:chExt cx="4731436" cy="762000"/>
          </a:xfrm>
        </p:grpSpPr>
        <p:sp>
          <p:nvSpPr>
            <p:cNvPr id="28" name="Freeform 28"/>
            <p:cNvSpPr/>
            <p:nvPr/>
          </p:nvSpPr>
          <p:spPr>
            <a:xfrm>
              <a:off x="0" y="0"/>
              <a:ext cx="4731434" cy="762000"/>
            </a:xfrm>
            <a:custGeom>
              <a:avLst/>
              <a:gdLst/>
              <a:ahLst/>
              <a:cxnLst/>
              <a:rect l="l" t="t" r="r" b="b"/>
              <a:pathLst>
                <a:path w="4731434" h="762000">
                  <a:moveTo>
                    <a:pt x="0" y="0"/>
                  </a:moveTo>
                  <a:lnTo>
                    <a:pt x="4731434" y="0"/>
                  </a:lnTo>
                  <a:lnTo>
                    <a:pt x="4731434" y="762000"/>
                  </a:lnTo>
                  <a:lnTo>
                    <a:pt x="0" y="762000"/>
                  </a:lnTo>
                  <a:close/>
                </a:path>
              </a:pathLst>
            </a:custGeom>
            <a:blipFill>
              <a:blip r:embed="rId6">
                <a:alphaModFix amt="0"/>
              </a:blip>
              <a:stretch>
                <a:fillRect t="-70987" b="-70987"/>
              </a:stretch>
            </a:blipFill>
          </p:spPr>
          <p:txBody>
            <a:bodyPr/>
            <a:lstStyle/>
            <a:p>
              <a:endParaRPr lang="vi-VN"/>
            </a:p>
          </p:txBody>
        </p:sp>
        <p:sp>
          <p:nvSpPr>
            <p:cNvPr id="29" name="TextBox 29"/>
            <p:cNvSpPr txBox="1"/>
            <p:nvPr/>
          </p:nvSpPr>
          <p:spPr>
            <a:xfrm>
              <a:off x="0" y="0"/>
              <a:ext cx="4731436" cy="762000"/>
            </a:xfrm>
            <a:prstGeom prst="rect">
              <a:avLst/>
            </a:prstGeom>
          </p:spPr>
          <p:txBody>
            <a:bodyPr lIns="0" tIns="0" rIns="0" bIns="0" rtlCol="0" anchor="ctr"/>
            <a:lstStyle/>
            <a:p>
              <a:pPr algn="l">
                <a:lnSpc>
                  <a:spcPts val="1944"/>
                </a:lnSpc>
              </a:pPr>
              <a:r>
                <a:rPr lang="en-US" sz="1800" b="1">
                  <a:solidFill>
                    <a:srgbClr val="FFFFFF"/>
                  </a:solidFill>
                  <a:latin typeface="Arial Bold"/>
                  <a:ea typeface="Arial Bold"/>
                  <a:cs typeface="Arial Bold"/>
                  <a:sym typeface="Arial Bold"/>
                </a:rPr>
                <a:t>KHÓA LUẬN TỐT NGHIỆP</a:t>
              </a:r>
            </a:p>
          </p:txBody>
        </p:sp>
      </p:grpSp>
      <p:sp>
        <p:nvSpPr>
          <p:cNvPr id="30" name="TextBox 30"/>
          <p:cNvSpPr txBox="1"/>
          <p:nvPr/>
        </p:nvSpPr>
        <p:spPr>
          <a:xfrm>
            <a:off x="2377430" y="6368227"/>
            <a:ext cx="13533120" cy="1349216"/>
          </a:xfrm>
          <a:prstGeom prst="rect">
            <a:avLst/>
          </a:prstGeom>
        </p:spPr>
        <p:txBody>
          <a:bodyPr lIns="0" tIns="0" rIns="0" bIns="0" rtlCol="0" anchor="t">
            <a:spAutoFit/>
          </a:bodyPr>
          <a:lstStyle/>
          <a:p>
            <a:pPr>
              <a:lnSpc>
                <a:spcPts val="5616"/>
              </a:lnSpc>
            </a:pPr>
            <a:r>
              <a:rPr lang="en-US" sz="2800" dirty="0">
                <a:solidFill>
                  <a:srgbClr val="000000"/>
                </a:solidFill>
                <a:latin typeface="Times New Roman" panose="02020603050405020304" pitchFamily="18" charset="0"/>
                <a:ea typeface="Arial Bold"/>
                <a:cs typeface="Times New Roman" panose="02020603050405020304" pitchFamily="18" charset="0"/>
                <a:sym typeface="Arial Bold"/>
              </a:rPr>
              <a:t>Sinh </a:t>
            </a:r>
            <a:r>
              <a:rPr lang="en-US" sz="2800" dirty="0" err="1">
                <a:solidFill>
                  <a:srgbClr val="000000"/>
                </a:solidFill>
                <a:latin typeface="Times New Roman" panose="02020603050405020304" pitchFamily="18" charset="0"/>
                <a:ea typeface="Arial Bold"/>
                <a:cs typeface="Times New Roman" panose="02020603050405020304" pitchFamily="18" charset="0"/>
                <a:sym typeface="Arial Bold"/>
              </a:rPr>
              <a:t>viên</a:t>
            </a:r>
            <a:r>
              <a:rPr lang="en-US" sz="2800" dirty="0">
                <a:solidFill>
                  <a:srgbClr val="000000"/>
                </a:solidFill>
                <a:latin typeface="Times New Roman" panose="02020603050405020304" pitchFamily="18" charset="0"/>
                <a:ea typeface="Arial Bold"/>
                <a:cs typeface="Times New Roman" panose="02020603050405020304" pitchFamily="18" charset="0"/>
                <a:sym typeface="Arial Bold"/>
              </a:rPr>
              <a:t> </a:t>
            </a:r>
            <a:r>
              <a:rPr lang="en-US" sz="2800" dirty="0" err="1">
                <a:solidFill>
                  <a:srgbClr val="000000"/>
                </a:solidFill>
                <a:latin typeface="Times New Roman" panose="02020603050405020304" pitchFamily="18" charset="0"/>
                <a:ea typeface="Arial Bold"/>
                <a:cs typeface="Times New Roman" panose="02020603050405020304" pitchFamily="18" charset="0"/>
                <a:sym typeface="Arial Bold"/>
              </a:rPr>
              <a:t>thực</a:t>
            </a:r>
            <a:r>
              <a:rPr lang="en-US" sz="2800" dirty="0">
                <a:solidFill>
                  <a:srgbClr val="000000"/>
                </a:solidFill>
                <a:latin typeface="Times New Roman" panose="02020603050405020304" pitchFamily="18" charset="0"/>
                <a:ea typeface="Arial Bold"/>
                <a:cs typeface="Times New Roman" panose="02020603050405020304" pitchFamily="18" charset="0"/>
                <a:sym typeface="Arial Bold"/>
              </a:rPr>
              <a:t> </a:t>
            </a:r>
            <a:r>
              <a:rPr lang="en-US" sz="2800" dirty="0" err="1">
                <a:solidFill>
                  <a:srgbClr val="000000"/>
                </a:solidFill>
                <a:latin typeface="Times New Roman" panose="02020603050405020304" pitchFamily="18" charset="0"/>
                <a:ea typeface="Arial Bold"/>
                <a:cs typeface="Times New Roman" panose="02020603050405020304" pitchFamily="18" charset="0"/>
                <a:sym typeface="Arial Bold"/>
              </a:rPr>
              <a:t>hiện</a:t>
            </a:r>
            <a:r>
              <a:rPr lang="en-US" sz="2800" dirty="0">
                <a:solidFill>
                  <a:srgbClr val="000000"/>
                </a:solidFill>
                <a:latin typeface="Times New Roman" panose="02020603050405020304" pitchFamily="18" charset="0"/>
                <a:ea typeface="Arial Bold"/>
                <a:cs typeface="Times New Roman" panose="02020603050405020304" pitchFamily="18" charset="0"/>
                <a:sym typeface="Arial Bold"/>
              </a:rPr>
              <a:t>:  </a:t>
            </a:r>
            <a:r>
              <a:rPr lang="en-US" sz="2800" b="1" dirty="0">
                <a:solidFill>
                  <a:srgbClr val="000000"/>
                </a:solidFill>
                <a:latin typeface="Times New Roman" panose="02020603050405020304" pitchFamily="18" charset="0"/>
                <a:ea typeface="Arial Bold"/>
                <a:cs typeface="Times New Roman" panose="02020603050405020304" pitchFamily="18" charset="0"/>
                <a:sym typeface="Arial Bold"/>
              </a:rPr>
              <a:t>Nguyễn Xuân Dũng - 23520339</a:t>
            </a:r>
            <a:endParaRPr lang="vi-VN" sz="2800" dirty="0">
              <a:latin typeface="+mj-lt"/>
              <a:ea typeface="Arial Bold"/>
              <a:cs typeface="Arial Bold"/>
              <a:sym typeface="Arial Bold"/>
            </a:endParaRPr>
          </a:p>
          <a:p>
            <a:pPr>
              <a:lnSpc>
                <a:spcPts val="5616"/>
              </a:lnSpc>
            </a:pPr>
            <a:r>
              <a:rPr lang="vi-VN" sz="2800" dirty="0">
                <a:latin typeface="+mj-lt"/>
                <a:ea typeface="Arial Bold"/>
                <a:cs typeface="Arial Bold"/>
                <a:sym typeface="Arial Bold"/>
              </a:rPr>
              <a:t>Giảng viên hướng dẫn</a:t>
            </a:r>
            <a:r>
              <a:rPr lang="vi-VN" sz="2800" b="1" dirty="0">
                <a:latin typeface="+mj-lt"/>
                <a:ea typeface="Arial Bold"/>
                <a:cs typeface="Arial Bold"/>
                <a:sym typeface="Arial Bold"/>
              </a:rPr>
              <a:t>:</a:t>
            </a:r>
            <a:r>
              <a:rPr lang="en-US" sz="2800" b="1" dirty="0">
                <a:latin typeface="+mj-lt"/>
                <a:ea typeface="Arial Bold"/>
                <a:cs typeface="Arial Bold"/>
                <a:sym typeface="Arial Bold"/>
              </a:rPr>
              <a:t> </a:t>
            </a:r>
            <a:r>
              <a:rPr lang="en-US" sz="2800" b="1" dirty="0" err="1">
                <a:latin typeface="+mj-lt"/>
                <a:ea typeface="Arial Bold"/>
                <a:cs typeface="Arial Bold"/>
                <a:sym typeface="Arial Bold"/>
              </a:rPr>
              <a:t>ThS</a:t>
            </a:r>
            <a:r>
              <a:rPr lang="en-US" sz="2800" b="1" dirty="0">
                <a:latin typeface="+mj-lt"/>
                <a:ea typeface="Arial Bold"/>
                <a:cs typeface="Arial Bold"/>
                <a:sym typeface="Arial Bold"/>
              </a:rPr>
              <a:t>. </a:t>
            </a:r>
            <a:r>
              <a:rPr lang="vi-VN" sz="2800" b="1" dirty="0">
                <a:latin typeface="+mj-lt"/>
                <a:ea typeface="Arial Bold"/>
                <a:cs typeface="Arial Bold"/>
                <a:sym typeface="Arial Bold"/>
              </a:rPr>
              <a:t>Ngô Hiếu Trường</a:t>
            </a:r>
            <a:endParaRPr lang="en-US" sz="2800" b="1" dirty="0">
              <a:latin typeface="+mj-lt"/>
              <a:ea typeface="Arial Bold"/>
              <a:cs typeface="Arial Bold"/>
              <a:sym typeface="Arial Bold"/>
            </a:endParaRPr>
          </a:p>
        </p:txBody>
      </p:sp>
      <p:grpSp>
        <p:nvGrpSpPr>
          <p:cNvPr id="31" name="Group 31"/>
          <p:cNvGrpSpPr/>
          <p:nvPr/>
        </p:nvGrpSpPr>
        <p:grpSpPr>
          <a:xfrm>
            <a:off x="152400" y="154524"/>
            <a:ext cx="18291715" cy="10295487"/>
            <a:chOff x="0" y="0"/>
            <a:chExt cx="24388953" cy="13727316"/>
          </a:xfrm>
        </p:grpSpPr>
        <p:sp>
          <p:nvSpPr>
            <p:cNvPr id="32" name="Freeform 32"/>
            <p:cNvSpPr/>
            <p:nvPr/>
          </p:nvSpPr>
          <p:spPr>
            <a:xfrm>
              <a:off x="0" y="0"/>
              <a:ext cx="24388953" cy="13727303"/>
            </a:xfrm>
            <a:custGeom>
              <a:avLst/>
              <a:gdLst/>
              <a:ahLst/>
              <a:cxnLst/>
              <a:rect l="l" t="t" r="r" b="b"/>
              <a:pathLst>
                <a:path w="24388953" h="1372730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txBody>
            <a:bodyPr/>
            <a:lstStyle/>
            <a:p>
              <a:endParaRPr lang="vi-VN"/>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91440" y="-2287991"/>
            <a:ext cx="18105120" cy="527771"/>
          </a:xfrm>
          <a:prstGeom prst="rect">
            <a:avLst/>
          </a:prstGeom>
        </p:spPr>
        <p:txBody>
          <a:bodyPr lIns="0" tIns="0" rIns="0" bIns="0" rtlCol="0" anchor="t">
            <a:spAutoFit/>
          </a:bodyPr>
          <a:lstStyle/>
          <a:p>
            <a:pPr algn="ctr">
              <a:lnSpc>
                <a:spcPts val="3600"/>
              </a:lnSpc>
            </a:pPr>
            <a:r>
              <a:rPr lang="en-US" sz="3000">
                <a:solidFill>
                  <a:srgbClr val="C3C3C3"/>
                </a:solidFill>
                <a:latin typeface="Arial"/>
                <a:ea typeface="Arial"/>
                <a:cs typeface="Arial"/>
                <a:sym typeface="Arial"/>
              </a:rPr>
              <a:t>www.9slide.vn</a:t>
            </a:r>
          </a:p>
        </p:txBody>
      </p:sp>
      <p:grpSp>
        <p:nvGrpSpPr>
          <p:cNvPr id="3" name="Group 3"/>
          <p:cNvGrpSpPr/>
          <p:nvPr/>
        </p:nvGrpSpPr>
        <p:grpSpPr>
          <a:xfrm>
            <a:off x="0" y="2124"/>
            <a:ext cx="18291715" cy="10295487"/>
            <a:chOff x="0" y="0"/>
            <a:chExt cx="24388953" cy="13727316"/>
          </a:xfrm>
        </p:grpSpPr>
        <p:sp>
          <p:nvSpPr>
            <p:cNvPr id="4" name="Freeform 4"/>
            <p:cNvSpPr/>
            <p:nvPr/>
          </p:nvSpPr>
          <p:spPr>
            <a:xfrm>
              <a:off x="0" y="0"/>
              <a:ext cx="24388953" cy="13727303"/>
            </a:xfrm>
            <a:custGeom>
              <a:avLst/>
              <a:gdLst/>
              <a:ahLst/>
              <a:cxnLst/>
              <a:rect l="l" t="t" r="r" b="b"/>
              <a:pathLst>
                <a:path w="24388953" h="1372730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txBody>
            <a:bodyPr/>
            <a:lstStyle/>
            <a:p>
              <a:endParaRPr lang="vi-VN"/>
            </a:p>
          </p:txBody>
        </p:sp>
      </p:grpSp>
      <p:grpSp>
        <p:nvGrpSpPr>
          <p:cNvPr id="5" name="Group 5"/>
          <p:cNvGrpSpPr/>
          <p:nvPr/>
        </p:nvGrpSpPr>
        <p:grpSpPr>
          <a:xfrm rot="5400000">
            <a:off x="8668474" y="-8670065"/>
            <a:ext cx="947328" cy="18291715"/>
            <a:chOff x="0" y="0"/>
            <a:chExt cx="1263104" cy="24388953"/>
          </a:xfrm>
        </p:grpSpPr>
        <p:sp>
          <p:nvSpPr>
            <p:cNvPr id="6" name="Freeform 6"/>
            <p:cNvSpPr/>
            <p:nvPr/>
          </p:nvSpPr>
          <p:spPr>
            <a:xfrm>
              <a:off x="0" y="0"/>
              <a:ext cx="1263142" cy="24388953"/>
            </a:xfrm>
            <a:custGeom>
              <a:avLst/>
              <a:gdLst/>
              <a:ahLst/>
              <a:cxnLst/>
              <a:rect l="l" t="t" r="r" b="b"/>
              <a:pathLst>
                <a:path w="1263142" h="24388953">
                  <a:moveTo>
                    <a:pt x="0" y="0"/>
                  </a:moveTo>
                  <a:lnTo>
                    <a:pt x="1263142" y="0"/>
                  </a:lnTo>
                  <a:lnTo>
                    <a:pt x="1263142" y="24388953"/>
                  </a:lnTo>
                  <a:lnTo>
                    <a:pt x="0" y="24388953"/>
                  </a:lnTo>
                  <a:close/>
                </a:path>
              </a:pathLst>
            </a:custGeom>
            <a:gradFill rotWithShape="1">
              <a:gsLst>
                <a:gs pos="0">
                  <a:srgbClr val="10CD57">
                    <a:alpha val="100000"/>
                  </a:srgbClr>
                </a:gs>
                <a:gs pos="100000">
                  <a:srgbClr val="027159">
                    <a:alpha val="100000"/>
                  </a:srgbClr>
                </a:gs>
              </a:gsLst>
              <a:lin ang="0"/>
            </a:gradFill>
          </p:spPr>
          <p:txBody>
            <a:bodyPr/>
            <a:lstStyle/>
            <a:p>
              <a:endParaRPr lang="vi-VN"/>
            </a:p>
          </p:txBody>
        </p:sp>
      </p:grpSp>
      <p:grpSp>
        <p:nvGrpSpPr>
          <p:cNvPr id="7" name="Group 7"/>
          <p:cNvGrpSpPr/>
          <p:nvPr/>
        </p:nvGrpSpPr>
        <p:grpSpPr>
          <a:xfrm rot="5400000">
            <a:off x="8670331" y="-8672198"/>
            <a:ext cx="947328" cy="18291715"/>
            <a:chOff x="0" y="0"/>
            <a:chExt cx="1263104" cy="24388953"/>
          </a:xfrm>
        </p:grpSpPr>
        <p:sp>
          <p:nvSpPr>
            <p:cNvPr id="8" name="Freeform 8"/>
            <p:cNvSpPr/>
            <p:nvPr/>
          </p:nvSpPr>
          <p:spPr>
            <a:xfrm flipV="1">
              <a:off x="0" y="0"/>
              <a:ext cx="1263142" cy="24388953"/>
            </a:xfrm>
            <a:custGeom>
              <a:avLst/>
              <a:gdLst/>
              <a:ahLst/>
              <a:cxnLst/>
              <a:rect l="l" t="t" r="r" b="b"/>
              <a:pathLst>
                <a:path w="1263142" h="24388953">
                  <a:moveTo>
                    <a:pt x="0" y="0"/>
                  </a:moveTo>
                  <a:lnTo>
                    <a:pt x="1263142" y="0"/>
                  </a:lnTo>
                  <a:lnTo>
                    <a:pt x="1263142" y="24388953"/>
                  </a:lnTo>
                  <a:lnTo>
                    <a:pt x="0" y="24388953"/>
                  </a:lnTo>
                  <a:close/>
                </a:path>
              </a:pathLst>
            </a:custGeom>
            <a:blipFill>
              <a:blip r:embed="rId2"/>
              <a:stretch>
                <a:fillRect l="-35093" r="-35090"/>
              </a:stretch>
            </a:blipFill>
          </p:spPr>
          <p:txBody>
            <a:bodyPr/>
            <a:lstStyle/>
            <a:p>
              <a:endParaRPr lang="vi-VN"/>
            </a:p>
          </p:txBody>
        </p:sp>
      </p:grpSp>
      <p:sp>
        <p:nvSpPr>
          <p:cNvPr id="9" name="TextBox 9"/>
          <p:cNvSpPr txBox="1"/>
          <p:nvPr/>
        </p:nvSpPr>
        <p:spPr>
          <a:xfrm>
            <a:off x="451866" y="248326"/>
            <a:ext cx="10947559" cy="424158"/>
          </a:xfrm>
          <a:prstGeom prst="rect">
            <a:avLst/>
          </a:prstGeom>
        </p:spPr>
        <p:txBody>
          <a:bodyPr lIns="0" tIns="0" rIns="0" bIns="0" rtlCol="0" anchor="t">
            <a:spAutoFit/>
          </a:bodyPr>
          <a:lstStyle/>
          <a:p>
            <a:pPr algn="l">
              <a:lnSpc>
                <a:spcPts val="2879"/>
              </a:lnSpc>
            </a:pPr>
            <a:r>
              <a:rPr lang="en-US" sz="2400" b="1">
                <a:solidFill>
                  <a:srgbClr val="FFFFFF"/>
                </a:solidFill>
                <a:latin typeface="Arial Bold"/>
                <a:ea typeface="Arial Bold"/>
                <a:cs typeface="Arial Bold"/>
                <a:sym typeface="Arial Bold"/>
              </a:rPr>
              <a:t>FACULTY OF COMPUTER ENGINEERING</a:t>
            </a:r>
          </a:p>
        </p:txBody>
      </p:sp>
      <p:grpSp>
        <p:nvGrpSpPr>
          <p:cNvPr id="10" name="Group 10"/>
          <p:cNvGrpSpPr/>
          <p:nvPr/>
        </p:nvGrpSpPr>
        <p:grpSpPr>
          <a:xfrm>
            <a:off x="6719973" y="457933"/>
            <a:ext cx="4848044" cy="957948"/>
            <a:chOff x="0" y="0"/>
            <a:chExt cx="6464059" cy="1277264"/>
          </a:xfrm>
        </p:grpSpPr>
        <p:sp>
          <p:nvSpPr>
            <p:cNvPr id="11" name="Freeform 11"/>
            <p:cNvSpPr/>
            <p:nvPr/>
          </p:nvSpPr>
          <p:spPr>
            <a:xfrm>
              <a:off x="0" y="0"/>
              <a:ext cx="6464173" cy="1277366"/>
            </a:xfrm>
            <a:custGeom>
              <a:avLst/>
              <a:gdLst/>
              <a:ahLst/>
              <a:cxnLst/>
              <a:rect l="l" t="t" r="r" b="b"/>
              <a:pathLst>
                <a:path w="6464173" h="1277366">
                  <a:moveTo>
                    <a:pt x="0" y="638683"/>
                  </a:moveTo>
                  <a:cubicBezTo>
                    <a:pt x="0" y="285877"/>
                    <a:pt x="285877" y="0"/>
                    <a:pt x="638683" y="0"/>
                  </a:cubicBezTo>
                  <a:lnTo>
                    <a:pt x="5825490" y="0"/>
                  </a:lnTo>
                  <a:cubicBezTo>
                    <a:pt x="6178169" y="0"/>
                    <a:pt x="6464173" y="285877"/>
                    <a:pt x="6464173" y="638683"/>
                  </a:cubicBezTo>
                  <a:cubicBezTo>
                    <a:pt x="6464173" y="991489"/>
                    <a:pt x="6178296" y="1277366"/>
                    <a:pt x="5825490" y="1277366"/>
                  </a:cubicBezTo>
                  <a:lnTo>
                    <a:pt x="638683" y="1277366"/>
                  </a:lnTo>
                  <a:cubicBezTo>
                    <a:pt x="285877" y="1277239"/>
                    <a:pt x="0" y="991362"/>
                    <a:pt x="0" y="638683"/>
                  </a:cubicBezTo>
                  <a:close/>
                </a:path>
              </a:pathLst>
            </a:custGeom>
            <a:gradFill rotWithShape="1">
              <a:gsLst>
                <a:gs pos="0">
                  <a:srgbClr val="38EF7D">
                    <a:alpha val="100000"/>
                  </a:srgbClr>
                </a:gs>
                <a:gs pos="100000">
                  <a:srgbClr val="752AFF">
                    <a:alpha val="100000"/>
                  </a:srgbClr>
                </a:gs>
              </a:gsLst>
              <a:lin ang="4729360"/>
            </a:gradFill>
          </p:spPr>
          <p:txBody>
            <a:bodyPr/>
            <a:lstStyle/>
            <a:p>
              <a:endParaRPr lang="vi-VN"/>
            </a:p>
          </p:txBody>
        </p:sp>
      </p:grpSp>
      <p:grpSp>
        <p:nvGrpSpPr>
          <p:cNvPr id="12" name="Group 12"/>
          <p:cNvGrpSpPr/>
          <p:nvPr/>
        </p:nvGrpSpPr>
        <p:grpSpPr>
          <a:xfrm>
            <a:off x="6807460" y="535962"/>
            <a:ext cx="4673079" cy="801872"/>
            <a:chOff x="0" y="0"/>
            <a:chExt cx="6230772" cy="1069162"/>
          </a:xfrm>
        </p:grpSpPr>
        <p:sp>
          <p:nvSpPr>
            <p:cNvPr id="13" name="Freeform 13"/>
            <p:cNvSpPr/>
            <p:nvPr/>
          </p:nvSpPr>
          <p:spPr>
            <a:xfrm>
              <a:off x="0" y="0"/>
              <a:ext cx="6230747" cy="1069086"/>
            </a:xfrm>
            <a:custGeom>
              <a:avLst/>
              <a:gdLst/>
              <a:ahLst/>
              <a:cxnLst/>
              <a:rect l="l" t="t" r="r" b="b"/>
              <a:pathLst>
                <a:path w="6230747" h="1069086">
                  <a:moveTo>
                    <a:pt x="0" y="534543"/>
                  </a:moveTo>
                  <a:cubicBezTo>
                    <a:pt x="0" y="239395"/>
                    <a:pt x="239395" y="0"/>
                    <a:pt x="534543" y="0"/>
                  </a:cubicBezTo>
                  <a:lnTo>
                    <a:pt x="5696204" y="0"/>
                  </a:lnTo>
                  <a:cubicBezTo>
                    <a:pt x="5991479" y="0"/>
                    <a:pt x="6230747" y="239395"/>
                    <a:pt x="6230747" y="534543"/>
                  </a:cubicBezTo>
                  <a:cubicBezTo>
                    <a:pt x="6230747" y="829691"/>
                    <a:pt x="5991352" y="1069086"/>
                    <a:pt x="5696204" y="1069086"/>
                  </a:cubicBezTo>
                  <a:lnTo>
                    <a:pt x="534543" y="1069086"/>
                  </a:lnTo>
                  <a:cubicBezTo>
                    <a:pt x="239395" y="1069213"/>
                    <a:pt x="0" y="829818"/>
                    <a:pt x="0" y="534543"/>
                  </a:cubicBezTo>
                  <a:close/>
                </a:path>
              </a:pathLst>
            </a:custGeom>
            <a:solidFill>
              <a:srgbClr val="FFFFFF"/>
            </a:solidFill>
          </p:spPr>
          <p:txBody>
            <a:bodyPr/>
            <a:lstStyle/>
            <a:p>
              <a:endParaRPr lang="vi-VN"/>
            </a:p>
          </p:txBody>
        </p:sp>
      </p:grpSp>
      <p:grpSp>
        <p:nvGrpSpPr>
          <p:cNvPr id="14" name="Group 14"/>
          <p:cNvGrpSpPr/>
          <p:nvPr/>
        </p:nvGrpSpPr>
        <p:grpSpPr>
          <a:xfrm>
            <a:off x="9436446" y="362541"/>
            <a:ext cx="1163307" cy="1152592"/>
            <a:chOff x="0" y="0"/>
            <a:chExt cx="1551076" cy="1536789"/>
          </a:xfrm>
        </p:grpSpPr>
        <p:sp>
          <p:nvSpPr>
            <p:cNvPr id="15" name="Freeform 15" descr="Icon  Description automatically generated with medium confidence"/>
            <p:cNvSpPr/>
            <p:nvPr/>
          </p:nvSpPr>
          <p:spPr>
            <a:xfrm>
              <a:off x="0" y="0"/>
              <a:ext cx="1551051" cy="1536827"/>
            </a:xfrm>
            <a:custGeom>
              <a:avLst/>
              <a:gdLst/>
              <a:ahLst/>
              <a:cxnLst/>
              <a:rect l="l" t="t" r="r" b="b"/>
              <a:pathLst>
                <a:path w="1551051" h="1536827">
                  <a:moveTo>
                    <a:pt x="0" y="0"/>
                  </a:moveTo>
                  <a:lnTo>
                    <a:pt x="1551051" y="0"/>
                  </a:lnTo>
                  <a:lnTo>
                    <a:pt x="1551051" y="1536827"/>
                  </a:lnTo>
                  <a:lnTo>
                    <a:pt x="0" y="1536827"/>
                  </a:lnTo>
                  <a:lnTo>
                    <a:pt x="0" y="0"/>
                  </a:lnTo>
                  <a:close/>
                </a:path>
              </a:pathLst>
            </a:custGeom>
            <a:blipFill>
              <a:blip r:embed="rId3"/>
              <a:stretch>
                <a:fillRect l="-75" r="-76" b="2"/>
              </a:stretch>
            </a:blipFill>
          </p:spPr>
          <p:txBody>
            <a:bodyPr/>
            <a:lstStyle/>
            <a:p>
              <a:endParaRPr lang="vi-VN"/>
            </a:p>
          </p:txBody>
        </p:sp>
      </p:grpSp>
      <p:grpSp>
        <p:nvGrpSpPr>
          <p:cNvPr id="16" name="Group 16"/>
          <p:cNvGrpSpPr/>
          <p:nvPr/>
        </p:nvGrpSpPr>
        <p:grpSpPr>
          <a:xfrm>
            <a:off x="7688247" y="398078"/>
            <a:ext cx="1307516" cy="1081516"/>
            <a:chOff x="0" y="0"/>
            <a:chExt cx="1743354" cy="1442022"/>
          </a:xfrm>
        </p:grpSpPr>
        <p:sp>
          <p:nvSpPr>
            <p:cNvPr id="17" name="Freeform 17" descr="A picture containing clipart, vector graphics  Description automatically generated"/>
            <p:cNvSpPr/>
            <p:nvPr/>
          </p:nvSpPr>
          <p:spPr>
            <a:xfrm>
              <a:off x="0" y="0"/>
              <a:ext cx="1743329" cy="1442085"/>
            </a:xfrm>
            <a:custGeom>
              <a:avLst/>
              <a:gdLst/>
              <a:ahLst/>
              <a:cxnLst/>
              <a:rect l="l" t="t" r="r" b="b"/>
              <a:pathLst>
                <a:path w="1743329" h="1442085">
                  <a:moveTo>
                    <a:pt x="0" y="0"/>
                  </a:moveTo>
                  <a:lnTo>
                    <a:pt x="1743329" y="0"/>
                  </a:lnTo>
                  <a:lnTo>
                    <a:pt x="1743329" y="1442085"/>
                  </a:lnTo>
                  <a:lnTo>
                    <a:pt x="0" y="1442085"/>
                  </a:lnTo>
                  <a:lnTo>
                    <a:pt x="0" y="0"/>
                  </a:lnTo>
                  <a:close/>
                </a:path>
              </a:pathLst>
            </a:custGeom>
            <a:blipFill>
              <a:blip r:embed="rId4"/>
              <a:stretch>
                <a:fillRect t="-74" r="-1" b="-71"/>
              </a:stretch>
            </a:blipFill>
          </p:spPr>
          <p:txBody>
            <a:bodyPr/>
            <a:lstStyle/>
            <a:p>
              <a:endParaRPr lang="vi-VN"/>
            </a:p>
          </p:txBody>
        </p:sp>
      </p:grpSp>
      <p:sp>
        <p:nvSpPr>
          <p:cNvPr id="18" name="Freeform 18"/>
          <p:cNvSpPr/>
          <p:nvPr/>
        </p:nvSpPr>
        <p:spPr>
          <a:xfrm>
            <a:off x="17262338" y="9405385"/>
            <a:ext cx="819198" cy="819198"/>
          </a:xfrm>
          <a:custGeom>
            <a:avLst/>
            <a:gdLst/>
            <a:ahLst/>
            <a:cxnLst/>
            <a:rect l="l" t="t" r="r" b="b"/>
            <a:pathLst>
              <a:path w="819198" h="819198">
                <a:moveTo>
                  <a:pt x="0" y="0"/>
                </a:moveTo>
                <a:lnTo>
                  <a:pt x="819198" y="0"/>
                </a:lnTo>
                <a:lnTo>
                  <a:pt x="819198" y="819198"/>
                </a:lnTo>
                <a:lnTo>
                  <a:pt x="0" y="81919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vi-VN"/>
          </a:p>
        </p:txBody>
      </p:sp>
      <p:grpSp>
        <p:nvGrpSpPr>
          <p:cNvPr id="19" name="Group 19"/>
          <p:cNvGrpSpPr/>
          <p:nvPr/>
        </p:nvGrpSpPr>
        <p:grpSpPr>
          <a:xfrm>
            <a:off x="0" y="2124"/>
            <a:ext cx="18291715" cy="10295487"/>
            <a:chOff x="0" y="0"/>
            <a:chExt cx="24388953" cy="13727316"/>
          </a:xfrm>
        </p:grpSpPr>
        <p:sp>
          <p:nvSpPr>
            <p:cNvPr id="20" name="Freeform 20"/>
            <p:cNvSpPr/>
            <p:nvPr/>
          </p:nvSpPr>
          <p:spPr>
            <a:xfrm>
              <a:off x="0" y="0"/>
              <a:ext cx="24388953" cy="13727303"/>
            </a:xfrm>
            <a:custGeom>
              <a:avLst/>
              <a:gdLst/>
              <a:ahLst/>
              <a:cxnLst/>
              <a:rect l="l" t="t" r="r" b="b"/>
              <a:pathLst>
                <a:path w="24388953" h="1372730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txBody>
            <a:bodyPr/>
            <a:lstStyle/>
            <a:p>
              <a:endParaRPr lang="vi-VN"/>
            </a:p>
          </p:txBody>
        </p:sp>
      </p:grpSp>
      <p:grpSp>
        <p:nvGrpSpPr>
          <p:cNvPr id="21" name="Group 21"/>
          <p:cNvGrpSpPr/>
          <p:nvPr/>
        </p:nvGrpSpPr>
        <p:grpSpPr>
          <a:xfrm>
            <a:off x="908999" y="1555147"/>
            <a:ext cx="16470001" cy="1335996"/>
            <a:chOff x="0" y="0"/>
            <a:chExt cx="21960002" cy="1781327"/>
          </a:xfrm>
        </p:grpSpPr>
        <p:sp>
          <p:nvSpPr>
            <p:cNvPr id="22" name="Freeform 22"/>
            <p:cNvSpPr/>
            <p:nvPr/>
          </p:nvSpPr>
          <p:spPr>
            <a:xfrm>
              <a:off x="0" y="0"/>
              <a:ext cx="21960001" cy="1781326"/>
            </a:xfrm>
            <a:custGeom>
              <a:avLst/>
              <a:gdLst/>
              <a:ahLst/>
              <a:cxnLst/>
              <a:rect l="l" t="t" r="r" b="b"/>
              <a:pathLst>
                <a:path w="21960001" h="1781326">
                  <a:moveTo>
                    <a:pt x="0" y="0"/>
                  </a:moveTo>
                  <a:lnTo>
                    <a:pt x="21960001" y="0"/>
                  </a:lnTo>
                  <a:lnTo>
                    <a:pt x="21960001" y="1781326"/>
                  </a:lnTo>
                  <a:lnTo>
                    <a:pt x="0" y="1781326"/>
                  </a:lnTo>
                  <a:close/>
                </a:path>
              </a:pathLst>
            </a:custGeom>
            <a:blipFill>
              <a:blip r:embed="rId6">
                <a:alphaModFix amt="0"/>
              </a:blip>
              <a:stretch>
                <a:fillRect t="-190209" b="-190209"/>
              </a:stretch>
            </a:blipFill>
          </p:spPr>
          <p:txBody>
            <a:bodyPr/>
            <a:lstStyle/>
            <a:p>
              <a:endParaRPr lang="vi-VN"/>
            </a:p>
          </p:txBody>
        </p:sp>
        <p:sp>
          <p:nvSpPr>
            <p:cNvPr id="23" name="TextBox 23"/>
            <p:cNvSpPr txBox="1"/>
            <p:nvPr/>
          </p:nvSpPr>
          <p:spPr>
            <a:xfrm>
              <a:off x="0" y="38100"/>
              <a:ext cx="21960002" cy="1743227"/>
            </a:xfrm>
            <a:prstGeom prst="rect">
              <a:avLst/>
            </a:prstGeom>
          </p:spPr>
          <p:txBody>
            <a:bodyPr lIns="0" tIns="0" rIns="0" bIns="0" rtlCol="0" anchor="ctr"/>
            <a:lstStyle/>
            <a:p>
              <a:pPr algn="l">
                <a:lnSpc>
                  <a:spcPts val="7128"/>
                </a:lnSpc>
              </a:pPr>
              <a:r>
                <a:rPr lang="en-US" sz="6600" b="1">
                  <a:gradFill>
                    <a:gsLst>
                      <a:gs pos="0">
                        <a:srgbClr val="027159">
                          <a:alpha val="100000"/>
                        </a:srgbClr>
                      </a:gs>
                      <a:gs pos="100000">
                        <a:srgbClr val="10CD57">
                          <a:alpha val="100000"/>
                        </a:srgbClr>
                      </a:gs>
                    </a:gsLst>
                    <a:lin ang="16200000"/>
                  </a:gradFill>
                  <a:latin typeface="Times New Roman Bold"/>
                  <a:ea typeface="Times New Roman Bold"/>
                  <a:cs typeface="Times New Roman Bold"/>
                  <a:sym typeface="Times New Roman Bold"/>
                </a:rPr>
                <a:t>Nội dung báo cáo</a:t>
              </a:r>
            </a:p>
          </p:txBody>
        </p:sp>
      </p:grpSp>
      <p:grpSp>
        <p:nvGrpSpPr>
          <p:cNvPr id="24" name="Group 24"/>
          <p:cNvGrpSpPr/>
          <p:nvPr/>
        </p:nvGrpSpPr>
        <p:grpSpPr>
          <a:xfrm rot="-5400000">
            <a:off x="14899291" y="5775646"/>
            <a:ext cx="6172200" cy="547688"/>
            <a:chOff x="0" y="0"/>
            <a:chExt cx="8229600" cy="730250"/>
          </a:xfrm>
        </p:grpSpPr>
        <p:sp>
          <p:nvSpPr>
            <p:cNvPr id="25" name="Freeform 25"/>
            <p:cNvSpPr/>
            <p:nvPr/>
          </p:nvSpPr>
          <p:spPr>
            <a:xfrm>
              <a:off x="0" y="0"/>
              <a:ext cx="8229600" cy="730250"/>
            </a:xfrm>
            <a:custGeom>
              <a:avLst/>
              <a:gdLst/>
              <a:ahLst/>
              <a:cxnLst/>
              <a:rect l="l" t="t" r="r" b="b"/>
              <a:pathLst>
                <a:path w="8229600" h="730250">
                  <a:moveTo>
                    <a:pt x="0" y="0"/>
                  </a:moveTo>
                  <a:lnTo>
                    <a:pt x="8229600" y="0"/>
                  </a:lnTo>
                  <a:lnTo>
                    <a:pt x="8229600" y="730250"/>
                  </a:lnTo>
                  <a:lnTo>
                    <a:pt x="0" y="730250"/>
                  </a:lnTo>
                  <a:close/>
                </a:path>
              </a:pathLst>
            </a:custGeom>
            <a:blipFill>
              <a:blip r:embed="rId6">
                <a:alphaModFix amt="0"/>
              </a:blip>
              <a:stretch>
                <a:fillRect t="-169587" b="-169587"/>
              </a:stretch>
            </a:blipFill>
          </p:spPr>
          <p:txBody>
            <a:bodyPr/>
            <a:lstStyle/>
            <a:p>
              <a:endParaRPr lang="vi-VN"/>
            </a:p>
          </p:txBody>
        </p:sp>
        <p:sp>
          <p:nvSpPr>
            <p:cNvPr id="26" name="TextBox 26"/>
            <p:cNvSpPr txBox="1"/>
            <p:nvPr/>
          </p:nvSpPr>
          <p:spPr>
            <a:xfrm>
              <a:off x="0" y="-19050"/>
              <a:ext cx="8229600" cy="749300"/>
            </a:xfrm>
            <a:prstGeom prst="rect">
              <a:avLst/>
            </a:prstGeom>
          </p:spPr>
          <p:txBody>
            <a:bodyPr lIns="0" tIns="0" rIns="0" bIns="0" rtlCol="0" anchor="ctr"/>
            <a:lstStyle/>
            <a:p>
              <a:pPr algn="ctr">
                <a:lnSpc>
                  <a:spcPts val="2160"/>
                </a:lnSpc>
              </a:pPr>
              <a:r>
                <a:rPr lang="en-US" sz="1800">
                  <a:solidFill>
                    <a:srgbClr val="898989"/>
                  </a:solidFill>
                  <a:latin typeface="Arial"/>
                  <a:ea typeface="Arial"/>
                  <a:cs typeface="Arial"/>
                  <a:sym typeface="Arial"/>
                </a:rPr>
                <a:t>Copyrights 2024 CE-UIT. All Rights Reserved.</a:t>
              </a:r>
            </a:p>
          </p:txBody>
        </p:sp>
      </p:grpSp>
      <p:grpSp>
        <p:nvGrpSpPr>
          <p:cNvPr id="27" name="Group 27"/>
          <p:cNvGrpSpPr/>
          <p:nvPr/>
        </p:nvGrpSpPr>
        <p:grpSpPr>
          <a:xfrm>
            <a:off x="15634421" y="9534525"/>
            <a:ext cx="4114800" cy="547688"/>
            <a:chOff x="0" y="0"/>
            <a:chExt cx="5486400" cy="730250"/>
          </a:xfrm>
        </p:grpSpPr>
        <p:sp>
          <p:nvSpPr>
            <p:cNvPr id="28" name="Freeform 28"/>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blipFill>
              <a:blip r:embed="rId6">
                <a:alphaModFix amt="0"/>
              </a:blip>
              <a:stretch>
                <a:fillRect t="-96391" b="-96391"/>
              </a:stretch>
            </a:blipFill>
          </p:spPr>
          <p:txBody>
            <a:bodyPr/>
            <a:lstStyle/>
            <a:p>
              <a:endParaRPr lang="vi-VN"/>
            </a:p>
          </p:txBody>
        </p:sp>
        <p:sp>
          <p:nvSpPr>
            <p:cNvPr id="29" name="TextBox 29"/>
            <p:cNvSpPr txBox="1"/>
            <p:nvPr/>
          </p:nvSpPr>
          <p:spPr>
            <a:xfrm>
              <a:off x="0" y="-19050"/>
              <a:ext cx="5486400" cy="749300"/>
            </a:xfrm>
            <a:prstGeom prst="rect">
              <a:avLst/>
            </a:prstGeom>
          </p:spPr>
          <p:txBody>
            <a:bodyPr lIns="0" tIns="0" rIns="0" bIns="0" rtlCol="0" anchor="ctr"/>
            <a:lstStyle/>
            <a:p>
              <a:pPr algn="ctr">
                <a:lnSpc>
                  <a:spcPts val="2160"/>
                </a:lnSpc>
              </a:pPr>
              <a:r>
                <a:rPr lang="en-US" sz="1800">
                  <a:solidFill>
                    <a:srgbClr val="FFFFFF"/>
                  </a:solidFill>
                  <a:latin typeface="Arial"/>
                  <a:ea typeface="Arial"/>
                  <a:cs typeface="Arial"/>
                  <a:sym typeface="Arial"/>
                </a:rPr>
                <a:t>2</a:t>
              </a:r>
            </a:p>
          </p:txBody>
        </p:sp>
      </p:grpSp>
      <p:grpSp>
        <p:nvGrpSpPr>
          <p:cNvPr id="30" name="Group 30"/>
          <p:cNvGrpSpPr/>
          <p:nvPr/>
        </p:nvGrpSpPr>
        <p:grpSpPr>
          <a:xfrm>
            <a:off x="1535459" y="3128010"/>
            <a:ext cx="11683841" cy="1451134"/>
            <a:chOff x="0" y="0"/>
            <a:chExt cx="15578455" cy="1934845"/>
          </a:xfrm>
        </p:grpSpPr>
        <p:sp>
          <p:nvSpPr>
            <p:cNvPr id="31" name="Freeform 31"/>
            <p:cNvSpPr/>
            <p:nvPr/>
          </p:nvSpPr>
          <p:spPr>
            <a:xfrm>
              <a:off x="19050" y="19050"/>
              <a:ext cx="15540355" cy="1896745"/>
            </a:xfrm>
            <a:custGeom>
              <a:avLst/>
              <a:gdLst/>
              <a:ahLst/>
              <a:cxnLst/>
              <a:rect l="l" t="t" r="r" b="b"/>
              <a:pathLst>
                <a:path w="15540355" h="1896745">
                  <a:moveTo>
                    <a:pt x="0" y="128397"/>
                  </a:moveTo>
                  <a:cubicBezTo>
                    <a:pt x="0" y="57404"/>
                    <a:pt x="58420" y="0"/>
                    <a:pt x="130556" y="0"/>
                  </a:cubicBezTo>
                  <a:lnTo>
                    <a:pt x="15409799" y="0"/>
                  </a:lnTo>
                  <a:cubicBezTo>
                    <a:pt x="15481936" y="0"/>
                    <a:pt x="15540355" y="57404"/>
                    <a:pt x="15540355" y="128397"/>
                  </a:cubicBezTo>
                  <a:lnTo>
                    <a:pt x="15540355" y="1768348"/>
                  </a:lnTo>
                  <a:cubicBezTo>
                    <a:pt x="15540355" y="1839214"/>
                    <a:pt x="15481936" y="1896745"/>
                    <a:pt x="15409799" y="1896745"/>
                  </a:cubicBezTo>
                  <a:lnTo>
                    <a:pt x="130556" y="1896745"/>
                  </a:lnTo>
                  <a:cubicBezTo>
                    <a:pt x="58420" y="1896745"/>
                    <a:pt x="0" y="1839341"/>
                    <a:pt x="0" y="1768348"/>
                  </a:cubicBezTo>
                  <a:close/>
                </a:path>
              </a:pathLst>
            </a:custGeom>
            <a:solidFill>
              <a:srgbClr val="FFFFFF"/>
            </a:solidFill>
          </p:spPr>
          <p:txBody>
            <a:bodyPr/>
            <a:lstStyle/>
            <a:p>
              <a:endParaRPr lang="vi-VN"/>
            </a:p>
          </p:txBody>
        </p:sp>
        <p:sp>
          <p:nvSpPr>
            <p:cNvPr id="32" name="Freeform 32"/>
            <p:cNvSpPr/>
            <p:nvPr/>
          </p:nvSpPr>
          <p:spPr>
            <a:xfrm>
              <a:off x="0" y="0"/>
              <a:ext cx="15578455" cy="1934845"/>
            </a:xfrm>
            <a:custGeom>
              <a:avLst/>
              <a:gdLst/>
              <a:ahLst/>
              <a:cxnLst/>
              <a:rect l="l" t="t" r="r" b="b"/>
              <a:pathLst>
                <a:path w="15578455" h="1934845">
                  <a:moveTo>
                    <a:pt x="0" y="147447"/>
                  </a:moveTo>
                  <a:cubicBezTo>
                    <a:pt x="0" y="65659"/>
                    <a:pt x="67310" y="0"/>
                    <a:pt x="149606" y="0"/>
                  </a:cubicBezTo>
                  <a:lnTo>
                    <a:pt x="15428849" y="0"/>
                  </a:lnTo>
                  <a:lnTo>
                    <a:pt x="15428849" y="19050"/>
                  </a:lnTo>
                  <a:lnTo>
                    <a:pt x="15428849" y="0"/>
                  </a:lnTo>
                  <a:cubicBezTo>
                    <a:pt x="15511145" y="0"/>
                    <a:pt x="15578455" y="65659"/>
                    <a:pt x="15578455" y="147447"/>
                  </a:cubicBezTo>
                  <a:lnTo>
                    <a:pt x="15559405" y="147447"/>
                  </a:lnTo>
                  <a:lnTo>
                    <a:pt x="15578455" y="147447"/>
                  </a:lnTo>
                  <a:lnTo>
                    <a:pt x="15578455" y="1787398"/>
                  </a:lnTo>
                  <a:lnTo>
                    <a:pt x="15559405" y="1787398"/>
                  </a:lnTo>
                  <a:lnTo>
                    <a:pt x="15578455" y="1787398"/>
                  </a:lnTo>
                  <a:cubicBezTo>
                    <a:pt x="15578455" y="1869059"/>
                    <a:pt x="15511145" y="1934845"/>
                    <a:pt x="15428849" y="1934845"/>
                  </a:cubicBezTo>
                  <a:lnTo>
                    <a:pt x="15428849" y="1915795"/>
                  </a:lnTo>
                  <a:lnTo>
                    <a:pt x="15428849" y="1934845"/>
                  </a:lnTo>
                  <a:lnTo>
                    <a:pt x="149606" y="1934845"/>
                  </a:lnTo>
                  <a:lnTo>
                    <a:pt x="149606" y="1915795"/>
                  </a:lnTo>
                  <a:lnTo>
                    <a:pt x="149606" y="1934845"/>
                  </a:lnTo>
                  <a:cubicBezTo>
                    <a:pt x="67310" y="1934845"/>
                    <a:pt x="0" y="1869186"/>
                    <a:pt x="0" y="1787398"/>
                  </a:cubicBezTo>
                  <a:lnTo>
                    <a:pt x="0" y="147447"/>
                  </a:lnTo>
                  <a:lnTo>
                    <a:pt x="19050" y="147447"/>
                  </a:lnTo>
                  <a:lnTo>
                    <a:pt x="0" y="147447"/>
                  </a:lnTo>
                  <a:moveTo>
                    <a:pt x="38100" y="147447"/>
                  </a:moveTo>
                  <a:lnTo>
                    <a:pt x="38100" y="1787398"/>
                  </a:lnTo>
                  <a:lnTo>
                    <a:pt x="19050" y="1787398"/>
                  </a:lnTo>
                  <a:lnTo>
                    <a:pt x="38100" y="1787398"/>
                  </a:lnTo>
                  <a:cubicBezTo>
                    <a:pt x="38100" y="1847469"/>
                    <a:pt x="87757" y="1896745"/>
                    <a:pt x="149606" y="1896745"/>
                  </a:cubicBezTo>
                  <a:lnTo>
                    <a:pt x="15428849" y="1896745"/>
                  </a:lnTo>
                  <a:cubicBezTo>
                    <a:pt x="15490825" y="1896745"/>
                    <a:pt x="15540355" y="1847469"/>
                    <a:pt x="15540355" y="1787398"/>
                  </a:cubicBezTo>
                  <a:lnTo>
                    <a:pt x="15540355" y="147447"/>
                  </a:lnTo>
                  <a:cubicBezTo>
                    <a:pt x="15540355" y="87376"/>
                    <a:pt x="15490698" y="38100"/>
                    <a:pt x="15428849" y="38100"/>
                  </a:cubicBezTo>
                  <a:lnTo>
                    <a:pt x="149606" y="38100"/>
                  </a:lnTo>
                  <a:lnTo>
                    <a:pt x="149606" y="19050"/>
                  </a:lnTo>
                  <a:lnTo>
                    <a:pt x="149606" y="38100"/>
                  </a:lnTo>
                  <a:cubicBezTo>
                    <a:pt x="87757" y="38100"/>
                    <a:pt x="38100" y="87376"/>
                    <a:pt x="38100" y="147447"/>
                  </a:cubicBezTo>
                  <a:close/>
                </a:path>
              </a:pathLst>
            </a:custGeom>
            <a:solidFill>
              <a:srgbClr val="027159"/>
            </a:solidFill>
          </p:spPr>
          <p:txBody>
            <a:bodyPr/>
            <a:lstStyle/>
            <a:p>
              <a:endParaRPr lang="vi-VN"/>
            </a:p>
          </p:txBody>
        </p:sp>
      </p:grpSp>
      <p:grpSp>
        <p:nvGrpSpPr>
          <p:cNvPr id="33" name="Group 33"/>
          <p:cNvGrpSpPr/>
          <p:nvPr/>
        </p:nvGrpSpPr>
        <p:grpSpPr>
          <a:xfrm>
            <a:off x="1789509" y="3398158"/>
            <a:ext cx="910828" cy="910828"/>
            <a:chOff x="0" y="0"/>
            <a:chExt cx="1214438" cy="1214438"/>
          </a:xfrm>
        </p:grpSpPr>
        <p:sp>
          <p:nvSpPr>
            <p:cNvPr id="34" name="Freeform 34"/>
            <p:cNvSpPr/>
            <p:nvPr/>
          </p:nvSpPr>
          <p:spPr>
            <a:xfrm>
              <a:off x="0" y="0"/>
              <a:ext cx="1214501" cy="1214501"/>
            </a:xfrm>
            <a:custGeom>
              <a:avLst/>
              <a:gdLst/>
              <a:ahLst/>
              <a:cxnLst/>
              <a:rect l="l" t="t" r="r" b="b"/>
              <a:pathLst>
                <a:path w="1214501" h="1214501">
                  <a:moveTo>
                    <a:pt x="0" y="607187"/>
                  </a:moveTo>
                  <a:cubicBezTo>
                    <a:pt x="0" y="271907"/>
                    <a:pt x="271907" y="0"/>
                    <a:pt x="607187" y="0"/>
                  </a:cubicBezTo>
                  <a:cubicBezTo>
                    <a:pt x="942467" y="0"/>
                    <a:pt x="1214501" y="271907"/>
                    <a:pt x="1214501" y="607187"/>
                  </a:cubicBezTo>
                  <a:cubicBezTo>
                    <a:pt x="1214501" y="942467"/>
                    <a:pt x="942594" y="1214501"/>
                    <a:pt x="607187" y="1214501"/>
                  </a:cubicBezTo>
                  <a:cubicBezTo>
                    <a:pt x="271780" y="1214501"/>
                    <a:pt x="0" y="942594"/>
                    <a:pt x="0" y="607187"/>
                  </a:cubicBezTo>
                  <a:close/>
                </a:path>
              </a:pathLst>
            </a:custGeom>
            <a:solidFill>
              <a:srgbClr val="10CD57"/>
            </a:solidFill>
          </p:spPr>
          <p:txBody>
            <a:bodyPr/>
            <a:lstStyle/>
            <a:p>
              <a:endParaRPr lang="vi-VN"/>
            </a:p>
          </p:txBody>
        </p:sp>
        <p:sp>
          <p:nvSpPr>
            <p:cNvPr id="35" name="TextBox 35"/>
            <p:cNvSpPr txBox="1"/>
            <p:nvPr/>
          </p:nvSpPr>
          <p:spPr>
            <a:xfrm>
              <a:off x="0" y="-19050"/>
              <a:ext cx="1214438" cy="1233488"/>
            </a:xfrm>
            <a:prstGeom prst="rect">
              <a:avLst/>
            </a:prstGeom>
          </p:spPr>
          <p:txBody>
            <a:bodyPr lIns="50800" tIns="50800" rIns="50800" bIns="50800" rtlCol="0" anchor="ctr"/>
            <a:lstStyle/>
            <a:p>
              <a:pPr algn="ctr">
                <a:lnSpc>
                  <a:spcPts val="5040"/>
                </a:lnSpc>
              </a:pPr>
              <a:r>
                <a:rPr lang="en-US" sz="4200" b="1">
                  <a:solidFill>
                    <a:srgbClr val="FFFFFF"/>
                  </a:solidFill>
                  <a:latin typeface="Times New Roman Bold"/>
                  <a:ea typeface="Times New Roman Bold"/>
                  <a:cs typeface="Times New Roman Bold"/>
                  <a:sym typeface="Times New Roman Bold"/>
                </a:rPr>
                <a:t>1</a:t>
              </a:r>
            </a:p>
          </p:txBody>
        </p:sp>
      </p:grpSp>
      <p:grpSp>
        <p:nvGrpSpPr>
          <p:cNvPr id="36" name="Group 36"/>
          <p:cNvGrpSpPr/>
          <p:nvPr/>
        </p:nvGrpSpPr>
        <p:grpSpPr>
          <a:xfrm>
            <a:off x="2793597" y="3507324"/>
            <a:ext cx="10411416" cy="692496"/>
            <a:chOff x="0" y="0"/>
            <a:chExt cx="13881887" cy="923328"/>
          </a:xfrm>
        </p:grpSpPr>
        <p:sp>
          <p:nvSpPr>
            <p:cNvPr id="37" name="Freeform 37"/>
            <p:cNvSpPr/>
            <p:nvPr/>
          </p:nvSpPr>
          <p:spPr>
            <a:xfrm>
              <a:off x="0" y="0"/>
              <a:ext cx="13881881" cy="923330"/>
            </a:xfrm>
            <a:custGeom>
              <a:avLst/>
              <a:gdLst/>
              <a:ahLst/>
              <a:cxnLst/>
              <a:rect l="l" t="t" r="r" b="b"/>
              <a:pathLst>
                <a:path w="13881881" h="923330">
                  <a:moveTo>
                    <a:pt x="0" y="0"/>
                  </a:moveTo>
                  <a:lnTo>
                    <a:pt x="13881881" y="0"/>
                  </a:lnTo>
                  <a:lnTo>
                    <a:pt x="13881881" y="923330"/>
                  </a:lnTo>
                  <a:lnTo>
                    <a:pt x="0" y="923330"/>
                  </a:lnTo>
                  <a:close/>
                </a:path>
              </a:pathLst>
            </a:custGeom>
            <a:blipFill>
              <a:blip r:embed="rId6">
                <a:alphaModFix amt="0"/>
              </a:blip>
              <a:stretch>
                <a:fillRect t="-242949" b="-242949"/>
              </a:stretch>
            </a:blipFill>
          </p:spPr>
          <p:txBody>
            <a:bodyPr/>
            <a:lstStyle/>
            <a:p>
              <a:endParaRPr lang="vi-VN"/>
            </a:p>
          </p:txBody>
        </p:sp>
        <p:sp>
          <p:nvSpPr>
            <p:cNvPr id="38" name="TextBox 38"/>
            <p:cNvSpPr txBox="1"/>
            <p:nvPr/>
          </p:nvSpPr>
          <p:spPr>
            <a:xfrm>
              <a:off x="0" y="-28575"/>
              <a:ext cx="13881887" cy="951903"/>
            </a:xfrm>
            <a:prstGeom prst="rect">
              <a:avLst/>
            </a:prstGeom>
          </p:spPr>
          <p:txBody>
            <a:bodyPr lIns="0" tIns="0" rIns="0" bIns="0" rtlCol="0" anchor="ctr"/>
            <a:lstStyle/>
            <a:p>
              <a:pPr algn="l">
                <a:lnSpc>
                  <a:spcPts val="4320"/>
                </a:lnSpc>
              </a:pPr>
              <a:r>
                <a:rPr lang="en-US" sz="3600" dirty="0" err="1">
                  <a:solidFill>
                    <a:srgbClr val="000000"/>
                  </a:solidFill>
                  <a:latin typeface="Arial"/>
                  <a:ea typeface="Arial"/>
                  <a:cs typeface="Arial"/>
                  <a:sym typeface="Arial"/>
                </a:rPr>
                <a:t>Tổng</a:t>
              </a:r>
              <a:r>
                <a:rPr lang="en-US" sz="3600" dirty="0">
                  <a:solidFill>
                    <a:srgbClr val="000000"/>
                  </a:solidFill>
                  <a:latin typeface="Arial"/>
                  <a:ea typeface="Arial"/>
                  <a:cs typeface="Arial"/>
                  <a:sym typeface="Arial"/>
                </a:rPr>
                <a:t> </a:t>
              </a:r>
              <a:r>
                <a:rPr lang="en-US" sz="3600" dirty="0" err="1">
                  <a:solidFill>
                    <a:srgbClr val="000000"/>
                  </a:solidFill>
                  <a:latin typeface="Arial"/>
                  <a:ea typeface="Arial"/>
                  <a:cs typeface="Arial"/>
                  <a:sym typeface="Arial"/>
                </a:rPr>
                <a:t>quan</a:t>
              </a:r>
              <a:r>
                <a:rPr lang="en-US" sz="3600" dirty="0">
                  <a:solidFill>
                    <a:srgbClr val="000000"/>
                  </a:solidFill>
                  <a:latin typeface="Arial"/>
                  <a:ea typeface="Arial"/>
                  <a:cs typeface="Arial"/>
                  <a:sym typeface="Arial"/>
                </a:rPr>
                <a:t> </a:t>
              </a:r>
              <a:r>
                <a:rPr lang="en-US" sz="3600" dirty="0" err="1">
                  <a:solidFill>
                    <a:srgbClr val="000000"/>
                  </a:solidFill>
                  <a:latin typeface="Arial"/>
                  <a:ea typeface="Arial"/>
                  <a:cs typeface="Arial"/>
                  <a:sym typeface="Arial"/>
                </a:rPr>
                <a:t>đề</a:t>
              </a:r>
              <a:r>
                <a:rPr lang="en-US" sz="3600" dirty="0">
                  <a:solidFill>
                    <a:srgbClr val="000000"/>
                  </a:solidFill>
                  <a:latin typeface="Arial"/>
                  <a:ea typeface="Arial"/>
                  <a:cs typeface="Arial"/>
                  <a:sym typeface="Arial"/>
                </a:rPr>
                <a:t> </a:t>
              </a:r>
              <a:r>
                <a:rPr lang="en-US" sz="3600" dirty="0" err="1">
                  <a:solidFill>
                    <a:srgbClr val="000000"/>
                  </a:solidFill>
                  <a:latin typeface="Arial"/>
                  <a:ea typeface="Arial"/>
                  <a:cs typeface="Arial"/>
                  <a:sym typeface="Arial"/>
                </a:rPr>
                <a:t>tài</a:t>
              </a:r>
              <a:endParaRPr lang="en-US" sz="3600" dirty="0">
                <a:solidFill>
                  <a:srgbClr val="000000"/>
                </a:solidFill>
                <a:latin typeface="Arial"/>
                <a:ea typeface="Arial"/>
                <a:cs typeface="Arial"/>
                <a:sym typeface="Arial"/>
              </a:endParaRPr>
            </a:p>
          </p:txBody>
        </p:sp>
      </p:grpSp>
      <p:grpSp>
        <p:nvGrpSpPr>
          <p:cNvPr id="39" name="Group 39"/>
          <p:cNvGrpSpPr/>
          <p:nvPr/>
        </p:nvGrpSpPr>
        <p:grpSpPr>
          <a:xfrm>
            <a:off x="1535459" y="4868504"/>
            <a:ext cx="11683841" cy="1451134"/>
            <a:chOff x="0" y="0"/>
            <a:chExt cx="15578455" cy="1934845"/>
          </a:xfrm>
        </p:grpSpPr>
        <p:sp>
          <p:nvSpPr>
            <p:cNvPr id="40" name="Freeform 40"/>
            <p:cNvSpPr/>
            <p:nvPr/>
          </p:nvSpPr>
          <p:spPr>
            <a:xfrm>
              <a:off x="19050" y="19050"/>
              <a:ext cx="15540355" cy="1896745"/>
            </a:xfrm>
            <a:custGeom>
              <a:avLst/>
              <a:gdLst/>
              <a:ahLst/>
              <a:cxnLst/>
              <a:rect l="l" t="t" r="r" b="b"/>
              <a:pathLst>
                <a:path w="15540355" h="1896745">
                  <a:moveTo>
                    <a:pt x="0" y="128397"/>
                  </a:moveTo>
                  <a:cubicBezTo>
                    <a:pt x="0" y="57404"/>
                    <a:pt x="58420" y="0"/>
                    <a:pt x="130556" y="0"/>
                  </a:cubicBezTo>
                  <a:lnTo>
                    <a:pt x="15409799" y="0"/>
                  </a:lnTo>
                  <a:cubicBezTo>
                    <a:pt x="15481936" y="0"/>
                    <a:pt x="15540355" y="57404"/>
                    <a:pt x="15540355" y="128397"/>
                  </a:cubicBezTo>
                  <a:lnTo>
                    <a:pt x="15540355" y="1768348"/>
                  </a:lnTo>
                  <a:cubicBezTo>
                    <a:pt x="15540355" y="1839214"/>
                    <a:pt x="15481936" y="1896745"/>
                    <a:pt x="15409799" y="1896745"/>
                  </a:cubicBezTo>
                  <a:lnTo>
                    <a:pt x="130556" y="1896745"/>
                  </a:lnTo>
                  <a:cubicBezTo>
                    <a:pt x="58420" y="1896745"/>
                    <a:pt x="0" y="1839341"/>
                    <a:pt x="0" y="1768348"/>
                  </a:cubicBezTo>
                  <a:close/>
                </a:path>
              </a:pathLst>
            </a:custGeom>
            <a:solidFill>
              <a:srgbClr val="027159"/>
            </a:solidFill>
          </p:spPr>
          <p:txBody>
            <a:bodyPr/>
            <a:lstStyle/>
            <a:p>
              <a:endParaRPr lang="vi-VN"/>
            </a:p>
          </p:txBody>
        </p:sp>
        <p:sp>
          <p:nvSpPr>
            <p:cNvPr id="41" name="Freeform 41"/>
            <p:cNvSpPr/>
            <p:nvPr/>
          </p:nvSpPr>
          <p:spPr>
            <a:xfrm>
              <a:off x="0" y="0"/>
              <a:ext cx="15578455" cy="1934845"/>
            </a:xfrm>
            <a:custGeom>
              <a:avLst/>
              <a:gdLst/>
              <a:ahLst/>
              <a:cxnLst/>
              <a:rect l="l" t="t" r="r" b="b"/>
              <a:pathLst>
                <a:path w="15578455" h="1934845">
                  <a:moveTo>
                    <a:pt x="0" y="147447"/>
                  </a:moveTo>
                  <a:cubicBezTo>
                    <a:pt x="0" y="65659"/>
                    <a:pt x="67310" y="0"/>
                    <a:pt x="149606" y="0"/>
                  </a:cubicBezTo>
                  <a:lnTo>
                    <a:pt x="15428849" y="0"/>
                  </a:lnTo>
                  <a:lnTo>
                    <a:pt x="15428849" y="19050"/>
                  </a:lnTo>
                  <a:lnTo>
                    <a:pt x="15428849" y="0"/>
                  </a:lnTo>
                  <a:cubicBezTo>
                    <a:pt x="15511145" y="0"/>
                    <a:pt x="15578455" y="65659"/>
                    <a:pt x="15578455" y="147447"/>
                  </a:cubicBezTo>
                  <a:lnTo>
                    <a:pt x="15559405" y="147447"/>
                  </a:lnTo>
                  <a:lnTo>
                    <a:pt x="15578455" y="147447"/>
                  </a:lnTo>
                  <a:lnTo>
                    <a:pt x="15578455" y="1787398"/>
                  </a:lnTo>
                  <a:lnTo>
                    <a:pt x="15559405" y="1787398"/>
                  </a:lnTo>
                  <a:lnTo>
                    <a:pt x="15578455" y="1787398"/>
                  </a:lnTo>
                  <a:cubicBezTo>
                    <a:pt x="15578455" y="1869059"/>
                    <a:pt x="15511145" y="1934845"/>
                    <a:pt x="15428849" y="1934845"/>
                  </a:cubicBezTo>
                  <a:lnTo>
                    <a:pt x="15428849" y="1915795"/>
                  </a:lnTo>
                  <a:lnTo>
                    <a:pt x="15428849" y="1934845"/>
                  </a:lnTo>
                  <a:lnTo>
                    <a:pt x="149606" y="1934845"/>
                  </a:lnTo>
                  <a:lnTo>
                    <a:pt x="149606" y="1915795"/>
                  </a:lnTo>
                  <a:lnTo>
                    <a:pt x="149606" y="1934845"/>
                  </a:lnTo>
                  <a:cubicBezTo>
                    <a:pt x="67310" y="1934845"/>
                    <a:pt x="0" y="1869186"/>
                    <a:pt x="0" y="1787398"/>
                  </a:cubicBezTo>
                  <a:lnTo>
                    <a:pt x="0" y="147447"/>
                  </a:lnTo>
                  <a:lnTo>
                    <a:pt x="19050" y="147447"/>
                  </a:lnTo>
                  <a:lnTo>
                    <a:pt x="0" y="147447"/>
                  </a:lnTo>
                  <a:moveTo>
                    <a:pt x="38100" y="147447"/>
                  </a:moveTo>
                  <a:lnTo>
                    <a:pt x="38100" y="1787398"/>
                  </a:lnTo>
                  <a:lnTo>
                    <a:pt x="19050" y="1787398"/>
                  </a:lnTo>
                  <a:lnTo>
                    <a:pt x="38100" y="1787398"/>
                  </a:lnTo>
                  <a:cubicBezTo>
                    <a:pt x="38100" y="1847469"/>
                    <a:pt x="87757" y="1896745"/>
                    <a:pt x="149606" y="1896745"/>
                  </a:cubicBezTo>
                  <a:lnTo>
                    <a:pt x="15428849" y="1896745"/>
                  </a:lnTo>
                  <a:cubicBezTo>
                    <a:pt x="15490825" y="1896745"/>
                    <a:pt x="15540355" y="1847469"/>
                    <a:pt x="15540355" y="1787398"/>
                  </a:cubicBezTo>
                  <a:lnTo>
                    <a:pt x="15540355" y="147447"/>
                  </a:lnTo>
                  <a:cubicBezTo>
                    <a:pt x="15540355" y="87376"/>
                    <a:pt x="15490698" y="38100"/>
                    <a:pt x="15428849" y="38100"/>
                  </a:cubicBezTo>
                  <a:lnTo>
                    <a:pt x="149606" y="38100"/>
                  </a:lnTo>
                  <a:lnTo>
                    <a:pt x="149606" y="19050"/>
                  </a:lnTo>
                  <a:lnTo>
                    <a:pt x="149606" y="38100"/>
                  </a:lnTo>
                  <a:cubicBezTo>
                    <a:pt x="87757" y="38100"/>
                    <a:pt x="38100" y="87376"/>
                    <a:pt x="38100" y="147447"/>
                  </a:cubicBezTo>
                  <a:close/>
                </a:path>
              </a:pathLst>
            </a:custGeom>
            <a:solidFill>
              <a:srgbClr val="027159"/>
            </a:solidFill>
          </p:spPr>
          <p:txBody>
            <a:bodyPr/>
            <a:lstStyle/>
            <a:p>
              <a:endParaRPr lang="vi-VN"/>
            </a:p>
          </p:txBody>
        </p:sp>
      </p:grpSp>
      <p:grpSp>
        <p:nvGrpSpPr>
          <p:cNvPr id="42" name="Group 42"/>
          <p:cNvGrpSpPr/>
          <p:nvPr/>
        </p:nvGrpSpPr>
        <p:grpSpPr>
          <a:xfrm>
            <a:off x="1789509" y="5138661"/>
            <a:ext cx="910828" cy="910828"/>
            <a:chOff x="0" y="0"/>
            <a:chExt cx="1214438" cy="1214438"/>
          </a:xfrm>
        </p:grpSpPr>
        <p:sp>
          <p:nvSpPr>
            <p:cNvPr id="43" name="Freeform 43"/>
            <p:cNvSpPr/>
            <p:nvPr/>
          </p:nvSpPr>
          <p:spPr>
            <a:xfrm>
              <a:off x="0" y="0"/>
              <a:ext cx="1214501" cy="1214501"/>
            </a:xfrm>
            <a:custGeom>
              <a:avLst/>
              <a:gdLst/>
              <a:ahLst/>
              <a:cxnLst/>
              <a:rect l="l" t="t" r="r" b="b"/>
              <a:pathLst>
                <a:path w="1214501" h="1214501">
                  <a:moveTo>
                    <a:pt x="0" y="607187"/>
                  </a:moveTo>
                  <a:cubicBezTo>
                    <a:pt x="0" y="271907"/>
                    <a:pt x="271907" y="0"/>
                    <a:pt x="607187" y="0"/>
                  </a:cubicBezTo>
                  <a:cubicBezTo>
                    <a:pt x="942467" y="0"/>
                    <a:pt x="1214501" y="271907"/>
                    <a:pt x="1214501" y="607187"/>
                  </a:cubicBezTo>
                  <a:cubicBezTo>
                    <a:pt x="1214501" y="942467"/>
                    <a:pt x="942594" y="1214501"/>
                    <a:pt x="607187" y="1214501"/>
                  </a:cubicBezTo>
                  <a:cubicBezTo>
                    <a:pt x="271780" y="1214501"/>
                    <a:pt x="0" y="942594"/>
                    <a:pt x="0" y="607187"/>
                  </a:cubicBezTo>
                  <a:close/>
                </a:path>
              </a:pathLst>
            </a:custGeom>
            <a:solidFill>
              <a:srgbClr val="10CD57"/>
            </a:solidFill>
          </p:spPr>
          <p:txBody>
            <a:bodyPr/>
            <a:lstStyle/>
            <a:p>
              <a:endParaRPr lang="vi-VN"/>
            </a:p>
          </p:txBody>
        </p:sp>
        <p:sp>
          <p:nvSpPr>
            <p:cNvPr id="44" name="TextBox 44"/>
            <p:cNvSpPr txBox="1"/>
            <p:nvPr/>
          </p:nvSpPr>
          <p:spPr>
            <a:xfrm>
              <a:off x="0" y="-19050"/>
              <a:ext cx="1214438" cy="1233488"/>
            </a:xfrm>
            <a:prstGeom prst="rect">
              <a:avLst/>
            </a:prstGeom>
          </p:spPr>
          <p:txBody>
            <a:bodyPr lIns="50800" tIns="50800" rIns="50800" bIns="50800" rtlCol="0" anchor="ctr"/>
            <a:lstStyle/>
            <a:p>
              <a:pPr algn="ctr">
                <a:lnSpc>
                  <a:spcPts val="5040"/>
                </a:lnSpc>
              </a:pPr>
              <a:r>
                <a:rPr lang="en-US" sz="4200" b="1">
                  <a:solidFill>
                    <a:srgbClr val="FFFFFF"/>
                  </a:solidFill>
                  <a:latin typeface="Times New Roman Bold"/>
                  <a:ea typeface="Times New Roman Bold"/>
                  <a:cs typeface="Times New Roman Bold"/>
                  <a:sym typeface="Times New Roman Bold"/>
                </a:rPr>
                <a:t>2</a:t>
              </a:r>
            </a:p>
          </p:txBody>
        </p:sp>
      </p:grpSp>
      <p:grpSp>
        <p:nvGrpSpPr>
          <p:cNvPr id="45" name="Group 45"/>
          <p:cNvGrpSpPr/>
          <p:nvPr/>
        </p:nvGrpSpPr>
        <p:grpSpPr>
          <a:xfrm>
            <a:off x="2793597" y="5247818"/>
            <a:ext cx="9913868" cy="740494"/>
            <a:chOff x="0" y="0"/>
            <a:chExt cx="13218490" cy="987326"/>
          </a:xfrm>
        </p:grpSpPr>
        <p:sp>
          <p:nvSpPr>
            <p:cNvPr id="46" name="Freeform 46"/>
            <p:cNvSpPr/>
            <p:nvPr/>
          </p:nvSpPr>
          <p:spPr>
            <a:xfrm>
              <a:off x="0" y="0"/>
              <a:ext cx="13218495" cy="987328"/>
            </a:xfrm>
            <a:custGeom>
              <a:avLst/>
              <a:gdLst/>
              <a:ahLst/>
              <a:cxnLst/>
              <a:rect l="l" t="t" r="r" b="b"/>
              <a:pathLst>
                <a:path w="13218495" h="987328">
                  <a:moveTo>
                    <a:pt x="0" y="0"/>
                  </a:moveTo>
                  <a:lnTo>
                    <a:pt x="13218495" y="0"/>
                  </a:lnTo>
                  <a:lnTo>
                    <a:pt x="13218495" y="987328"/>
                  </a:lnTo>
                  <a:lnTo>
                    <a:pt x="0" y="987328"/>
                  </a:lnTo>
                  <a:close/>
                </a:path>
              </a:pathLst>
            </a:custGeom>
            <a:blipFill>
              <a:blip r:embed="rId6">
                <a:alphaModFix amt="0"/>
              </a:blip>
              <a:stretch>
                <a:fillRect t="-214109" b="-207627"/>
              </a:stretch>
            </a:blipFill>
          </p:spPr>
          <p:txBody>
            <a:bodyPr/>
            <a:lstStyle/>
            <a:p>
              <a:endParaRPr lang="vi-VN"/>
            </a:p>
          </p:txBody>
        </p:sp>
        <p:sp>
          <p:nvSpPr>
            <p:cNvPr id="47" name="TextBox 47"/>
            <p:cNvSpPr txBox="1"/>
            <p:nvPr/>
          </p:nvSpPr>
          <p:spPr>
            <a:xfrm>
              <a:off x="0" y="-28575"/>
              <a:ext cx="13218490" cy="1015901"/>
            </a:xfrm>
            <a:prstGeom prst="rect">
              <a:avLst/>
            </a:prstGeom>
          </p:spPr>
          <p:txBody>
            <a:bodyPr lIns="0" tIns="0" rIns="0" bIns="0" rtlCol="0" anchor="ctr"/>
            <a:lstStyle/>
            <a:p>
              <a:pPr>
                <a:lnSpc>
                  <a:spcPts val="4320"/>
                </a:lnSpc>
              </a:pPr>
              <a:r>
                <a:rPr lang="en-US" sz="3600" dirty="0" err="1">
                  <a:solidFill>
                    <a:srgbClr val="FFFFFF"/>
                  </a:solidFill>
                  <a:latin typeface="Arial"/>
                  <a:ea typeface="Arial"/>
                  <a:cs typeface="Arial"/>
                  <a:sym typeface="Arial"/>
                </a:rPr>
                <a:t>Kiến</a:t>
              </a:r>
              <a:r>
                <a:rPr lang="en-US" sz="3600" dirty="0">
                  <a:solidFill>
                    <a:srgbClr val="FFFFFF"/>
                  </a:solidFill>
                  <a:latin typeface="Arial"/>
                  <a:ea typeface="Arial"/>
                  <a:cs typeface="Arial"/>
                  <a:sym typeface="Arial"/>
                </a:rPr>
                <a:t> </a:t>
              </a:r>
              <a:r>
                <a:rPr lang="en-US" sz="3600" dirty="0" err="1">
                  <a:solidFill>
                    <a:srgbClr val="FFFFFF"/>
                  </a:solidFill>
                  <a:latin typeface="Arial"/>
                  <a:ea typeface="Arial"/>
                  <a:cs typeface="Arial"/>
                  <a:sym typeface="Arial"/>
                </a:rPr>
                <a:t>trúc</a:t>
              </a:r>
              <a:r>
                <a:rPr lang="en-US" sz="3600" dirty="0">
                  <a:solidFill>
                    <a:srgbClr val="FFFFFF"/>
                  </a:solidFill>
                  <a:latin typeface="Arial"/>
                  <a:ea typeface="Arial"/>
                  <a:cs typeface="Arial"/>
                  <a:sym typeface="Arial"/>
                </a:rPr>
                <a:t> </a:t>
              </a:r>
              <a:r>
                <a:rPr lang="en-US" sz="3600" dirty="0" err="1">
                  <a:solidFill>
                    <a:srgbClr val="FFFFFF"/>
                  </a:solidFill>
                  <a:latin typeface="Arial"/>
                  <a:ea typeface="Arial"/>
                  <a:cs typeface="Arial"/>
                  <a:sym typeface="Arial"/>
                </a:rPr>
                <a:t>và</a:t>
              </a:r>
              <a:r>
                <a:rPr lang="en-US" sz="3600" dirty="0">
                  <a:solidFill>
                    <a:srgbClr val="FFFFFF"/>
                  </a:solidFill>
                  <a:latin typeface="Arial"/>
                  <a:ea typeface="Arial"/>
                  <a:cs typeface="Arial"/>
                  <a:sym typeface="Arial"/>
                </a:rPr>
                <a:t> </a:t>
              </a:r>
              <a:r>
                <a:rPr lang="en-US" sz="3600" dirty="0" err="1">
                  <a:solidFill>
                    <a:srgbClr val="FFFFFF"/>
                  </a:solidFill>
                  <a:latin typeface="Arial"/>
                  <a:ea typeface="Arial"/>
                  <a:cs typeface="Arial"/>
                  <a:sym typeface="Arial"/>
                </a:rPr>
                <a:t>Giải</a:t>
              </a:r>
              <a:r>
                <a:rPr lang="en-US" sz="3600" dirty="0">
                  <a:solidFill>
                    <a:srgbClr val="FFFFFF"/>
                  </a:solidFill>
                  <a:latin typeface="Arial"/>
                  <a:ea typeface="Arial"/>
                  <a:cs typeface="Arial"/>
                  <a:sym typeface="Arial"/>
                </a:rPr>
                <a:t> </a:t>
              </a:r>
              <a:r>
                <a:rPr lang="en-US" sz="3600" dirty="0" err="1">
                  <a:solidFill>
                    <a:srgbClr val="FFFFFF"/>
                  </a:solidFill>
                  <a:latin typeface="Arial"/>
                  <a:ea typeface="Arial"/>
                  <a:cs typeface="Arial"/>
                  <a:sym typeface="Arial"/>
                </a:rPr>
                <a:t>pháp</a:t>
              </a:r>
              <a:r>
                <a:rPr lang="en-US" sz="3600" dirty="0">
                  <a:solidFill>
                    <a:srgbClr val="FFFFFF"/>
                  </a:solidFill>
                  <a:latin typeface="Arial"/>
                  <a:ea typeface="Arial"/>
                  <a:cs typeface="Arial"/>
                  <a:sym typeface="Arial"/>
                </a:rPr>
                <a:t> </a:t>
              </a:r>
              <a:r>
                <a:rPr lang="en-US" sz="3600" dirty="0" err="1">
                  <a:solidFill>
                    <a:srgbClr val="FFFFFF"/>
                  </a:solidFill>
                  <a:latin typeface="Arial"/>
                  <a:ea typeface="Arial"/>
                  <a:cs typeface="Arial"/>
                  <a:sym typeface="Arial"/>
                </a:rPr>
                <a:t>đề</a:t>
              </a:r>
              <a:r>
                <a:rPr lang="en-US" sz="3600" dirty="0">
                  <a:solidFill>
                    <a:srgbClr val="FFFFFF"/>
                  </a:solidFill>
                  <a:latin typeface="Arial"/>
                  <a:ea typeface="Arial"/>
                  <a:cs typeface="Arial"/>
                  <a:sym typeface="Arial"/>
                </a:rPr>
                <a:t> </a:t>
              </a:r>
              <a:r>
                <a:rPr lang="en-US" sz="3600" dirty="0" err="1">
                  <a:solidFill>
                    <a:srgbClr val="FFFFFF"/>
                  </a:solidFill>
                  <a:latin typeface="Arial"/>
                  <a:ea typeface="Arial"/>
                  <a:cs typeface="Arial"/>
                  <a:sym typeface="Arial"/>
                </a:rPr>
                <a:t>xuất</a:t>
              </a:r>
              <a:r>
                <a:rPr lang="en-US" sz="3600" dirty="0">
                  <a:solidFill>
                    <a:srgbClr val="FFFFFF"/>
                  </a:solidFill>
                  <a:latin typeface="Arial"/>
                  <a:ea typeface="Arial"/>
                  <a:cs typeface="Arial"/>
                  <a:sym typeface="Arial"/>
                </a:rPr>
                <a:t> </a:t>
              </a:r>
            </a:p>
          </p:txBody>
        </p:sp>
      </p:grpSp>
      <p:grpSp>
        <p:nvGrpSpPr>
          <p:cNvPr id="48" name="Group 48"/>
          <p:cNvGrpSpPr/>
          <p:nvPr/>
        </p:nvGrpSpPr>
        <p:grpSpPr>
          <a:xfrm>
            <a:off x="1535459" y="6609007"/>
            <a:ext cx="11683841" cy="1451134"/>
            <a:chOff x="0" y="0"/>
            <a:chExt cx="15578455" cy="1934845"/>
          </a:xfrm>
        </p:grpSpPr>
        <p:sp>
          <p:nvSpPr>
            <p:cNvPr id="49" name="Freeform 49"/>
            <p:cNvSpPr/>
            <p:nvPr/>
          </p:nvSpPr>
          <p:spPr>
            <a:xfrm>
              <a:off x="19050" y="19050"/>
              <a:ext cx="15540355" cy="1896745"/>
            </a:xfrm>
            <a:custGeom>
              <a:avLst/>
              <a:gdLst/>
              <a:ahLst/>
              <a:cxnLst/>
              <a:rect l="l" t="t" r="r" b="b"/>
              <a:pathLst>
                <a:path w="15540355" h="1896745">
                  <a:moveTo>
                    <a:pt x="0" y="128397"/>
                  </a:moveTo>
                  <a:cubicBezTo>
                    <a:pt x="0" y="57404"/>
                    <a:pt x="58420" y="0"/>
                    <a:pt x="130556" y="0"/>
                  </a:cubicBezTo>
                  <a:lnTo>
                    <a:pt x="15409799" y="0"/>
                  </a:lnTo>
                  <a:cubicBezTo>
                    <a:pt x="15481936" y="0"/>
                    <a:pt x="15540355" y="57404"/>
                    <a:pt x="15540355" y="128397"/>
                  </a:cubicBezTo>
                  <a:lnTo>
                    <a:pt x="15540355" y="1768348"/>
                  </a:lnTo>
                  <a:cubicBezTo>
                    <a:pt x="15540355" y="1839214"/>
                    <a:pt x="15481936" y="1896745"/>
                    <a:pt x="15409799" y="1896745"/>
                  </a:cubicBezTo>
                  <a:lnTo>
                    <a:pt x="130556" y="1896745"/>
                  </a:lnTo>
                  <a:cubicBezTo>
                    <a:pt x="58420" y="1896745"/>
                    <a:pt x="0" y="1839341"/>
                    <a:pt x="0" y="1768348"/>
                  </a:cubicBezTo>
                  <a:close/>
                </a:path>
              </a:pathLst>
            </a:custGeom>
            <a:solidFill>
              <a:srgbClr val="FFFFFF"/>
            </a:solidFill>
          </p:spPr>
          <p:txBody>
            <a:bodyPr/>
            <a:lstStyle/>
            <a:p>
              <a:endParaRPr lang="vi-VN"/>
            </a:p>
          </p:txBody>
        </p:sp>
        <p:sp>
          <p:nvSpPr>
            <p:cNvPr id="50" name="Freeform 50"/>
            <p:cNvSpPr/>
            <p:nvPr/>
          </p:nvSpPr>
          <p:spPr>
            <a:xfrm>
              <a:off x="0" y="0"/>
              <a:ext cx="15578455" cy="1934845"/>
            </a:xfrm>
            <a:custGeom>
              <a:avLst/>
              <a:gdLst/>
              <a:ahLst/>
              <a:cxnLst/>
              <a:rect l="l" t="t" r="r" b="b"/>
              <a:pathLst>
                <a:path w="15578455" h="1934845">
                  <a:moveTo>
                    <a:pt x="0" y="147447"/>
                  </a:moveTo>
                  <a:cubicBezTo>
                    <a:pt x="0" y="65659"/>
                    <a:pt x="67310" y="0"/>
                    <a:pt x="149606" y="0"/>
                  </a:cubicBezTo>
                  <a:lnTo>
                    <a:pt x="15428849" y="0"/>
                  </a:lnTo>
                  <a:lnTo>
                    <a:pt x="15428849" y="19050"/>
                  </a:lnTo>
                  <a:lnTo>
                    <a:pt x="15428849" y="0"/>
                  </a:lnTo>
                  <a:cubicBezTo>
                    <a:pt x="15511145" y="0"/>
                    <a:pt x="15578455" y="65659"/>
                    <a:pt x="15578455" y="147447"/>
                  </a:cubicBezTo>
                  <a:lnTo>
                    <a:pt x="15559405" y="147447"/>
                  </a:lnTo>
                  <a:lnTo>
                    <a:pt x="15578455" y="147447"/>
                  </a:lnTo>
                  <a:lnTo>
                    <a:pt x="15578455" y="1787398"/>
                  </a:lnTo>
                  <a:lnTo>
                    <a:pt x="15559405" y="1787398"/>
                  </a:lnTo>
                  <a:lnTo>
                    <a:pt x="15578455" y="1787398"/>
                  </a:lnTo>
                  <a:cubicBezTo>
                    <a:pt x="15578455" y="1869059"/>
                    <a:pt x="15511145" y="1934845"/>
                    <a:pt x="15428849" y="1934845"/>
                  </a:cubicBezTo>
                  <a:lnTo>
                    <a:pt x="15428849" y="1915795"/>
                  </a:lnTo>
                  <a:lnTo>
                    <a:pt x="15428849" y="1934845"/>
                  </a:lnTo>
                  <a:lnTo>
                    <a:pt x="149606" y="1934845"/>
                  </a:lnTo>
                  <a:lnTo>
                    <a:pt x="149606" y="1915795"/>
                  </a:lnTo>
                  <a:lnTo>
                    <a:pt x="149606" y="1934845"/>
                  </a:lnTo>
                  <a:cubicBezTo>
                    <a:pt x="67310" y="1934845"/>
                    <a:pt x="0" y="1869186"/>
                    <a:pt x="0" y="1787398"/>
                  </a:cubicBezTo>
                  <a:lnTo>
                    <a:pt x="0" y="147447"/>
                  </a:lnTo>
                  <a:lnTo>
                    <a:pt x="19050" y="147447"/>
                  </a:lnTo>
                  <a:lnTo>
                    <a:pt x="0" y="147447"/>
                  </a:lnTo>
                  <a:moveTo>
                    <a:pt x="38100" y="147447"/>
                  </a:moveTo>
                  <a:lnTo>
                    <a:pt x="38100" y="1787398"/>
                  </a:lnTo>
                  <a:lnTo>
                    <a:pt x="19050" y="1787398"/>
                  </a:lnTo>
                  <a:lnTo>
                    <a:pt x="38100" y="1787398"/>
                  </a:lnTo>
                  <a:cubicBezTo>
                    <a:pt x="38100" y="1847469"/>
                    <a:pt x="87757" y="1896745"/>
                    <a:pt x="149606" y="1896745"/>
                  </a:cubicBezTo>
                  <a:lnTo>
                    <a:pt x="15428849" y="1896745"/>
                  </a:lnTo>
                  <a:cubicBezTo>
                    <a:pt x="15490825" y="1896745"/>
                    <a:pt x="15540355" y="1847469"/>
                    <a:pt x="15540355" y="1787398"/>
                  </a:cubicBezTo>
                  <a:lnTo>
                    <a:pt x="15540355" y="147447"/>
                  </a:lnTo>
                  <a:cubicBezTo>
                    <a:pt x="15540355" y="87376"/>
                    <a:pt x="15490698" y="38100"/>
                    <a:pt x="15428849" y="38100"/>
                  </a:cubicBezTo>
                  <a:lnTo>
                    <a:pt x="149606" y="38100"/>
                  </a:lnTo>
                  <a:lnTo>
                    <a:pt x="149606" y="19050"/>
                  </a:lnTo>
                  <a:lnTo>
                    <a:pt x="149606" y="38100"/>
                  </a:lnTo>
                  <a:cubicBezTo>
                    <a:pt x="87757" y="38100"/>
                    <a:pt x="38100" y="87376"/>
                    <a:pt x="38100" y="147447"/>
                  </a:cubicBezTo>
                  <a:close/>
                </a:path>
              </a:pathLst>
            </a:custGeom>
            <a:solidFill>
              <a:srgbClr val="027159"/>
            </a:solidFill>
          </p:spPr>
          <p:txBody>
            <a:bodyPr/>
            <a:lstStyle/>
            <a:p>
              <a:endParaRPr lang="vi-VN"/>
            </a:p>
          </p:txBody>
        </p:sp>
      </p:grpSp>
      <p:grpSp>
        <p:nvGrpSpPr>
          <p:cNvPr id="51" name="Group 51"/>
          <p:cNvGrpSpPr/>
          <p:nvPr/>
        </p:nvGrpSpPr>
        <p:grpSpPr>
          <a:xfrm>
            <a:off x="1789509" y="6879155"/>
            <a:ext cx="910828" cy="910828"/>
            <a:chOff x="0" y="0"/>
            <a:chExt cx="1214438" cy="1214438"/>
          </a:xfrm>
        </p:grpSpPr>
        <p:sp>
          <p:nvSpPr>
            <p:cNvPr id="52" name="Freeform 52"/>
            <p:cNvSpPr/>
            <p:nvPr/>
          </p:nvSpPr>
          <p:spPr>
            <a:xfrm>
              <a:off x="0" y="0"/>
              <a:ext cx="1214501" cy="1214501"/>
            </a:xfrm>
            <a:custGeom>
              <a:avLst/>
              <a:gdLst/>
              <a:ahLst/>
              <a:cxnLst/>
              <a:rect l="l" t="t" r="r" b="b"/>
              <a:pathLst>
                <a:path w="1214501" h="1214501">
                  <a:moveTo>
                    <a:pt x="0" y="607187"/>
                  </a:moveTo>
                  <a:cubicBezTo>
                    <a:pt x="0" y="271907"/>
                    <a:pt x="271907" y="0"/>
                    <a:pt x="607187" y="0"/>
                  </a:cubicBezTo>
                  <a:cubicBezTo>
                    <a:pt x="942467" y="0"/>
                    <a:pt x="1214501" y="271907"/>
                    <a:pt x="1214501" y="607187"/>
                  </a:cubicBezTo>
                  <a:cubicBezTo>
                    <a:pt x="1214501" y="942467"/>
                    <a:pt x="942594" y="1214501"/>
                    <a:pt x="607187" y="1214501"/>
                  </a:cubicBezTo>
                  <a:cubicBezTo>
                    <a:pt x="271780" y="1214501"/>
                    <a:pt x="0" y="942594"/>
                    <a:pt x="0" y="607187"/>
                  </a:cubicBezTo>
                  <a:close/>
                </a:path>
              </a:pathLst>
            </a:custGeom>
            <a:solidFill>
              <a:srgbClr val="10CD57"/>
            </a:solidFill>
          </p:spPr>
          <p:txBody>
            <a:bodyPr/>
            <a:lstStyle/>
            <a:p>
              <a:endParaRPr lang="vi-VN"/>
            </a:p>
          </p:txBody>
        </p:sp>
        <p:sp>
          <p:nvSpPr>
            <p:cNvPr id="53" name="TextBox 53"/>
            <p:cNvSpPr txBox="1"/>
            <p:nvPr/>
          </p:nvSpPr>
          <p:spPr>
            <a:xfrm>
              <a:off x="0" y="-19050"/>
              <a:ext cx="1214438" cy="1233488"/>
            </a:xfrm>
            <a:prstGeom prst="rect">
              <a:avLst/>
            </a:prstGeom>
          </p:spPr>
          <p:txBody>
            <a:bodyPr lIns="50800" tIns="50800" rIns="50800" bIns="50800" rtlCol="0" anchor="ctr"/>
            <a:lstStyle/>
            <a:p>
              <a:pPr algn="ctr">
                <a:lnSpc>
                  <a:spcPts val="5040"/>
                </a:lnSpc>
              </a:pPr>
              <a:r>
                <a:rPr lang="en-US" sz="4200" b="1">
                  <a:solidFill>
                    <a:srgbClr val="FFFFFF"/>
                  </a:solidFill>
                  <a:latin typeface="Times New Roman Bold"/>
                  <a:ea typeface="Times New Roman Bold"/>
                  <a:cs typeface="Times New Roman Bold"/>
                  <a:sym typeface="Times New Roman Bold"/>
                </a:rPr>
                <a:t>3</a:t>
              </a:r>
            </a:p>
          </p:txBody>
        </p:sp>
      </p:grpSp>
      <p:grpSp>
        <p:nvGrpSpPr>
          <p:cNvPr id="54" name="Group 54"/>
          <p:cNvGrpSpPr/>
          <p:nvPr/>
        </p:nvGrpSpPr>
        <p:grpSpPr>
          <a:xfrm>
            <a:off x="2793597" y="6988321"/>
            <a:ext cx="9913868" cy="740494"/>
            <a:chOff x="0" y="0"/>
            <a:chExt cx="13218490" cy="987326"/>
          </a:xfrm>
        </p:grpSpPr>
        <p:sp>
          <p:nvSpPr>
            <p:cNvPr id="55" name="Freeform 55"/>
            <p:cNvSpPr/>
            <p:nvPr/>
          </p:nvSpPr>
          <p:spPr>
            <a:xfrm>
              <a:off x="0" y="0"/>
              <a:ext cx="13218495" cy="987328"/>
            </a:xfrm>
            <a:custGeom>
              <a:avLst/>
              <a:gdLst/>
              <a:ahLst/>
              <a:cxnLst/>
              <a:rect l="l" t="t" r="r" b="b"/>
              <a:pathLst>
                <a:path w="13218495" h="987328">
                  <a:moveTo>
                    <a:pt x="0" y="0"/>
                  </a:moveTo>
                  <a:lnTo>
                    <a:pt x="13218495" y="0"/>
                  </a:lnTo>
                  <a:lnTo>
                    <a:pt x="13218495" y="987328"/>
                  </a:lnTo>
                  <a:lnTo>
                    <a:pt x="0" y="987328"/>
                  </a:lnTo>
                  <a:close/>
                </a:path>
              </a:pathLst>
            </a:custGeom>
            <a:blipFill>
              <a:blip r:embed="rId6">
                <a:alphaModFix amt="0"/>
              </a:blip>
              <a:stretch>
                <a:fillRect t="-214109" b="-207627"/>
              </a:stretch>
            </a:blipFill>
          </p:spPr>
          <p:txBody>
            <a:bodyPr/>
            <a:lstStyle/>
            <a:p>
              <a:endParaRPr lang="vi-VN" dirty="0"/>
            </a:p>
          </p:txBody>
        </p:sp>
        <p:sp>
          <p:nvSpPr>
            <p:cNvPr id="56" name="TextBox 56"/>
            <p:cNvSpPr txBox="1"/>
            <p:nvPr/>
          </p:nvSpPr>
          <p:spPr>
            <a:xfrm>
              <a:off x="0" y="-28575"/>
              <a:ext cx="13218490" cy="1015901"/>
            </a:xfrm>
            <a:prstGeom prst="rect">
              <a:avLst/>
            </a:prstGeom>
          </p:spPr>
          <p:txBody>
            <a:bodyPr lIns="0" tIns="0" rIns="0" bIns="0" rtlCol="0" anchor="ctr"/>
            <a:lstStyle/>
            <a:p>
              <a:pPr>
                <a:lnSpc>
                  <a:spcPts val="4320"/>
                </a:lnSpc>
              </a:pPr>
              <a:r>
                <a:rPr lang="en-US" sz="3600" dirty="0" err="1">
                  <a:solidFill>
                    <a:srgbClr val="000000"/>
                  </a:solidFill>
                  <a:latin typeface="Arial"/>
                  <a:ea typeface="Arial"/>
                  <a:cs typeface="Arial"/>
                  <a:sym typeface="Arial"/>
                </a:rPr>
                <a:t>Mục</a:t>
              </a:r>
              <a:r>
                <a:rPr lang="en-US" sz="3600" dirty="0">
                  <a:solidFill>
                    <a:srgbClr val="000000"/>
                  </a:solidFill>
                  <a:latin typeface="Arial"/>
                  <a:ea typeface="Arial"/>
                  <a:cs typeface="Arial"/>
                  <a:sym typeface="Arial"/>
                </a:rPr>
                <a:t> </a:t>
              </a:r>
              <a:r>
                <a:rPr lang="en-US" sz="3600" dirty="0" err="1">
                  <a:solidFill>
                    <a:srgbClr val="000000"/>
                  </a:solidFill>
                  <a:latin typeface="Arial"/>
                  <a:ea typeface="Arial"/>
                  <a:cs typeface="Arial"/>
                  <a:sym typeface="Arial"/>
                </a:rPr>
                <a:t>tiêu</a:t>
              </a:r>
              <a:endParaRPr lang="en-US" sz="3600" dirty="0">
                <a:solidFill>
                  <a:srgbClr val="000000"/>
                </a:solidFill>
                <a:latin typeface="Arial"/>
                <a:ea typeface="Arial"/>
                <a:cs typeface="Arial"/>
                <a:sym typeface="Arial"/>
              </a:endParaRPr>
            </a:p>
          </p:txBody>
        </p:sp>
      </p:grpSp>
      <p:sp>
        <p:nvSpPr>
          <p:cNvPr id="73" name="TextBox 53">
            <a:extLst>
              <a:ext uri="{FF2B5EF4-FFF2-40B4-BE49-F238E27FC236}">
                <a16:creationId xmlns:a16="http://schemas.microsoft.com/office/drawing/2014/main" id="{6B8D8F07-C0C9-1D15-AFE9-3855A671A1EE}"/>
              </a:ext>
            </a:extLst>
          </p:cNvPr>
          <p:cNvSpPr txBox="1"/>
          <p:nvPr/>
        </p:nvSpPr>
        <p:spPr>
          <a:xfrm>
            <a:off x="1789509" y="8585856"/>
            <a:ext cx="910828" cy="925115"/>
          </a:xfrm>
          <a:prstGeom prst="rect">
            <a:avLst/>
          </a:prstGeom>
        </p:spPr>
        <p:txBody>
          <a:bodyPr lIns="50800" tIns="50800" rIns="50800" bIns="50800" rtlCol="0" anchor="ctr"/>
          <a:lstStyle/>
          <a:p>
            <a:pPr algn="ctr">
              <a:lnSpc>
                <a:spcPts val="5040"/>
              </a:lnSpc>
            </a:pPr>
            <a:r>
              <a:rPr lang="en-US" sz="4200" b="1" dirty="0">
                <a:solidFill>
                  <a:srgbClr val="FFFFFF"/>
                </a:solidFill>
                <a:latin typeface="Times New Roman Bold"/>
                <a:ea typeface="Times New Roman Bold"/>
                <a:cs typeface="Times New Roman Bold"/>
                <a:sym typeface="Times New Roman Bold"/>
              </a:rPr>
              <a:t>4</a:t>
            </a:r>
          </a:p>
        </p:txBody>
      </p:sp>
      <p:grpSp>
        <p:nvGrpSpPr>
          <p:cNvPr id="78" name="Group 39">
            <a:extLst>
              <a:ext uri="{FF2B5EF4-FFF2-40B4-BE49-F238E27FC236}">
                <a16:creationId xmlns:a16="http://schemas.microsoft.com/office/drawing/2014/main" id="{5BC87111-0013-FFF9-9437-20C9789C7061}"/>
              </a:ext>
            </a:extLst>
          </p:cNvPr>
          <p:cNvGrpSpPr/>
          <p:nvPr/>
        </p:nvGrpSpPr>
        <p:grpSpPr>
          <a:xfrm>
            <a:off x="1494707" y="8385411"/>
            <a:ext cx="11683841" cy="1451134"/>
            <a:chOff x="0" y="0"/>
            <a:chExt cx="15578455" cy="1934845"/>
          </a:xfrm>
        </p:grpSpPr>
        <p:sp>
          <p:nvSpPr>
            <p:cNvPr id="79" name="Freeform 40">
              <a:extLst>
                <a:ext uri="{FF2B5EF4-FFF2-40B4-BE49-F238E27FC236}">
                  <a16:creationId xmlns:a16="http://schemas.microsoft.com/office/drawing/2014/main" id="{37C8DC33-F332-8A25-0AB2-E95C30AA1C0E}"/>
                </a:ext>
              </a:extLst>
            </p:cNvPr>
            <p:cNvSpPr/>
            <p:nvPr/>
          </p:nvSpPr>
          <p:spPr>
            <a:xfrm>
              <a:off x="19050" y="19050"/>
              <a:ext cx="15540355" cy="1896745"/>
            </a:xfrm>
            <a:custGeom>
              <a:avLst/>
              <a:gdLst/>
              <a:ahLst/>
              <a:cxnLst/>
              <a:rect l="l" t="t" r="r" b="b"/>
              <a:pathLst>
                <a:path w="15540355" h="1896745">
                  <a:moveTo>
                    <a:pt x="0" y="128397"/>
                  </a:moveTo>
                  <a:cubicBezTo>
                    <a:pt x="0" y="57404"/>
                    <a:pt x="58420" y="0"/>
                    <a:pt x="130556" y="0"/>
                  </a:cubicBezTo>
                  <a:lnTo>
                    <a:pt x="15409799" y="0"/>
                  </a:lnTo>
                  <a:cubicBezTo>
                    <a:pt x="15481936" y="0"/>
                    <a:pt x="15540355" y="57404"/>
                    <a:pt x="15540355" y="128397"/>
                  </a:cubicBezTo>
                  <a:lnTo>
                    <a:pt x="15540355" y="1768348"/>
                  </a:lnTo>
                  <a:cubicBezTo>
                    <a:pt x="15540355" y="1839214"/>
                    <a:pt x="15481936" y="1896745"/>
                    <a:pt x="15409799" y="1896745"/>
                  </a:cubicBezTo>
                  <a:lnTo>
                    <a:pt x="130556" y="1896745"/>
                  </a:lnTo>
                  <a:cubicBezTo>
                    <a:pt x="58420" y="1896745"/>
                    <a:pt x="0" y="1839341"/>
                    <a:pt x="0" y="1768348"/>
                  </a:cubicBezTo>
                  <a:close/>
                </a:path>
              </a:pathLst>
            </a:custGeom>
            <a:solidFill>
              <a:srgbClr val="027159"/>
            </a:solidFill>
          </p:spPr>
          <p:txBody>
            <a:bodyPr/>
            <a:lstStyle/>
            <a:p>
              <a:endParaRPr lang="vi-VN"/>
            </a:p>
          </p:txBody>
        </p:sp>
        <p:sp>
          <p:nvSpPr>
            <p:cNvPr id="80" name="Freeform 41">
              <a:extLst>
                <a:ext uri="{FF2B5EF4-FFF2-40B4-BE49-F238E27FC236}">
                  <a16:creationId xmlns:a16="http://schemas.microsoft.com/office/drawing/2014/main" id="{D9FE8F65-9A54-93AA-1942-41DEF3A1AE1D}"/>
                </a:ext>
              </a:extLst>
            </p:cNvPr>
            <p:cNvSpPr/>
            <p:nvPr/>
          </p:nvSpPr>
          <p:spPr>
            <a:xfrm>
              <a:off x="0" y="0"/>
              <a:ext cx="15578455" cy="1934845"/>
            </a:xfrm>
            <a:custGeom>
              <a:avLst/>
              <a:gdLst/>
              <a:ahLst/>
              <a:cxnLst/>
              <a:rect l="l" t="t" r="r" b="b"/>
              <a:pathLst>
                <a:path w="15578455" h="1934845">
                  <a:moveTo>
                    <a:pt x="0" y="147447"/>
                  </a:moveTo>
                  <a:cubicBezTo>
                    <a:pt x="0" y="65659"/>
                    <a:pt x="67310" y="0"/>
                    <a:pt x="149606" y="0"/>
                  </a:cubicBezTo>
                  <a:lnTo>
                    <a:pt x="15428849" y="0"/>
                  </a:lnTo>
                  <a:lnTo>
                    <a:pt x="15428849" y="19050"/>
                  </a:lnTo>
                  <a:lnTo>
                    <a:pt x="15428849" y="0"/>
                  </a:lnTo>
                  <a:cubicBezTo>
                    <a:pt x="15511145" y="0"/>
                    <a:pt x="15578455" y="65659"/>
                    <a:pt x="15578455" y="147447"/>
                  </a:cubicBezTo>
                  <a:lnTo>
                    <a:pt x="15559405" y="147447"/>
                  </a:lnTo>
                  <a:lnTo>
                    <a:pt x="15578455" y="147447"/>
                  </a:lnTo>
                  <a:lnTo>
                    <a:pt x="15578455" y="1787398"/>
                  </a:lnTo>
                  <a:lnTo>
                    <a:pt x="15559405" y="1787398"/>
                  </a:lnTo>
                  <a:lnTo>
                    <a:pt x="15578455" y="1787398"/>
                  </a:lnTo>
                  <a:cubicBezTo>
                    <a:pt x="15578455" y="1869059"/>
                    <a:pt x="15511145" y="1934845"/>
                    <a:pt x="15428849" y="1934845"/>
                  </a:cubicBezTo>
                  <a:lnTo>
                    <a:pt x="15428849" y="1915795"/>
                  </a:lnTo>
                  <a:lnTo>
                    <a:pt x="15428849" y="1934845"/>
                  </a:lnTo>
                  <a:lnTo>
                    <a:pt x="149606" y="1934845"/>
                  </a:lnTo>
                  <a:lnTo>
                    <a:pt x="149606" y="1915795"/>
                  </a:lnTo>
                  <a:lnTo>
                    <a:pt x="149606" y="1934845"/>
                  </a:lnTo>
                  <a:cubicBezTo>
                    <a:pt x="67310" y="1934845"/>
                    <a:pt x="0" y="1869186"/>
                    <a:pt x="0" y="1787398"/>
                  </a:cubicBezTo>
                  <a:lnTo>
                    <a:pt x="0" y="147447"/>
                  </a:lnTo>
                  <a:lnTo>
                    <a:pt x="19050" y="147447"/>
                  </a:lnTo>
                  <a:lnTo>
                    <a:pt x="0" y="147447"/>
                  </a:lnTo>
                  <a:moveTo>
                    <a:pt x="38100" y="147447"/>
                  </a:moveTo>
                  <a:lnTo>
                    <a:pt x="38100" y="1787398"/>
                  </a:lnTo>
                  <a:lnTo>
                    <a:pt x="19050" y="1787398"/>
                  </a:lnTo>
                  <a:lnTo>
                    <a:pt x="38100" y="1787398"/>
                  </a:lnTo>
                  <a:cubicBezTo>
                    <a:pt x="38100" y="1847469"/>
                    <a:pt x="87757" y="1896745"/>
                    <a:pt x="149606" y="1896745"/>
                  </a:cubicBezTo>
                  <a:lnTo>
                    <a:pt x="15428849" y="1896745"/>
                  </a:lnTo>
                  <a:cubicBezTo>
                    <a:pt x="15490825" y="1896745"/>
                    <a:pt x="15540355" y="1847469"/>
                    <a:pt x="15540355" y="1787398"/>
                  </a:cubicBezTo>
                  <a:lnTo>
                    <a:pt x="15540355" y="147447"/>
                  </a:lnTo>
                  <a:cubicBezTo>
                    <a:pt x="15540355" y="87376"/>
                    <a:pt x="15490698" y="38100"/>
                    <a:pt x="15428849" y="38100"/>
                  </a:cubicBezTo>
                  <a:lnTo>
                    <a:pt x="149606" y="38100"/>
                  </a:lnTo>
                  <a:lnTo>
                    <a:pt x="149606" y="19050"/>
                  </a:lnTo>
                  <a:lnTo>
                    <a:pt x="149606" y="38100"/>
                  </a:lnTo>
                  <a:cubicBezTo>
                    <a:pt x="87757" y="38100"/>
                    <a:pt x="38100" y="87376"/>
                    <a:pt x="38100" y="147447"/>
                  </a:cubicBezTo>
                  <a:close/>
                </a:path>
              </a:pathLst>
            </a:custGeom>
            <a:solidFill>
              <a:srgbClr val="027159"/>
            </a:solidFill>
          </p:spPr>
          <p:txBody>
            <a:bodyPr/>
            <a:lstStyle/>
            <a:p>
              <a:endParaRPr lang="vi-VN"/>
            </a:p>
          </p:txBody>
        </p:sp>
      </p:grpSp>
      <p:grpSp>
        <p:nvGrpSpPr>
          <p:cNvPr id="81" name="Group 42">
            <a:extLst>
              <a:ext uri="{FF2B5EF4-FFF2-40B4-BE49-F238E27FC236}">
                <a16:creationId xmlns:a16="http://schemas.microsoft.com/office/drawing/2014/main" id="{1CF1F658-8873-2B3C-F04B-FD817B49F087}"/>
              </a:ext>
            </a:extLst>
          </p:cNvPr>
          <p:cNvGrpSpPr/>
          <p:nvPr/>
        </p:nvGrpSpPr>
        <p:grpSpPr>
          <a:xfrm>
            <a:off x="1775221" y="8614431"/>
            <a:ext cx="910828" cy="910828"/>
            <a:chOff x="0" y="0"/>
            <a:chExt cx="1214438" cy="1214438"/>
          </a:xfrm>
        </p:grpSpPr>
        <p:sp>
          <p:nvSpPr>
            <p:cNvPr id="82" name="Freeform 43">
              <a:extLst>
                <a:ext uri="{FF2B5EF4-FFF2-40B4-BE49-F238E27FC236}">
                  <a16:creationId xmlns:a16="http://schemas.microsoft.com/office/drawing/2014/main" id="{F7EC0864-93F6-865D-7637-D126353E37CD}"/>
                </a:ext>
              </a:extLst>
            </p:cNvPr>
            <p:cNvSpPr/>
            <p:nvPr/>
          </p:nvSpPr>
          <p:spPr>
            <a:xfrm>
              <a:off x="0" y="0"/>
              <a:ext cx="1214501" cy="1214501"/>
            </a:xfrm>
            <a:custGeom>
              <a:avLst/>
              <a:gdLst/>
              <a:ahLst/>
              <a:cxnLst/>
              <a:rect l="l" t="t" r="r" b="b"/>
              <a:pathLst>
                <a:path w="1214501" h="1214501">
                  <a:moveTo>
                    <a:pt x="0" y="607187"/>
                  </a:moveTo>
                  <a:cubicBezTo>
                    <a:pt x="0" y="271907"/>
                    <a:pt x="271907" y="0"/>
                    <a:pt x="607187" y="0"/>
                  </a:cubicBezTo>
                  <a:cubicBezTo>
                    <a:pt x="942467" y="0"/>
                    <a:pt x="1214501" y="271907"/>
                    <a:pt x="1214501" y="607187"/>
                  </a:cubicBezTo>
                  <a:cubicBezTo>
                    <a:pt x="1214501" y="942467"/>
                    <a:pt x="942594" y="1214501"/>
                    <a:pt x="607187" y="1214501"/>
                  </a:cubicBezTo>
                  <a:cubicBezTo>
                    <a:pt x="271780" y="1214501"/>
                    <a:pt x="0" y="942594"/>
                    <a:pt x="0" y="607187"/>
                  </a:cubicBezTo>
                  <a:close/>
                </a:path>
              </a:pathLst>
            </a:custGeom>
            <a:solidFill>
              <a:srgbClr val="10CD57"/>
            </a:solidFill>
          </p:spPr>
          <p:txBody>
            <a:bodyPr/>
            <a:lstStyle/>
            <a:p>
              <a:endParaRPr lang="vi-VN"/>
            </a:p>
          </p:txBody>
        </p:sp>
        <p:sp>
          <p:nvSpPr>
            <p:cNvPr id="83" name="TextBox 44">
              <a:extLst>
                <a:ext uri="{FF2B5EF4-FFF2-40B4-BE49-F238E27FC236}">
                  <a16:creationId xmlns:a16="http://schemas.microsoft.com/office/drawing/2014/main" id="{733B0ECA-E122-7CF1-CEB4-C13F18592AEB}"/>
                </a:ext>
              </a:extLst>
            </p:cNvPr>
            <p:cNvSpPr txBox="1"/>
            <p:nvPr/>
          </p:nvSpPr>
          <p:spPr>
            <a:xfrm>
              <a:off x="0" y="-19050"/>
              <a:ext cx="1214438" cy="1233488"/>
            </a:xfrm>
            <a:prstGeom prst="rect">
              <a:avLst/>
            </a:prstGeom>
          </p:spPr>
          <p:txBody>
            <a:bodyPr lIns="50800" tIns="50800" rIns="50800" bIns="50800" rtlCol="0" anchor="ctr"/>
            <a:lstStyle/>
            <a:p>
              <a:pPr algn="ctr">
                <a:lnSpc>
                  <a:spcPts val="5040"/>
                </a:lnSpc>
              </a:pPr>
              <a:r>
                <a:rPr lang="en-US" sz="4200" b="1" dirty="0">
                  <a:solidFill>
                    <a:srgbClr val="FFFFFF"/>
                  </a:solidFill>
                  <a:latin typeface="Times New Roman Bold"/>
                  <a:ea typeface="Times New Roman Bold"/>
                  <a:cs typeface="Times New Roman Bold"/>
                  <a:sym typeface="Times New Roman Bold"/>
                </a:rPr>
                <a:t>4</a:t>
              </a:r>
            </a:p>
          </p:txBody>
        </p:sp>
      </p:grpSp>
      <p:sp>
        <p:nvSpPr>
          <p:cNvPr id="86" name="TextBox 47">
            <a:extLst>
              <a:ext uri="{FF2B5EF4-FFF2-40B4-BE49-F238E27FC236}">
                <a16:creationId xmlns:a16="http://schemas.microsoft.com/office/drawing/2014/main" id="{66AA556C-F23A-9C50-1F32-EA28023418AC}"/>
              </a:ext>
            </a:extLst>
          </p:cNvPr>
          <p:cNvSpPr txBox="1"/>
          <p:nvPr/>
        </p:nvSpPr>
        <p:spPr>
          <a:xfrm>
            <a:off x="2957395" y="8703278"/>
            <a:ext cx="9913868" cy="761925"/>
          </a:xfrm>
          <a:prstGeom prst="rect">
            <a:avLst/>
          </a:prstGeom>
        </p:spPr>
        <p:txBody>
          <a:bodyPr lIns="0" tIns="0" rIns="0" bIns="0" rtlCol="0" anchor="ctr"/>
          <a:lstStyle/>
          <a:p>
            <a:pPr>
              <a:lnSpc>
                <a:spcPts val="4320"/>
              </a:lnSpc>
            </a:pPr>
            <a:r>
              <a:rPr lang="en-US" sz="3600" dirty="0" err="1">
                <a:solidFill>
                  <a:srgbClr val="FFFFFF"/>
                </a:solidFill>
                <a:latin typeface="Arial"/>
                <a:ea typeface="Arial"/>
                <a:cs typeface="Arial"/>
                <a:sym typeface="Arial"/>
              </a:rPr>
              <a:t>Kế</a:t>
            </a:r>
            <a:r>
              <a:rPr lang="en-US" sz="3600" dirty="0">
                <a:solidFill>
                  <a:srgbClr val="FFFFFF"/>
                </a:solidFill>
                <a:latin typeface="Arial"/>
                <a:ea typeface="Arial"/>
                <a:cs typeface="Arial"/>
                <a:sym typeface="Arial"/>
              </a:rPr>
              <a:t> </a:t>
            </a:r>
            <a:r>
              <a:rPr lang="en-US" sz="3600" dirty="0" err="1">
                <a:solidFill>
                  <a:srgbClr val="FFFFFF"/>
                </a:solidFill>
                <a:latin typeface="Arial"/>
                <a:ea typeface="Arial"/>
                <a:cs typeface="Arial"/>
                <a:sym typeface="Arial"/>
              </a:rPr>
              <a:t>hoạch</a:t>
            </a:r>
            <a:endParaRPr lang="en-US" sz="3600" dirty="0">
              <a:solidFill>
                <a:srgbClr val="FFFFFF"/>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91440" y="-2287991"/>
            <a:ext cx="18105120" cy="527771"/>
          </a:xfrm>
          <a:prstGeom prst="rect">
            <a:avLst/>
          </a:prstGeom>
        </p:spPr>
        <p:txBody>
          <a:bodyPr lIns="0" tIns="0" rIns="0" bIns="0" rtlCol="0" anchor="t">
            <a:spAutoFit/>
          </a:bodyPr>
          <a:lstStyle/>
          <a:p>
            <a:pPr algn="ctr">
              <a:lnSpc>
                <a:spcPts val="3600"/>
              </a:lnSpc>
            </a:pPr>
            <a:r>
              <a:rPr lang="en-US" sz="3000">
                <a:solidFill>
                  <a:srgbClr val="C3C3C3"/>
                </a:solidFill>
                <a:latin typeface="Arial"/>
                <a:ea typeface="Arial"/>
                <a:cs typeface="Arial"/>
                <a:sym typeface="Arial"/>
              </a:rPr>
              <a:t>www.9slide.vn</a:t>
            </a:r>
          </a:p>
        </p:txBody>
      </p:sp>
      <p:grpSp>
        <p:nvGrpSpPr>
          <p:cNvPr id="3" name="Group 3"/>
          <p:cNvGrpSpPr/>
          <p:nvPr/>
        </p:nvGrpSpPr>
        <p:grpSpPr>
          <a:xfrm>
            <a:off x="0" y="2124"/>
            <a:ext cx="18291715" cy="10295487"/>
            <a:chOff x="0" y="0"/>
            <a:chExt cx="24388953" cy="13727316"/>
          </a:xfrm>
        </p:grpSpPr>
        <p:sp>
          <p:nvSpPr>
            <p:cNvPr id="4" name="Freeform 4"/>
            <p:cNvSpPr/>
            <p:nvPr/>
          </p:nvSpPr>
          <p:spPr>
            <a:xfrm>
              <a:off x="0" y="0"/>
              <a:ext cx="24388953" cy="13727303"/>
            </a:xfrm>
            <a:custGeom>
              <a:avLst/>
              <a:gdLst/>
              <a:ahLst/>
              <a:cxnLst/>
              <a:rect l="l" t="t" r="r" b="b"/>
              <a:pathLst>
                <a:path w="24388953" h="1372730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txBody>
            <a:bodyPr/>
            <a:lstStyle/>
            <a:p>
              <a:endParaRPr lang="vi-VN"/>
            </a:p>
          </p:txBody>
        </p:sp>
      </p:grpSp>
      <p:grpSp>
        <p:nvGrpSpPr>
          <p:cNvPr id="5" name="Group 5"/>
          <p:cNvGrpSpPr/>
          <p:nvPr/>
        </p:nvGrpSpPr>
        <p:grpSpPr>
          <a:xfrm>
            <a:off x="-36214" y="0"/>
            <a:ext cx="6084589" cy="10287000"/>
            <a:chOff x="0" y="0"/>
            <a:chExt cx="8112785" cy="13716000"/>
          </a:xfrm>
        </p:grpSpPr>
        <p:sp>
          <p:nvSpPr>
            <p:cNvPr id="6" name="Freeform 6"/>
            <p:cNvSpPr/>
            <p:nvPr/>
          </p:nvSpPr>
          <p:spPr>
            <a:xfrm>
              <a:off x="0" y="0"/>
              <a:ext cx="8112760" cy="13716000"/>
            </a:xfrm>
            <a:custGeom>
              <a:avLst/>
              <a:gdLst/>
              <a:ahLst/>
              <a:cxnLst/>
              <a:rect l="l" t="t" r="r" b="b"/>
              <a:pathLst>
                <a:path w="8112760" h="13716000">
                  <a:moveTo>
                    <a:pt x="0" y="0"/>
                  </a:moveTo>
                  <a:lnTo>
                    <a:pt x="8112760" y="0"/>
                  </a:lnTo>
                  <a:lnTo>
                    <a:pt x="8112760" y="13716000"/>
                  </a:lnTo>
                  <a:lnTo>
                    <a:pt x="0" y="13716000"/>
                  </a:lnTo>
                  <a:close/>
                </a:path>
              </a:pathLst>
            </a:custGeom>
            <a:gradFill rotWithShape="1">
              <a:gsLst>
                <a:gs pos="0">
                  <a:srgbClr val="38EF7D">
                    <a:alpha val="100000"/>
                  </a:srgbClr>
                </a:gs>
                <a:gs pos="100000">
                  <a:srgbClr val="11998E">
                    <a:alpha val="100000"/>
                  </a:srgbClr>
                </a:gs>
              </a:gsLst>
              <a:lin ang="5400000"/>
            </a:gradFill>
          </p:spPr>
          <p:txBody>
            <a:bodyPr/>
            <a:lstStyle/>
            <a:p>
              <a:endParaRPr lang="vi-VN"/>
            </a:p>
          </p:txBody>
        </p:sp>
      </p:grpSp>
      <p:grpSp>
        <p:nvGrpSpPr>
          <p:cNvPr id="7" name="Group 7"/>
          <p:cNvGrpSpPr/>
          <p:nvPr/>
        </p:nvGrpSpPr>
        <p:grpSpPr>
          <a:xfrm>
            <a:off x="-46873" y="0"/>
            <a:ext cx="2707176" cy="10287000"/>
            <a:chOff x="0" y="0"/>
            <a:chExt cx="3609569" cy="13716000"/>
          </a:xfrm>
        </p:grpSpPr>
        <p:sp>
          <p:nvSpPr>
            <p:cNvPr id="8" name="Freeform 8"/>
            <p:cNvSpPr/>
            <p:nvPr/>
          </p:nvSpPr>
          <p:spPr>
            <a:xfrm flipV="1">
              <a:off x="0" y="0"/>
              <a:ext cx="3609594" cy="13716000"/>
            </a:xfrm>
            <a:custGeom>
              <a:avLst/>
              <a:gdLst/>
              <a:ahLst/>
              <a:cxnLst/>
              <a:rect l="l" t="t" r="r" b="b"/>
              <a:pathLst>
                <a:path w="3609594" h="13716000">
                  <a:moveTo>
                    <a:pt x="0" y="0"/>
                  </a:moveTo>
                  <a:lnTo>
                    <a:pt x="3609594" y="0"/>
                  </a:lnTo>
                  <a:lnTo>
                    <a:pt x="3609594" y="13716000"/>
                  </a:lnTo>
                  <a:lnTo>
                    <a:pt x="0" y="13716000"/>
                  </a:lnTo>
                  <a:close/>
                </a:path>
              </a:pathLst>
            </a:custGeom>
            <a:blipFill>
              <a:blip r:embed="rId2"/>
              <a:stretch>
                <a:fillRect l="-2907" r="-2906"/>
              </a:stretch>
            </a:blipFill>
          </p:spPr>
          <p:txBody>
            <a:bodyPr/>
            <a:lstStyle/>
            <a:p>
              <a:endParaRPr lang="vi-VN"/>
            </a:p>
          </p:txBody>
        </p:sp>
      </p:grpSp>
      <p:sp>
        <p:nvSpPr>
          <p:cNvPr id="9" name="TextBox 9"/>
          <p:cNvSpPr txBox="1"/>
          <p:nvPr/>
        </p:nvSpPr>
        <p:spPr>
          <a:xfrm rot="-5400000">
            <a:off x="-2614688" y="6739452"/>
            <a:ext cx="6076721" cy="425920"/>
          </a:xfrm>
          <a:prstGeom prst="rect">
            <a:avLst/>
          </a:prstGeom>
        </p:spPr>
        <p:txBody>
          <a:bodyPr lIns="0" tIns="0" rIns="0" bIns="0" rtlCol="0" anchor="t">
            <a:spAutoFit/>
          </a:bodyPr>
          <a:lstStyle/>
          <a:p>
            <a:pPr algn="l">
              <a:lnSpc>
                <a:spcPts val="2879"/>
              </a:lnSpc>
            </a:pPr>
            <a:r>
              <a:rPr lang="en-US" sz="2400" b="1">
                <a:solidFill>
                  <a:srgbClr val="FFFFFF"/>
                </a:solidFill>
                <a:latin typeface="Arial Bold"/>
                <a:ea typeface="Arial Bold"/>
                <a:cs typeface="Arial Bold"/>
                <a:sym typeface="Arial Bold"/>
              </a:rPr>
              <a:t>FACULTY OF COMPUTER ENGINEERING</a:t>
            </a:r>
          </a:p>
        </p:txBody>
      </p:sp>
      <p:grpSp>
        <p:nvGrpSpPr>
          <p:cNvPr id="10" name="Group 10"/>
          <p:cNvGrpSpPr/>
          <p:nvPr/>
        </p:nvGrpSpPr>
        <p:grpSpPr>
          <a:xfrm>
            <a:off x="6719973" y="293294"/>
            <a:ext cx="4848044" cy="957948"/>
            <a:chOff x="0" y="0"/>
            <a:chExt cx="6464059" cy="1277264"/>
          </a:xfrm>
        </p:grpSpPr>
        <p:sp>
          <p:nvSpPr>
            <p:cNvPr id="11" name="Freeform 11"/>
            <p:cNvSpPr/>
            <p:nvPr/>
          </p:nvSpPr>
          <p:spPr>
            <a:xfrm>
              <a:off x="0" y="0"/>
              <a:ext cx="6464173" cy="1277366"/>
            </a:xfrm>
            <a:custGeom>
              <a:avLst/>
              <a:gdLst/>
              <a:ahLst/>
              <a:cxnLst/>
              <a:rect l="l" t="t" r="r" b="b"/>
              <a:pathLst>
                <a:path w="6464173" h="1277366">
                  <a:moveTo>
                    <a:pt x="0" y="638683"/>
                  </a:moveTo>
                  <a:cubicBezTo>
                    <a:pt x="0" y="285877"/>
                    <a:pt x="285877" y="0"/>
                    <a:pt x="638683" y="0"/>
                  </a:cubicBezTo>
                  <a:lnTo>
                    <a:pt x="5825490" y="0"/>
                  </a:lnTo>
                  <a:cubicBezTo>
                    <a:pt x="6178169" y="0"/>
                    <a:pt x="6464173" y="285877"/>
                    <a:pt x="6464173" y="638683"/>
                  </a:cubicBezTo>
                  <a:cubicBezTo>
                    <a:pt x="6464173" y="991489"/>
                    <a:pt x="6178296" y="1277366"/>
                    <a:pt x="5825490" y="1277366"/>
                  </a:cubicBezTo>
                  <a:lnTo>
                    <a:pt x="638683" y="1277366"/>
                  </a:lnTo>
                  <a:cubicBezTo>
                    <a:pt x="285877" y="1277239"/>
                    <a:pt x="0" y="991362"/>
                    <a:pt x="0" y="638683"/>
                  </a:cubicBezTo>
                  <a:close/>
                </a:path>
              </a:pathLst>
            </a:custGeom>
            <a:gradFill rotWithShape="1">
              <a:gsLst>
                <a:gs pos="0">
                  <a:srgbClr val="38EF7D">
                    <a:alpha val="100000"/>
                  </a:srgbClr>
                </a:gs>
                <a:gs pos="100000">
                  <a:srgbClr val="752AFF">
                    <a:alpha val="100000"/>
                  </a:srgbClr>
                </a:gs>
              </a:gsLst>
              <a:lin ang="4729360"/>
            </a:gradFill>
          </p:spPr>
          <p:txBody>
            <a:bodyPr/>
            <a:lstStyle/>
            <a:p>
              <a:endParaRPr lang="vi-VN"/>
            </a:p>
          </p:txBody>
        </p:sp>
      </p:grpSp>
      <p:grpSp>
        <p:nvGrpSpPr>
          <p:cNvPr id="12" name="Group 12"/>
          <p:cNvGrpSpPr/>
          <p:nvPr/>
        </p:nvGrpSpPr>
        <p:grpSpPr>
          <a:xfrm>
            <a:off x="6807460" y="371332"/>
            <a:ext cx="4673079" cy="801872"/>
            <a:chOff x="0" y="0"/>
            <a:chExt cx="6230772" cy="1069162"/>
          </a:xfrm>
        </p:grpSpPr>
        <p:sp>
          <p:nvSpPr>
            <p:cNvPr id="13" name="Freeform 13"/>
            <p:cNvSpPr/>
            <p:nvPr/>
          </p:nvSpPr>
          <p:spPr>
            <a:xfrm>
              <a:off x="0" y="0"/>
              <a:ext cx="6230747" cy="1069086"/>
            </a:xfrm>
            <a:custGeom>
              <a:avLst/>
              <a:gdLst/>
              <a:ahLst/>
              <a:cxnLst/>
              <a:rect l="l" t="t" r="r" b="b"/>
              <a:pathLst>
                <a:path w="6230747" h="1069086">
                  <a:moveTo>
                    <a:pt x="0" y="534543"/>
                  </a:moveTo>
                  <a:cubicBezTo>
                    <a:pt x="0" y="239395"/>
                    <a:pt x="239395" y="0"/>
                    <a:pt x="534543" y="0"/>
                  </a:cubicBezTo>
                  <a:lnTo>
                    <a:pt x="5696204" y="0"/>
                  </a:lnTo>
                  <a:cubicBezTo>
                    <a:pt x="5991479" y="0"/>
                    <a:pt x="6230747" y="239395"/>
                    <a:pt x="6230747" y="534543"/>
                  </a:cubicBezTo>
                  <a:cubicBezTo>
                    <a:pt x="6230747" y="829691"/>
                    <a:pt x="5991352" y="1069086"/>
                    <a:pt x="5696204" y="1069086"/>
                  </a:cubicBezTo>
                  <a:lnTo>
                    <a:pt x="534543" y="1069086"/>
                  </a:lnTo>
                  <a:cubicBezTo>
                    <a:pt x="239395" y="1069213"/>
                    <a:pt x="0" y="829818"/>
                    <a:pt x="0" y="534543"/>
                  </a:cubicBezTo>
                  <a:close/>
                </a:path>
              </a:pathLst>
            </a:custGeom>
            <a:solidFill>
              <a:srgbClr val="FFFFFF"/>
            </a:solidFill>
          </p:spPr>
          <p:txBody>
            <a:bodyPr/>
            <a:lstStyle/>
            <a:p>
              <a:endParaRPr lang="vi-VN"/>
            </a:p>
          </p:txBody>
        </p:sp>
      </p:grpSp>
      <p:grpSp>
        <p:nvGrpSpPr>
          <p:cNvPr id="14" name="Group 14"/>
          <p:cNvGrpSpPr/>
          <p:nvPr/>
        </p:nvGrpSpPr>
        <p:grpSpPr>
          <a:xfrm>
            <a:off x="9436446" y="197910"/>
            <a:ext cx="1163307" cy="1152592"/>
            <a:chOff x="0" y="0"/>
            <a:chExt cx="1551076" cy="1536789"/>
          </a:xfrm>
        </p:grpSpPr>
        <p:sp>
          <p:nvSpPr>
            <p:cNvPr id="15" name="Freeform 15" descr="Icon  Description automatically generated with medium confidence"/>
            <p:cNvSpPr/>
            <p:nvPr/>
          </p:nvSpPr>
          <p:spPr>
            <a:xfrm>
              <a:off x="0" y="0"/>
              <a:ext cx="1551051" cy="1536827"/>
            </a:xfrm>
            <a:custGeom>
              <a:avLst/>
              <a:gdLst/>
              <a:ahLst/>
              <a:cxnLst/>
              <a:rect l="l" t="t" r="r" b="b"/>
              <a:pathLst>
                <a:path w="1551051" h="1536827">
                  <a:moveTo>
                    <a:pt x="0" y="0"/>
                  </a:moveTo>
                  <a:lnTo>
                    <a:pt x="1551051" y="0"/>
                  </a:lnTo>
                  <a:lnTo>
                    <a:pt x="1551051" y="1536827"/>
                  </a:lnTo>
                  <a:lnTo>
                    <a:pt x="0" y="1536827"/>
                  </a:lnTo>
                  <a:lnTo>
                    <a:pt x="0" y="0"/>
                  </a:lnTo>
                  <a:close/>
                </a:path>
              </a:pathLst>
            </a:custGeom>
            <a:blipFill>
              <a:blip r:embed="rId3"/>
              <a:stretch>
                <a:fillRect l="-75" r="-76" b="2"/>
              </a:stretch>
            </a:blipFill>
          </p:spPr>
          <p:txBody>
            <a:bodyPr/>
            <a:lstStyle/>
            <a:p>
              <a:endParaRPr lang="vi-VN"/>
            </a:p>
          </p:txBody>
        </p:sp>
      </p:grpSp>
      <p:grpSp>
        <p:nvGrpSpPr>
          <p:cNvPr id="16" name="Group 16"/>
          <p:cNvGrpSpPr/>
          <p:nvPr/>
        </p:nvGrpSpPr>
        <p:grpSpPr>
          <a:xfrm>
            <a:off x="7688247" y="233439"/>
            <a:ext cx="1307516" cy="1081516"/>
            <a:chOff x="0" y="0"/>
            <a:chExt cx="1743354" cy="1442022"/>
          </a:xfrm>
        </p:grpSpPr>
        <p:sp>
          <p:nvSpPr>
            <p:cNvPr id="17" name="Freeform 17" descr="A picture containing clipart, vector graphics  Description automatically generated"/>
            <p:cNvSpPr/>
            <p:nvPr/>
          </p:nvSpPr>
          <p:spPr>
            <a:xfrm>
              <a:off x="0" y="0"/>
              <a:ext cx="1743329" cy="1442085"/>
            </a:xfrm>
            <a:custGeom>
              <a:avLst/>
              <a:gdLst/>
              <a:ahLst/>
              <a:cxnLst/>
              <a:rect l="l" t="t" r="r" b="b"/>
              <a:pathLst>
                <a:path w="1743329" h="1442085">
                  <a:moveTo>
                    <a:pt x="0" y="0"/>
                  </a:moveTo>
                  <a:lnTo>
                    <a:pt x="1743329" y="0"/>
                  </a:lnTo>
                  <a:lnTo>
                    <a:pt x="1743329" y="1442085"/>
                  </a:lnTo>
                  <a:lnTo>
                    <a:pt x="0" y="1442085"/>
                  </a:lnTo>
                  <a:lnTo>
                    <a:pt x="0" y="0"/>
                  </a:lnTo>
                  <a:close/>
                </a:path>
              </a:pathLst>
            </a:custGeom>
            <a:blipFill>
              <a:blip r:embed="rId4"/>
              <a:stretch>
                <a:fillRect t="-74" r="-1" b="-71"/>
              </a:stretch>
            </a:blipFill>
          </p:spPr>
          <p:txBody>
            <a:bodyPr/>
            <a:lstStyle/>
            <a:p>
              <a:endParaRPr lang="vi-VN"/>
            </a:p>
          </p:txBody>
        </p:sp>
      </p:grpSp>
      <p:sp>
        <p:nvSpPr>
          <p:cNvPr id="18" name="Freeform 18"/>
          <p:cNvSpPr/>
          <p:nvPr/>
        </p:nvSpPr>
        <p:spPr>
          <a:xfrm>
            <a:off x="17262338" y="364607"/>
            <a:ext cx="819198" cy="819198"/>
          </a:xfrm>
          <a:custGeom>
            <a:avLst/>
            <a:gdLst/>
            <a:ahLst/>
            <a:cxnLst/>
            <a:rect l="l" t="t" r="r" b="b"/>
            <a:pathLst>
              <a:path w="819198" h="819198">
                <a:moveTo>
                  <a:pt x="0" y="0"/>
                </a:moveTo>
                <a:lnTo>
                  <a:pt x="819198" y="0"/>
                </a:lnTo>
                <a:lnTo>
                  <a:pt x="819198" y="819198"/>
                </a:lnTo>
                <a:lnTo>
                  <a:pt x="0" y="81919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vi-VN"/>
          </a:p>
        </p:txBody>
      </p:sp>
      <p:grpSp>
        <p:nvGrpSpPr>
          <p:cNvPr id="19" name="Group 19"/>
          <p:cNvGrpSpPr/>
          <p:nvPr/>
        </p:nvGrpSpPr>
        <p:grpSpPr>
          <a:xfrm>
            <a:off x="1705232" y="2175643"/>
            <a:ext cx="15315943" cy="6434480"/>
            <a:chOff x="0" y="0"/>
            <a:chExt cx="20421257" cy="8579307"/>
          </a:xfrm>
        </p:grpSpPr>
        <p:sp>
          <p:nvSpPr>
            <p:cNvPr id="20" name="Freeform 20"/>
            <p:cNvSpPr/>
            <p:nvPr/>
          </p:nvSpPr>
          <p:spPr>
            <a:xfrm>
              <a:off x="0" y="0"/>
              <a:ext cx="20421346" cy="8579358"/>
            </a:xfrm>
            <a:custGeom>
              <a:avLst/>
              <a:gdLst/>
              <a:ahLst/>
              <a:cxnLst/>
              <a:rect l="l" t="t" r="r" b="b"/>
              <a:pathLst>
                <a:path w="20421346" h="8579358">
                  <a:moveTo>
                    <a:pt x="0" y="231775"/>
                  </a:moveTo>
                  <a:cubicBezTo>
                    <a:pt x="0" y="103759"/>
                    <a:pt x="103759" y="0"/>
                    <a:pt x="231775" y="0"/>
                  </a:cubicBezTo>
                  <a:lnTo>
                    <a:pt x="20189571" y="0"/>
                  </a:lnTo>
                  <a:cubicBezTo>
                    <a:pt x="20317586" y="0"/>
                    <a:pt x="20421346" y="103759"/>
                    <a:pt x="20421346" y="231775"/>
                  </a:cubicBezTo>
                  <a:lnTo>
                    <a:pt x="20421346" y="8347583"/>
                  </a:lnTo>
                  <a:cubicBezTo>
                    <a:pt x="20421346" y="8475599"/>
                    <a:pt x="20317586" y="8579358"/>
                    <a:pt x="20189571" y="8579358"/>
                  </a:cubicBezTo>
                  <a:lnTo>
                    <a:pt x="231775" y="8579358"/>
                  </a:lnTo>
                  <a:cubicBezTo>
                    <a:pt x="103759" y="8579358"/>
                    <a:pt x="0" y="8475599"/>
                    <a:pt x="0" y="8347583"/>
                  </a:cubicBezTo>
                  <a:close/>
                </a:path>
              </a:pathLst>
            </a:custGeom>
            <a:blipFill>
              <a:blip r:embed="rId6"/>
              <a:stretch>
                <a:fillRect l="-189" r="-189"/>
              </a:stretch>
            </a:blipFill>
          </p:spPr>
          <p:txBody>
            <a:bodyPr/>
            <a:lstStyle/>
            <a:p>
              <a:endParaRPr lang="vi-VN"/>
            </a:p>
          </p:txBody>
        </p:sp>
      </p:grpSp>
      <p:grpSp>
        <p:nvGrpSpPr>
          <p:cNvPr id="21" name="Group 21"/>
          <p:cNvGrpSpPr/>
          <p:nvPr/>
        </p:nvGrpSpPr>
        <p:grpSpPr>
          <a:xfrm>
            <a:off x="1705232" y="2175643"/>
            <a:ext cx="15315943" cy="6434480"/>
            <a:chOff x="0" y="0"/>
            <a:chExt cx="20421257" cy="8579307"/>
          </a:xfrm>
        </p:grpSpPr>
        <p:sp>
          <p:nvSpPr>
            <p:cNvPr id="22" name="Freeform 22"/>
            <p:cNvSpPr/>
            <p:nvPr/>
          </p:nvSpPr>
          <p:spPr>
            <a:xfrm>
              <a:off x="0" y="0"/>
              <a:ext cx="20421346" cy="8579358"/>
            </a:xfrm>
            <a:custGeom>
              <a:avLst/>
              <a:gdLst/>
              <a:ahLst/>
              <a:cxnLst/>
              <a:rect l="l" t="t" r="r" b="b"/>
              <a:pathLst>
                <a:path w="20421346" h="8579358">
                  <a:moveTo>
                    <a:pt x="0" y="231775"/>
                  </a:moveTo>
                  <a:cubicBezTo>
                    <a:pt x="0" y="103759"/>
                    <a:pt x="103759" y="0"/>
                    <a:pt x="231775" y="0"/>
                  </a:cubicBezTo>
                  <a:lnTo>
                    <a:pt x="20189571" y="0"/>
                  </a:lnTo>
                  <a:cubicBezTo>
                    <a:pt x="20317586" y="0"/>
                    <a:pt x="20421346" y="103759"/>
                    <a:pt x="20421346" y="231775"/>
                  </a:cubicBezTo>
                  <a:lnTo>
                    <a:pt x="20421346" y="8347583"/>
                  </a:lnTo>
                  <a:cubicBezTo>
                    <a:pt x="20421346" y="8475599"/>
                    <a:pt x="20317586" y="8579358"/>
                    <a:pt x="20189571" y="8579358"/>
                  </a:cubicBezTo>
                  <a:lnTo>
                    <a:pt x="231775" y="8579358"/>
                  </a:lnTo>
                  <a:cubicBezTo>
                    <a:pt x="103759" y="8579358"/>
                    <a:pt x="0" y="8475599"/>
                    <a:pt x="0" y="8347583"/>
                  </a:cubicBezTo>
                  <a:close/>
                </a:path>
              </a:pathLst>
            </a:custGeom>
            <a:gradFill rotWithShape="1">
              <a:gsLst>
                <a:gs pos="0">
                  <a:srgbClr val="38EF7D">
                    <a:alpha val="40000"/>
                  </a:srgbClr>
                </a:gs>
                <a:gs pos="100000">
                  <a:srgbClr val="11998E">
                    <a:alpha val="40000"/>
                  </a:srgbClr>
                </a:gs>
              </a:gsLst>
              <a:lin ang="4032715"/>
            </a:gradFill>
          </p:spPr>
          <p:txBody>
            <a:bodyPr/>
            <a:lstStyle/>
            <a:p>
              <a:endParaRPr lang="vi-VN"/>
            </a:p>
          </p:txBody>
        </p:sp>
      </p:grpSp>
      <p:grpSp>
        <p:nvGrpSpPr>
          <p:cNvPr id="23" name="Group 23"/>
          <p:cNvGrpSpPr/>
          <p:nvPr/>
        </p:nvGrpSpPr>
        <p:grpSpPr>
          <a:xfrm>
            <a:off x="0" y="2124"/>
            <a:ext cx="18291715" cy="10295487"/>
            <a:chOff x="0" y="0"/>
            <a:chExt cx="24388953" cy="13727316"/>
          </a:xfrm>
        </p:grpSpPr>
        <p:sp>
          <p:nvSpPr>
            <p:cNvPr id="24" name="Freeform 24"/>
            <p:cNvSpPr/>
            <p:nvPr/>
          </p:nvSpPr>
          <p:spPr>
            <a:xfrm>
              <a:off x="0" y="0"/>
              <a:ext cx="24388953" cy="13727303"/>
            </a:xfrm>
            <a:custGeom>
              <a:avLst/>
              <a:gdLst/>
              <a:ahLst/>
              <a:cxnLst/>
              <a:rect l="l" t="t" r="r" b="b"/>
              <a:pathLst>
                <a:path w="24388953" h="1372730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txBody>
            <a:bodyPr/>
            <a:lstStyle/>
            <a:p>
              <a:endParaRPr lang="vi-VN"/>
            </a:p>
          </p:txBody>
        </p:sp>
      </p:grpSp>
      <p:grpSp>
        <p:nvGrpSpPr>
          <p:cNvPr id="25" name="Group 25"/>
          <p:cNvGrpSpPr/>
          <p:nvPr/>
        </p:nvGrpSpPr>
        <p:grpSpPr>
          <a:xfrm>
            <a:off x="10848975" y="9534525"/>
            <a:ext cx="6172200" cy="547688"/>
            <a:chOff x="0" y="0"/>
            <a:chExt cx="8229600" cy="730250"/>
          </a:xfrm>
        </p:grpSpPr>
        <p:sp>
          <p:nvSpPr>
            <p:cNvPr id="26" name="Freeform 26"/>
            <p:cNvSpPr/>
            <p:nvPr/>
          </p:nvSpPr>
          <p:spPr>
            <a:xfrm>
              <a:off x="0" y="0"/>
              <a:ext cx="8229600" cy="730250"/>
            </a:xfrm>
            <a:custGeom>
              <a:avLst/>
              <a:gdLst/>
              <a:ahLst/>
              <a:cxnLst/>
              <a:rect l="l" t="t" r="r" b="b"/>
              <a:pathLst>
                <a:path w="8229600" h="730250">
                  <a:moveTo>
                    <a:pt x="0" y="0"/>
                  </a:moveTo>
                  <a:lnTo>
                    <a:pt x="8229600" y="0"/>
                  </a:lnTo>
                  <a:lnTo>
                    <a:pt x="8229600" y="730250"/>
                  </a:lnTo>
                  <a:lnTo>
                    <a:pt x="0" y="730250"/>
                  </a:lnTo>
                  <a:close/>
                </a:path>
              </a:pathLst>
            </a:custGeom>
            <a:blipFill>
              <a:blip r:embed="rId7">
                <a:alphaModFix amt="0"/>
              </a:blip>
              <a:stretch>
                <a:fillRect t="-169587" b="-169587"/>
              </a:stretch>
            </a:blipFill>
          </p:spPr>
          <p:txBody>
            <a:bodyPr/>
            <a:lstStyle/>
            <a:p>
              <a:endParaRPr lang="vi-VN"/>
            </a:p>
          </p:txBody>
        </p:sp>
        <p:sp>
          <p:nvSpPr>
            <p:cNvPr id="27" name="TextBox 27"/>
            <p:cNvSpPr txBox="1"/>
            <p:nvPr/>
          </p:nvSpPr>
          <p:spPr>
            <a:xfrm>
              <a:off x="0" y="-19050"/>
              <a:ext cx="8229600" cy="749300"/>
            </a:xfrm>
            <a:prstGeom prst="rect">
              <a:avLst/>
            </a:prstGeom>
          </p:spPr>
          <p:txBody>
            <a:bodyPr lIns="0" tIns="0" rIns="0" bIns="0" rtlCol="0" anchor="ctr"/>
            <a:lstStyle/>
            <a:p>
              <a:pPr algn="ctr">
                <a:lnSpc>
                  <a:spcPts val="2160"/>
                </a:lnSpc>
              </a:pPr>
              <a:r>
                <a:rPr lang="en-US" sz="1800">
                  <a:solidFill>
                    <a:srgbClr val="898989"/>
                  </a:solidFill>
                  <a:latin typeface="Arial"/>
                  <a:ea typeface="Arial"/>
                  <a:cs typeface="Arial"/>
                  <a:sym typeface="Arial"/>
                </a:rPr>
                <a:t>Copyrights 2024 CE-UIT. All Rights Reserved.</a:t>
              </a:r>
            </a:p>
          </p:txBody>
        </p:sp>
      </p:grpSp>
      <p:grpSp>
        <p:nvGrpSpPr>
          <p:cNvPr id="28" name="Group 28"/>
          <p:cNvGrpSpPr/>
          <p:nvPr/>
        </p:nvGrpSpPr>
        <p:grpSpPr>
          <a:xfrm>
            <a:off x="15614542" y="498424"/>
            <a:ext cx="4114800" cy="547688"/>
            <a:chOff x="0" y="0"/>
            <a:chExt cx="5486400" cy="730250"/>
          </a:xfrm>
        </p:grpSpPr>
        <p:sp>
          <p:nvSpPr>
            <p:cNvPr id="29" name="Freeform 29"/>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blipFill>
              <a:blip r:embed="rId7">
                <a:alphaModFix amt="0"/>
              </a:blip>
              <a:stretch>
                <a:fillRect t="-96391" b="-96391"/>
              </a:stretch>
            </a:blipFill>
          </p:spPr>
          <p:txBody>
            <a:bodyPr/>
            <a:lstStyle/>
            <a:p>
              <a:endParaRPr lang="vi-VN"/>
            </a:p>
          </p:txBody>
        </p:sp>
        <p:sp>
          <p:nvSpPr>
            <p:cNvPr id="30" name="TextBox 30"/>
            <p:cNvSpPr txBox="1"/>
            <p:nvPr/>
          </p:nvSpPr>
          <p:spPr>
            <a:xfrm>
              <a:off x="0" y="-19050"/>
              <a:ext cx="5486400" cy="749300"/>
            </a:xfrm>
            <a:prstGeom prst="rect">
              <a:avLst/>
            </a:prstGeom>
          </p:spPr>
          <p:txBody>
            <a:bodyPr lIns="0" tIns="0" rIns="0" bIns="0" rtlCol="0" anchor="ctr"/>
            <a:lstStyle/>
            <a:p>
              <a:pPr algn="ctr">
                <a:lnSpc>
                  <a:spcPts val="2160"/>
                </a:lnSpc>
              </a:pPr>
              <a:r>
                <a:rPr lang="en-US" sz="1800">
                  <a:solidFill>
                    <a:srgbClr val="FFFFFF"/>
                  </a:solidFill>
                  <a:latin typeface="Arial"/>
                  <a:ea typeface="Arial"/>
                  <a:cs typeface="Arial"/>
                  <a:sym typeface="Arial"/>
                </a:rPr>
                <a:t>3</a:t>
              </a:r>
            </a:p>
          </p:txBody>
        </p:sp>
      </p:grpSp>
      <p:grpSp>
        <p:nvGrpSpPr>
          <p:cNvPr id="31" name="Group 31"/>
          <p:cNvGrpSpPr/>
          <p:nvPr/>
        </p:nvGrpSpPr>
        <p:grpSpPr>
          <a:xfrm>
            <a:off x="2480043" y="3638074"/>
            <a:ext cx="13766321" cy="2258930"/>
            <a:chOff x="0" y="0"/>
            <a:chExt cx="18355094" cy="3011907"/>
          </a:xfrm>
        </p:grpSpPr>
        <p:sp>
          <p:nvSpPr>
            <p:cNvPr id="32" name="Freeform 32"/>
            <p:cNvSpPr/>
            <p:nvPr/>
          </p:nvSpPr>
          <p:spPr>
            <a:xfrm>
              <a:off x="0" y="0"/>
              <a:ext cx="18355097" cy="3011906"/>
            </a:xfrm>
            <a:custGeom>
              <a:avLst/>
              <a:gdLst/>
              <a:ahLst/>
              <a:cxnLst/>
              <a:rect l="l" t="t" r="r" b="b"/>
              <a:pathLst>
                <a:path w="18355097" h="3011906">
                  <a:moveTo>
                    <a:pt x="0" y="0"/>
                  </a:moveTo>
                  <a:lnTo>
                    <a:pt x="18355097" y="0"/>
                  </a:lnTo>
                  <a:lnTo>
                    <a:pt x="18355097" y="3011906"/>
                  </a:lnTo>
                  <a:lnTo>
                    <a:pt x="0" y="3011906"/>
                  </a:lnTo>
                  <a:close/>
                </a:path>
              </a:pathLst>
            </a:custGeom>
            <a:blipFill>
              <a:blip r:embed="rId7">
                <a:alphaModFix amt="0"/>
              </a:blip>
              <a:stretch>
                <a:fillRect t="-68745" b="-68745"/>
              </a:stretch>
            </a:blipFill>
          </p:spPr>
          <p:txBody>
            <a:bodyPr/>
            <a:lstStyle/>
            <a:p>
              <a:endParaRPr lang="vi-VN"/>
            </a:p>
          </p:txBody>
        </p:sp>
        <p:sp>
          <p:nvSpPr>
            <p:cNvPr id="33" name="TextBox 33"/>
            <p:cNvSpPr txBox="1"/>
            <p:nvPr/>
          </p:nvSpPr>
          <p:spPr>
            <a:xfrm>
              <a:off x="0" y="38100"/>
              <a:ext cx="18355094" cy="2973807"/>
            </a:xfrm>
            <a:prstGeom prst="rect">
              <a:avLst/>
            </a:prstGeom>
          </p:spPr>
          <p:txBody>
            <a:bodyPr lIns="0" tIns="0" rIns="0" bIns="0" rtlCol="0" anchor="ctr"/>
            <a:lstStyle/>
            <a:p>
              <a:pPr algn="l">
                <a:lnSpc>
                  <a:spcPts val="7873"/>
                </a:lnSpc>
              </a:pPr>
              <a:r>
                <a:rPr lang="en-US" sz="7290" b="1" dirty="0">
                  <a:solidFill>
                    <a:srgbClr val="FFFFFF"/>
                  </a:solidFill>
                  <a:latin typeface="Times New Roman Bold"/>
                  <a:ea typeface="Times New Roman Bold"/>
                  <a:cs typeface="Times New Roman Bold"/>
                  <a:sym typeface="Times New Roman Bold"/>
                </a:rPr>
                <a:t>TỔNG QUAN</a:t>
              </a:r>
            </a:p>
            <a:p>
              <a:pPr algn="l">
                <a:lnSpc>
                  <a:spcPts val="7873"/>
                </a:lnSpc>
              </a:pPr>
              <a:r>
                <a:rPr lang="en-US" sz="7290" b="1" dirty="0">
                  <a:solidFill>
                    <a:srgbClr val="FFFFFF"/>
                  </a:solidFill>
                  <a:latin typeface="Times New Roman Bold"/>
                  <a:ea typeface="Times New Roman Bold"/>
                  <a:cs typeface="Times New Roman Bold"/>
                  <a:sym typeface="Times New Roman Bold"/>
                </a:rPr>
                <a:t>ĐỀ TÀI NGHIÊN CỨU:</a:t>
              </a:r>
            </a:p>
            <a:p>
              <a:pPr algn="l">
                <a:lnSpc>
                  <a:spcPts val="7873"/>
                </a:lnSpc>
              </a:pPr>
              <a:endParaRPr lang="en-US" sz="7290" b="1" dirty="0">
                <a:solidFill>
                  <a:srgbClr val="FFFFFF"/>
                </a:solidFill>
                <a:latin typeface="Times New Roman Bold"/>
                <a:ea typeface="Times New Roman Bold"/>
                <a:cs typeface="Times New Roman Bold"/>
                <a:sym typeface="Times New Roman Bold"/>
              </a:endParaRPr>
            </a:p>
          </p:txBody>
        </p:sp>
      </p:grpSp>
      <p:sp>
        <p:nvSpPr>
          <p:cNvPr id="34" name="TextBox 34"/>
          <p:cNvSpPr txBox="1"/>
          <p:nvPr/>
        </p:nvSpPr>
        <p:spPr>
          <a:xfrm>
            <a:off x="2571483" y="1020985"/>
            <a:ext cx="2896076" cy="2454116"/>
          </a:xfrm>
          <a:prstGeom prst="rect">
            <a:avLst/>
          </a:prstGeom>
        </p:spPr>
        <p:txBody>
          <a:bodyPr lIns="0" tIns="0" rIns="0" bIns="0" rtlCol="0" anchor="t">
            <a:spAutoFit/>
          </a:bodyPr>
          <a:lstStyle/>
          <a:p>
            <a:pPr algn="l">
              <a:lnSpc>
                <a:spcPts val="18630"/>
              </a:lnSpc>
            </a:pPr>
            <a:r>
              <a:rPr lang="en-US" sz="17250" b="1">
                <a:solidFill>
                  <a:srgbClr val="FFFFFF">
                    <a:alpha val="65098"/>
                  </a:srgbClr>
                </a:solidFill>
                <a:latin typeface="Arial Bold"/>
                <a:ea typeface="Arial Bold"/>
                <a:cs typeface="Arial Bold"/>
                <a:sym typeface="Arial Bold"/>
              </a:rPr>
              <a:t>01</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91440" y="-2287991"/>
            <a:ext cx="18105120" cy="527771"/>
          </a:xfrm>
          <a:prstGeom prst="rect">
            <a:avLst/>
          </a:prstGeom>
        </p:spPr>
        <p:txBody>
          <a:bodyPr lIns="0" tIns="0" rIns="0" bIns="0" rtlCol="0" anchor="t">
            <a:spAutoFit/>
          </a:bodyPr>
          <a:lstStyle/>
          <a:p>
            <a:pPr algn="ctr">
              <a:lnSpc>
                <a:spcPts val="3600"/>
              </a:lnSpc>
            </a:pPr>
            <a:r>
              <a:rPr lang="en-US" sz="3000">
                <a:solidFill>
                  <a:srgbClr val="C3C3C3"/>
                </a:solidFill>
                <a:latin typeface="Arial"/>
                <a:ea typeface="Arial"/>
                <a:cs typeface="Arial"/>
                <a:sym typeface="Arial"/>
              </a:rPr>
              <a:t>www.9slide.vn</a:t>
            </a:r>
          </a:p>
        </p:txBody>
      </p:sp>
      <p:grpSp>
        <p:nvGrpSpPr>
          <p:cNvPr id="3" name="Group 3"/>
          <p:cNvGrpSpPr/>
          <p:nvPr/>
        </p:nvGrpSpPr>
        <p:grpSpPr>
          <a:xfrm>
            <a:off x="0" y="2124"/>
            <a:ext cx="18291715" cy="10295487"/>
            <a:chOff x="0" y="0"/>
            <a:chExt cx="24388953" cy="13727316"/>
          </a:xfrm>
        </p:grpSpPr>
        <p:sp>
          <p:nvSpPr>
            <p:cNvPr id="4" name="Freeform 4"/>
            <p:cNvSpPr/>
            <p:nvPr/>
          </p:nvSpPr>
          <p:spPr>
            <a:xfrm>
              <a:off x="0" y="0"/>
              <a:ext cx="24388953" cy="13727303"/>
            </a:xfrm>
            <a:custGeom>
              <a:avLst/>
              <a:gdLst/>
              <a:ahLst/>
              <a:cxnLst/>
              <a:rect l="l" t="t" r="r" b="b"/>
              <a:pathLst>
                <a:path w="24388953" h="1372730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txBody>
            <a:bodyPr/>
            <a:lstStyle/>
            <a:p>
              <a:endParaRPr lang="vi-VN"/>
            </a:p>
          </p:txBody>
        </p:sp>
      </p:grpSp>
      <p:grpSp>
        <p:nvGrpSpPr>
          <p:cNvPr id="5" name="Group 5"/>
          <p:cNvGrpSpPr/>
          <p:nvPr/>
        </p:nvGrpSpPr>
        <p:grpSpPr>
          <a:xfrm rot="5400000">
            <a:off x="8668474" y="-8670065"/>
            <a:ext cx="947328" cy="18291715"/>
            <a:chOff x="0" y="0"/>
            <a:chExt cx="1263104" cy="24388953"/>
          </a:xfrm>
        </p:grpSpPr>
        <p:sp>
          <p:nvSpPr>
            <p:cNvPr id="6" name="Freeform 6"/>
            <p:cNvSpPr/>
            <p:nvPr/>
          </p:nvSpPr>
          <p:spPr>
            <a:xfrm>
              <a:off x="0" y="0"/>
              <a:ext cx="1263142" cy="24388953"/>
            </a:xfrm>
            <a:custGeom>
              <a:avLst/>
              <a:gdLst/>
              <a:ahLst/>
              <a:cxnLst/>
              <a:rect l="l" t="t" r="r" b="b"/>
              <a:pathLst>
                <a:path w="1263142" h="24388953">
                  <a:moveTo>
                    <a:pt x="0" y="0"/>
                  </a:moveTo>
                  <a:lnTo>
                    <a:pt x="1263142" y="0"/>
                  </a:lnTo>
                  <a:lnTo>
                    <a:pt x="1263142" y="24388953"/>
                  </a:lnTo>
                  <a:lnTo>
                    <a:pt x="0" y="24388953"/>
                  </a:lnTo>
                  <a:close/>
                </a:path>
              </a:pathLst>
            </a:custGeom>
            <a:gradFill rotWithShape="1">
              <a:gsLst>
                <a:gs pos="0">
                  <a:srgbClr val="10CD57">
                    <a:alpha val="100000"/>
                  </a:srgbClr>
                </a:gs>
                <a:gs pos="100000">
                  <a:srgbClr val="027159">
                    <a:alpha val="100000"/>
                  </a:srgbClr>
                </a:gs>
              </a:gsLst>
              <a:lin ang="0"/>
            </a:gradFill>
          </p:spPr>
          <p:txBody>
            <a:bodyPr/>
            <a:lstStyle/>
            <a:p>
              <a:endParaRPr lang="vi-VN"/>
            </a:p>
          </p:txBody>
        </p:sp>
      </p:grpSp>
      <p:grpSp>
        <p:nvGrpSpPr>
          <p:cNvPr id="7" name="Group 7"/>
          <p:cNvGrpSpPr/>
          <p:nvPr/>
        </p:nvGrpSpPr>
        <p:grpSpPr>
          <a:xfrm rot="5400000">
            <a:off x="8670331" y="-8672198"/>
            <a:ext cx="947328" cy="18291715"/>
            <a:chOff x="0" y="0"/>
            <a:chExt cx="1263104" cy="24388953"/>
          </a:xfrm>
        </p:grpSpPr>
        <p:sp>
          <p:nvSpPr>
            <p:cNvPr id="8" name="Freeform 8"/>
            <p:cNvSpPr/>
            <p:nvPr/>
          </p:nvSpPr>
          <p:spPr>
            <a:xfrm flipV="1">
              <a:off x="0" y="0"/>
              <a:ext cx="1263142" cy="24388953"/>
            </a:xfrm>
            <a:custGeom>
              <a:avLst/>
              <a:gdLst/>
              <a:ahLst/>
              <a:cxnLst/>
              <a:rect l="l" t="t" r="r" b="b"/>
              <a:pathLst>
                <a:path w="1263142" h="24388953">
                  <a:moveTo>
                    <a:pt x="0" y="0"/>
                  </a:moveTo>
                  <a:lnTo>
                    <a:pt x="1263142" y="0"/>
                  </a:lnTo>
                  <a:lnTo>
                    <a:pt x="1263142" y="24388953"/>
                  </a:lnTo>
                  <a:lnTo>
                    <a:pt x="0" y="24388953"/>
                  </a:lnTo>
                  <a:close/>
                </a:path>
              </a:pathLst>
            </a:custGeom>
            <a:blipFill>
              <a:blip r:embed="rId2"/>
              <a:stretch>
                <a:fillRect l="-35093" r="-35090"/>
              </a:stretch>
            </a:blipFill>
          </p:spPr>
          <p:txBody>
            <a:bodyPr/>
            <a:lstStyle/>
            <a:p>
              <a:endParaRPr lang="vi-VN"/>
            </a:p>
          </p:txBody>
        </p:sp>
      </p:grpSp>
      <p:sp>
        <p:nvSpPr>
          <p:cNvPr id="9" name="TextBox 9"/>
          <p:cNvSpPr txBox="1"/>
          <p:nvPr/>
        </p:nvSpPr>
        <p:spPr>
          <a:xfrm>
            <a:off x="451866" y="248326"/>
            <a:ext cx="10947559" cy="424158"/>
          </a:xfrm>
          <a:prstGeom prst="rect">
            <a:avLst/>
          </a:prstGeom>
        </p:spPr>
        <p:txBody>
          <a:bodyPr lIns="0" tIns="0" rIns="0" bIns="0" rtlCol="0" anchor="t">
            <a:spAutoFit/>
          </a:bodyPr>
          <a:lstStyle/>
          <a:p>
            <a:pPr algn="l">
              <a:lnSpc>
                <a:spcPts val="2879"/>
              </a:lnSpc>
            </a:pPr>
            <a:r>
              <a:rPr lang="en-US" sz="2400" b="1">
                <a:solidFill>
                  <a:srgbClr val="FFFFFF"/>
                </a:solidFill>
                <a:latin typeface="Arial Bold"/>
                <a:ea typeface="Arial Bold"/>
                <a:cs typeface="Arial Bold"/>
                <a:sym typeface="Arial Bold"/>
              </a:rPr>
              <a:t>FACULTY OF COMPUTER ENGINEERING</a:t>
            </a:r>
          </a:p>
        </p:txBody>
      </p:sp>
      <p:grpSp>
        <p:nvGrpSpPr>
          <p:cNvPr id="10" name="Group 10"/>
          <p:cNvGrpSpPr/>
          <p:nvPr/>
        </p:nvGrpSpPr>
        <p:grpSpPr>
          <a:xfrm>
            <a:off x="6719973" y="457933"/>
            <a:ext cx="4848044" cy="957948"/>
            <a:chOff x="0" y="0"/>
            <a:chExt cx="6464059" cy="1277264"/>
          </a:xfrm>
        </p:grpSpPr>
        <p:sp>
          <p:nvSpPr>
            <p:cNvPr id="11" name="Freeform 11"/>
            <p:cNvSpPr/>
            <p:nvPr/>
          </p:nvSpPr>
          <p:spPr>
            <a:xfrm>
              <a:off x="0" y="0"/>
              <a:ext cx="6464173" cy="1277366"/>
            </a:xfrm>
            <a:custGeom>
              <a:avLst/>
              <a:gdLst/>
              <a:ahLst/>
              <a:cxnLst/>
              <a:rect l="l" t="t" r="r" b="b"/>
              <a:pathLst>
                <a:path w="6464173" h="1277366">
                  <a:moveTo>
                    <a:pt x="0" y="638683"/>
                  </a:moveTo>
                  <a:cubicBezTo>
                    <a:pt x="0" y="285877"/>
                    <a:pt x="285877" y="0"/>
                    <a:pt x="638683" y="0"/>
                  </a:cubicBezTo>
                  <a:lnTo>
                    <a:pt x="5825490" y="0"/>
                  </a:lnTo>
                  <a:cubicBezTo>
                    <a:pt x="6178169" y="0"/>
                    <a:pt x="6464173" y="285877"/>
                    <a:pt x="6464173" y="638683"/>
                  </a:cubicBezTo>
                  <a:cubicBezTo>
                    <a:pt x="6464173" y="991489"/>
                    <a:pt x="6178296" y="1277366"/>
                    <a:pt x="5825490" y="1277366"/>
                  </a:cubicBezTo>
                  <a:lnTo>
                    <a:pt x="638683" y="1277366"/>
                  </a:lnTo>
                  <a:cubicBezTo>
                    <a:pt x="285877" y="1277239"/>
                    <a:pt x="0" y="991362"/>
                    <a:pt x="0" y="638683"/>
                  </a:cubicBezTo>
                  <a:close/>
                </a:path>
              </a:pathLst>
            </a:custGeom>
            <a:gradFill rotWithShape="1">
              <a:gsLst>
                <a:gs pos="0">
                  <a:srgbClr val="38EF7D">
                    <a:alpha val="100000"/>
                  </a:srgbClr>
                </a:gs>
                <a:gs pos="100000">
                  <a:srgbClr val="752AFF">
                    <a:alpha val="100000"/>
                  </a:srgbClr>
                </a:gs>
              </a:gsLst>
              <a:lin ang="4729360"/>
            </a:gradFill>
          </p:spPr>
          <p:txBody>
            <a:bodyPr/>
            <a:lstStyle/>
            <a:p>
              <a:endParaRPr lang="vi-VN"/>
            </a:p>
          </p:txBody>
        </p:sp>
      </p:grpSp>
      <p:grpSp>
        <p:nvGrpSpPr>
          <p:cNvPr id="12" name="Group 12"/>
          <p:cNvGrpSpPr/>
          <p:nvPr/>
        </p:nvGrpSpPr>
        <p:grpSpPr>
          <a:xfrm>
            <a:off x="6807460" y="535962"/>
            <a:ext cx="4673079" cy="801872"/>
            <a:chOff x="0" y="0"/>
            <a:chExt cx="6230772" cy="1069162"/>
          </a:xfrm>
        </p:grpSpPr>
        <p:sp>
          <p:nvSpPr>
            <p:cNvPr id="13" name="Freeform 13"/>
            <p:cNvSpPr/>
            <p:nvPr/>
          </p:nvSpPr>
          <p:spPr>
            <a:xfrm>
              <a:off x="0" y="0"/>
              <a:ext cx="6230747" cy="1069086"/>
            </a:xfrm>
            <a:custGeom>
              <a:avLst/>
              <a:gdLst/>
              <a:ahLst/>
              <a:cxnLst/>
              <a:rect l="l" t="t" r="r" b="b"/>
              <a:pathLst>
                <a:path w="6230747" h="1069086">
                  <a:moveTo>
                    <a:pt x="0" y="534543"/>
                  </a:moveTo>
                  <a:cubicBezTo>
                    <a:pt x="0" y="239395"/>
                    <a:pt x="239395" y="0"/>
                    <a:pt x="534543" y="0"/>
                  </a:cubicBezTo>
                  <a:lnTo>
                    <a:pt x="5696204" y="0"/>
                  </a:lnTo>
                  <a:cubicBezTo>
                    <a:pt x="5991479" y="0"/>
                    <a:pt x="6230747" y="239395"/>
                    <a:pt x="6230747" y="534543"/>
                  </a:cubicBezTo>
                  <a:cubicBezTo>
                    <a:pt x="6230747" y="829691"/>
                    <a:pt x="5991352" y="1069086"/>
                    <a:pt x="5696204" y="1069086"/>
                  </a:cubicBezTo>
                  <a:lnTo>
                    <a:pt x="534543" y="1069086"/>
                  </a:lnTo>
                  <a:cubicBezTo>
                    <a:pt x="239395" y="1069213"/>
                    <a:pt x="0" y="829818"/>
                    <a:pt x="0" y="534543"/>
                  </a:cubicBezTo>
                  <a:close/>
                </a:path>
              </a:pathLst>
            </a:custGeom>
            <a:solidFill>
              <a:srgbClr val="FFFFFF"/>
            </a:solidFill>
          </p:spPr>
          <p:txBody>
            <a:bodyPr/>
            <a:lstStyle/>
            <a:p>
              <a:endParaRPr lang="vi-VN"/>
            </a:p>
          </p:txBody>
        </p:sp>
      </p:grpSp>
      <p:grpSp>
        <p:nvGrpSpPr>
          <p:cNvPr id="14" name="Group 14"/>
          <p:cNvGrpSpPr/>
          <p:nvPr/>
        </p:nvGrpSpPr>
        <p:grpSpPr>
          <a:xfrm>
            <a:off x="9436446" y="362541"/>
            <a:ext cx="1163307" cy="1152592"/>
            <a:chOff x="0" y="0"/>
            <a:chExt cx="1551076" cy="1536789"/>
          </a:xfrm>
        </p:grpSpPr>
        <p:sp>
          <p:nvSpPr>
            <p:cNvPr id="15" name="Freeform 15" descr="Icon  Description automatically generated with medium confidence"/>
            <p:cNvSpPr/>
            <p:nvPr/>
          </p:nvSpPr>
          <p:spPr>
            <a:xfrm>
              <a:off x="0" y="0"/>
              <a:ext cx="1551051" cy="1536827"/>
            </a:xfrm>
            <a:custGeom>
              <a:avLst/>
              <a:gdLst/>
              <a:ahLst/>
              <a:cxnLst/>
              <a:rect l="l" t="t" r="r" b="b"/>
              <a:pathLst>
                <a:path w="1551051" h="1536827">
                  <a:moveTo>
                    <a:pt x="0" y="0"/>
                  </a:moveTo>
                  <a:lnTo>
                    <a:pt x="1551051" y="0"/>
                  </a:lnTo>
                  <a:lnTo>
                    <a:pt x="1551051" y="1536827"/>
                  </a:lnTo>
                  <a:lnTo>
                    <a:pt x="0" y="1536827"/>
                  </a:lnTo>
                  <a:lnTo>
                    <a:pt x="0" y="0"/>
                  </a:lnTo>
                  <a:close/>
                </a:path>
              </a:pathLst>
            </a:custGeom>
            <a:blipFill>
              <a:blip r:embed="rId3"/>
              <a:stretch>
                <a:fillRect l="-75" r="-76" b="2"/>
              </a:stretch>
            </a:blipFill>
          </p:spPr>
          <p:txBody>
            <a:bodyPr/>
            <a:lstStyle/>
            <a:p>
              <a:endParaRPr lang="vi-VN"/>
            </a:p>
          </p:txBody>
        </p:sp>
      </p:grpSp>
      <p:grpSp>
        <p:nvGrpSpPr>
          <p:cNvPr id="16" name="Group 16"/>
          <p:cNvGrpSpPr/>
          <p:nvPr/>
        </p:nvGrpSpPr>
        <p:grpSpPr>
          <a:xfrm>
            <a:off x="7688247" y="398078"/>
            <a:ext cx="1307516" cy="1081516"/>
            <a:chOff x="0" y="0"/>
            <a:chExt cx="1743354" cy="1442022"/>
          </a:xfrm>
        </p:grpSpPr>
        <p:sp>
          <p:nvSpPr>
            <p:cNvPr id="17" name="Freeform 17" descr="A picture containing clipart, vector graphics  Description automatically generated"/>
            <p:cNvSpPr/>
            <p:nvPr/>
          </p:nvSpPr>
          <p:spPr>
            <a:xfrm>
              <a:off x="0" y="0"/>
              <a:ext cx="1743329" cy="1442085"/>
            </a:xfrm>
            <a:custGeom>
              <a:avLst/>
              <a:gdLst/>
              <a:ahLst/>
              <a:cxnLst/>
              <a:rect l="l" t="t" r="r" b="b"/>
              <a:pathLst>
                <a:path w="1743329" h="1442085">
                  <a:moveTo>
                    <a:pt x="0" y="0"/>
                  </a:moveTo>
                  <a:lnTo>
                    <a:pt x="1743329" y="0"/>
                  </a:lnTo>
                  <a:lnTo>
                    <a:pt x="1743329" y="1442085"/>
                  </a:lnTo>
                  <a:lnTo>
                    <a:pt x="0" y="1442085"/>
                  </a:lnTo>
                  <a:lnTo>
                    <a:pt x="0" y="0"/>
                  </a:lnTo>
                  <a:close/>
                </a:path>
              </a:pathLst>
            </a:custGeom>
            <a:blipFill>
              <a:blip r:embed="rId4"/>
              <a:stretch>
                <a:fillRect t="-74" r="-1" b="-71"/>
              </a:stretch>
            </a:blipFill>
          </p:spPr>
          <p:txBody>
            <a:bodyPr/>
            <a:lstStyle/>
            <a:p>
              <a:endParaRPr lang="vi-VN"/>
            </a:p>
          </p:txBody>
        </p:sp>
      </p:grpSp>
      <p:sp>
        <p:nvSpPr>
          <p:cNvPr id="18" name="Freeform 18"/>
          <p:cNvSpPr/>
          <p:nvPr/>
        </p:nvSpPr>
        <p:spPr>
          <a:xfrm>
            <a:off x="17262338" y="9405385"/>
            <a:ext cx="819198" cy="819198"/>
          </a:xfrm>
          <a:custGeom>
            <a:avLst/>
            <a:gdLst/>
            <a:ahLst/>
            <a:cxnLst/>
            <a:rect l="l" t="t" r="r" b="b"/>
            <a:pathLst>
              <a:path w="819198" h="819198">
                <a:moveTo>
                  <a:pt x="0" y="0"/>
                </a:moveTo>
                <a:lnTo>
                  <a:pt x="819198" y="0"/>
                </a:lnTo>
                <a:lnTo>
                  <a:pt x="819198" y="819198"/>
                </a:lnTo>
                <a:lnTo>
                  <a:pt x="0" y="81919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vi-VN"/>
          </a:p>
        </p:txBody>
      </p:sp>
      <p:grpSp>
        <p:nvGrpSpPr>
          <p:cNvPr id="19" name="Group 19"/>
          <p:cNvGrpSpPr/>
          <p:nvPr/>
        </p:nvGrpSpPr>
        <p:grpSpPr>
          <a:xfrm>
            <a:off x="0" y="2124"/>
            <a:ext cx="18291715" cy="10295487"/>
            <a:chOff x="0" y="0"/>
            <a:chExt cx="24388953" cy="13727316"/>
          </a:xfrm>
        </p:grpSpPr>
        <p:sp>
          <p:nvSpPr>
            <p:cNvPr id="20" name="Freeform 20"/>
            <p:cNvSpPr/>
            <p:nvPr/>
          </p:nvSpPr>
          <p:spPr>
            <a:xfrm>
              <a:off x="0" y="0"/>
              <a:ext cx="24388953" cy="13727303"/>
            </a:xfrm>
            <a:custGeom>
              <a:avLst/>
              <a:gdLst/>
              <a:ahLst/>
              <a:cxnLst/>
              <a:rect l="l" t="t" r="r" b="b"/>
              <a:pathLst>
                <a:path w="24388953" h="1372730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txBody>
            <a:bodyPr/>
            <a:lstStyle/>
            <a:p>
              <a:endParaRPr lang="vi-VN"/>
            </a:p>
          </p:txBody>
        </p:sp>
      </p:grpSp>
      <p:grpSp>
        <p:nvGrpSpPr>
          <p:cNvPr id="21" name="Group 21"/>
          <p:cNvGrpSpPr/>
          <p:nvPr/>
        </p:nvGrpSpPr>
        <p:grpSpPr>
          <a:xfrm>
            <a:off x="907137" y="1815676"/>
            <a:ext cx="16470001" cy="1483290"/>
            <a:chOff x="0" y="0"/>
            <a:chExt cx="21960002" cy="1977719"/>
          </a:xfrm>
        </p:grpSpPr>
        <p:sp>
          <p:nvSpPr>
            <p:cNvPr id="22" name="Freeform 22"/>
            <p:cNvSpPr/>
            <p:nvPr/>
          </p:nvSpPr>
          <p:spPr>
            <a:xfrm>
              <a:off x="0" y="0"/>
              <a:ext cx="21960001" cy="1781326"/>
            </a:xfrm>
            <a:custGeom>
              <a:avLst/>
              <a:gdLst/>
              <a:ahLst/>
              <a:cxnLst/>
              <a:rect l="l" t="t" r="r" b="b"/>
              <a:pathLst>
                <a:path w="21960001" h="1781326">
                  <a:moveTo>
                    <a:pt x="0" y="0"/>
                  </a:moveTo>
                  <a:lnTo>
                    <a:pt x="21960001" y="0"/>
                  </a:lnTo>
                  <a:lnTo>
                    <a:pt x="21960001" y="1781326"/>
                  </a:lnTo>
                  <a:lnTo>
                    <a:pt x="0" y="1781326"/>
                  </a:lnTo>
                  <a:close/>
                </a:path>
              </a:pathLst>
            </a:custGeom>
            <a:blipFill>
              <a:blip r:embed="rId6">
                <a:alphaModFix amt="0"/>
              </a:blip>
              <a:stretch>
                <a:fillRect t="-190209" b="-190209"/>
              </a:stretch>
            </a:blipFill>
          </p:spPr>
          <p:txBody>
            <a:bodyPr/>
            <a:lstStyle/>
            <a:p>
              <a:endParaRPr lang="vi-VN"/>
            </a:p>
          </p:txBody>
        </p:sp>
        <p:sp>
          <p:nvSpPr>
            <p:cNvPr id="23" name="TextBox 23"/>
            <p:cNvSpPr txBox="1"/>
            <p:nvPr/>
          </p:nvSpPr>
          <p:spPr>
            <a:xfrm>
              <a:off x="0" y="234492"/>
              <a:ext cx="21960002" cy="1743227"/>
            </a:xfrm>
            <a:prstGeom prst="rect">
              <a:avLst/>
            </a:prstGeom>
          </p:spPr>
          <p:txBody>
            <a:bodyPr lIns="0" tIns="0" rIns="0" bIns="0" rtlCol="0" anchor="ctr"/>
            <a:lstStyle/>
            <a:p>
              <a:pPr>
                <a:lnSpc>
                  <a:spcPts val="6480"/>
                </a:lnSpc>
              </a:pPr>
              <a:r>
                <a:rPr lang="en-US" sz="6000" b="1" dirty="0" err="1">
                  <a:gradFill>
                    <a:gsLst>
                      <a:gs pos="0">
                        <a:srgbClr val="027159">
                          <a:alpha val="100000"/>
                        </a:srgbClr>
                      </a:gs>
                      <a:gs pos="100000">
                        <a:srgbClr val="10CD57">
                          <a:alpha val="100000"/>
                        </a:srgbClr>
                      </a:gs>
                    </a:gsLst>
                    <a:lin ang="16200000"/>
                  </a:gradFill>
                  <a:latin typeface="Times New Roman Bold"/>
                  <a:ea typeface="Times New Roman Bold"/>
                  <a:cs typeface="Times New Roman Bold"/>
                  <a:sym typeface="Times New Roman Bold"/>
                </a:rPr>
                <a:t>Vấn</a:t>
              </a:r>
              <a:r>
                <a:rPr lang="en-US" sz="6000" b="1" dirty="0">
                  <a:gradFill>
                    <a:gsLst>
                      <a:gs pos="0">
                        <a:srgbClr val="027159">
                          <a:alpha val="100000"/>
                        </a:srgbClr>
                      </a:gs>
                      <a:gs pos="100000">
                        <a:srgbClr val="10CD57">
                          <a:alpha val="100000"/>
                        </a:srgbClr>
                      </a:gs>
                    </a:gsLst>
                    <a:lin ang="16200000"/>
                  </a:gradFill>
                  <a:latin typeface="Times New Roman Bold"/>
                  <a:ea typeface="Times New Roman Bold"/>
                  <a:cs typeface="Times New Roman Bold"/>
                  <a:sym typeface="Times New Roman Bold"/>
                </a:rPr>
                <a:t> </a:t>
              </a:r>
              <a:r>
                <a:rPr lang="en-US" sz="6000" b="1" dirty="0" err="1">
                  <a:gradFill>
                    <a:gsLst>
                      <a:gs pos="0">
                        <a:srgbClr val="027159">
                          <a:alpha val="100000"/>
                        </a:srgbClr>
                      </a:gs>
                      <a:gs pos="100000">
                        <a:srgbClr val="10CD57">
                          <a:alpha val="100000"/>
                        </a:srgbClr>
                      </a:gs>
                    </a:gsLst>
                    <a:lin ang="16200000"/>
                  </a:gradFill>
                  <a:latin typeface="Times New Roman Bold"/>
                  <a:ea typeface="Times New Roman Bold"/>
                  <a:cs typeface="Times New Roman Bold"/>
                  <a:sym typeface="Times New Roman Bold"/>
                </a:rPr>
                <a:t>đề</a:t>
              </a:r>
              <a:r>
                <a:rPr lang="en-US" sz="6000" b="1" dirty="0">
                  <a:gradFill>
                    <a:gsLst>
                      <a:gs pos="0">
                        <a:srgbClr val="027159">
                          <a:alpha val="100000"/>
                        </a:srgbClr>
                      </a:gs>
                      <a:gs pos="100000">
                        <a:srgbClr val="10CD57">
                          <a:alpha val="100000"/>
                        </a:srgbClr>
                      </a:gs>
                    </a:gsLst>
                    <a:lin ang="16200000"/>
                  </a:gradFill>
                  <a:latin typeface="Times New Roman Bold"/>
                  <a:ea typeface="Times New Roman Bold"/>
                  <a:cs typeface="Times New Roman Bold"/>
                  <a:sym typeface="Times New Roman Bold"/>
                </a:rPr>
                <a:t> </a:t>
              </a:r>
              <a:r>
                <a:rPr lang="en-US" sz="6000" b="1" dirty="0" err="1">
                  <a:gradFill>
                    <a:gsLst>
                      <a:gs pos="0">
                        <a:srgbClr val="027159">
                          <a:alpha val="100000"/>
                        </a:srgbClr>
                      </a:gs>
                      <a:gs pos="100000">
                        <a:srgbClr val="10CD57">
                          <a:alpha val="100000"/>
                        </a:srgbClr>
                      </a:gs>
                    </a:gsLst>
                    <a:lin ang="16200000"/>
                  </a:gradFill>
                  <a:latin typeface="Times New Roman Bold"/>
                  <a:ea typeface="Times New Roman Bold"/>
                  <a:cs typeface="Times New Roman Bold"/>
                  <a:sym typeface="Times New Roman Bold"/>
                </a:rPr>
                <a:t>đặt</a:t>
              </a:r>
              <a:r>
                <a:rPr lang="en-US" sz="6000" b="1" dirty="0">
                  <a:gradFill>
                    <a:gsLst>
                      <a:gs pos="0">
                        <a:srgbClr val="027159">
                          <a:alpha val="100000"/>
                        </a:srgbClr>
                      </a:gs>
                      <a:gs pos="100000">
                        <a:srgbClr val="10CD57">
                          <a:alpha val="100000"/>
                        </a:srgbClr>
                      </a:gs>
                    </a:gsLst>
                    <a:lin ang="16200000"/>
                  </a:gradFill>
                  <a:latin typeface="Times New Roman Bold"/>
                  <a:ea typeface="Times New Roman Bold"/>
                  <a:cs typeface="Times New Roman Bold"/>
                  <a:sym typeface="Times New Roman Bold"/>
                </a:rPr>
                <a:t> </a:t>
              </a:r>
              <a:r>
                <a:rPr lang="en-US" sz="6000" b="1" dirty="0" err="1">
                  <a:gradFill>
                    <a:gsLst>
                      <a:gs pos="0">
                        <a:srgbClr val="027159">
                          <a:alpha val="100000"/>
                        </a:srgbClr>
                      </a:gs>
                      <a:gs pos="100000">
                        <a:srgbClr val="10CD57">
                          <a:alpha val="100000"/>
                        </a:srgbClr>
                      </a:gs>
                    </a:gsLst>
                    <a:lin ang="16200000"/>
                  </a:gradFill>
                  <a:latin typeface="Times New Roman Bold"/>
                  <a:ea typeface="Times New Roman Bold"/>
                  <a:cs typeface="Times New Roman Bold"/>
                  <a:sym typeface="Times New Roman Bold"/>
                </a:rPr>
                <a:t>ra</a:t>
              </a:r>
              <a:r>
                <a:rPr lang="en-US" sz="6000" b="1" dirty="0">
                  <a:gradFill>
                    <a:gsLst>
                      <a:gs pos="0">
                        <a:srgbClr val="027159">
                          <a:alpha val="100000"/>
                        </a:srgbClr>
                      </a:gs>
                      <a:gs pos="100000">
                        <a:srgbClr val="10CD57">
                          <a:alpha val="100000"/>
                        </a:srgbClr>
                      </a:gs>
                    </a:gsLst>
                    <a:lin ang="16200000"/>
                  </a:gradFill>
                  <a:latin typeface="Times New Roman Bold"/>
                  <a:ea typeface="Times New Roman Bold"/>
                  <a:cs typeface="Times New Roman Bold"/>
                  <a:sym typeface="Times New Roman Bold"/>
                </a:rPr>
                <a:t> &amp; </a:t>
              </a:r>
              <a:r>
                <a:rPr lang="en-US" sz="6000" b="1" dirty="0" err="1">
                  <a:gradFill>
                    <a:gsLst>
                      <a:gs pos="0">
                        <a:srgbClr val="027159">
                          <a:alpha val="100000"/>
                        </a:srgbClr>
                      </a:gs>
                      <a:gs pos="100000">
                        <a:srgbClr val="10CD57">
                          <a:alpha val="100000"/>
                        </a:srgbClr>
                      </a:gs>
                    </a:gsLst>
                    <a:lin ang="16200000"/>
                  </a:gradFill>
                  <a:latin typeface="Times New Roman Bold"/>
                  <a:ea typeface="Times New Roman Bold"/>
                  <a:cs typeface="Times New Roman Bold"/>
                  <a:sym typeface="Times New Roman Bold"/>
                </a:rPr>
                <a:t>Thách</a:t>
              </a:r>
              <a:r>
                <a:rPr lang="en-US" sz="6000" b="1" dirty="0">
                  <a:gradFill>
                    <a:gsLst>
                      <a:gs pos="0">
                        <a:srgbClr val="027159">
                          <a:alpha val="100000"/>
                        </a:srgbClr>
                      </a:gs>
                      <a:gs pos="100000">
                        <a:srgbClr val="10CD57">
                          <a:alpha val="100000"/>
                        </a:srgbClr>
                      </a:gs>
                    </a:gsLst>
                    <a:lin ang="16200000"/>
                  </a:gradFill>
                  <a:latin typeface="Times New Roman Bold"/>
                  <a:ea typeface="Times New Roman Bold"/>
                  <a:cs typeface="Times New Roman Bold"/>
                  <a:sym typeface="Times New Roman Bold"/>
                </a:rPr>
                <a:t> </a:t>
              </a:r>
              <a:r>
                <a:rPr lang="en-US" sz="6000" b="1" dirty="0" err="1">
                  <a:gradFill>
                    <a:gsLst>
                      <a:gs pos="0">
                        <a:srgbClr val="027159">
                          <a:alpha val="100000"/>
                        </a:srgbClr>
                      </a:gs>
                      <a:gs pos="100000">
                        <a:srgbClr val="10CD57">
                          <a:alpha val="100000"/>
                        </a:srgbClr>
                      </a:gs>
                    </a:gsLst>
                    <a:lin ang="16200000"/>
                  </a:gradFill>
                  <a:latin typeface="Times New Roman Bold"/>
                  <a:ea typeface="Times New Roman Bold"/>
                  <a:cs typeface="Times New Roman Bold"/>
                  <a:sym typeface="Times New Roman Bold"/>
                </a:rPr>
                <a:t>thức</a:t>
              </a:r>
              <a:endParaRPr lang="en-US" sz="6000" b="1" dirty="0">
                <a:gradFill>
                  <a:gsLst>
                    <a:gs pos="0">
                      <a:srgbClr val="027159">
                        <a:alpha val="100000"/>
                      </a:srgbClr>
                    </a:gs>
                    <a:gs pos="100000">
                      <a:srgbClr val="10CD57">
                        <a:alpha val="100000"/>
                      </a:srgbClr>
                    </a:gs>
                  </a:gsLst>
                  <a:lin ang="16200000"/>
                </a:gradFill>
                <a:latin typeface="Times New Roman Bold"/>
                <a:ea typeface="Times New Roman Bold"/>
                <a:cs typeface="Times New Roman Bold"/>
                <a:sym typeface="Times New Roman Bold"/>
              </a:endParaRPr>
            </a:p>
            <a:p>
              <a:pPr algn="l">
                <a:lnSpc>
                  <a:spcPts val="6480"/>
                </a:lnSpc>
              </a:pPr>
              <a:endParaRPr lang="en-US" sz="6000" b="1" dirty="0">
                <a:gradFill>
                  <a:gsLst>
                    <a:gs pos="0">
                      <a:srgbClr val="027159">
                        <a:alpha val="100000"/>
                      </a:srgbClr>
                    </a:gs>
                    <a:gs pos="100000">
                      <a:srgbClr val="10CD57">
                        <a:alpha val="100000"/>
                      </a:srgbClr>
                    </a:gs>
                  </a:gsLst>
                  <a:lin ang="16200000"/>
                </a:gradFill>
                <a:latin typeface="Times New Roman Bold"/>
                <a:ea typeface="Times New Roman Bold"/>
                <a:cs typeface="Times New Roman Bold"/>
                <a:sym typeface="Times New Roman Bold"/>
              </a:endParaRPr>
            </a:p>
          </p:txBody>
        </p:sp>
      </p:grpSp>
      <p:sp>
        <p:nvSpPr>
          <p:cNvPr id="24" name="TextBox 24"/>
          <p:cNvSpPr txBox="1"/>
          <p:nvPr/>
        </p:nvSpPr>
        <p:spPr>
          <a:xfrm>
            <a:off x="975217" y="3097352"/>
            <a:ext cx="16287121" cy="5373972"/>
          </a:xfrm>
          <a:prstGeom prst="rect">
            <a:avLst/>
          </a:prstGeom>
        </p:spPr>
        <p:txBody>
          <a:bodyPr lIns="0" tIns="0" rIns="0" bIns="0" rtlCol="0" anchor="t">
            <a:spAutoFit/>
          </a:bodyPr>
          <a:lstStyle/>
          <a:p>
            <a:pPr marL="602647" lvl="1" indent="-301323">
              <a:lnSpc>
                <a:spcPts val="4675"/>
              </a:lnSpc>
              <a:buFont typeface="Arial"/>
              <a:buChar char="•"/>
            </a:pPr>
            <a:r>
              <a:rPr lang="vi-VN" sz="3329" b="1" dirty="0">
                <a:solidFill>
                  <a:srgbClr val="000000"/>
                </a:solidFill>
                <a:latin typeface="Times New Roman"/>
                <a:ea typeface="Times New Roman"/>
                <a:cs typeface="Times New Roman"/>
                <a:sym typeface="Times New Roman"/>
              </a:rPr>
              <a:t>Thiếu hụt dung lượng FPGA</a:t>
            </a:r>
            <a:r>
              <a:rPr lang="vi-VN" sz="3329" dirty="0">
                <a:solidFill>
                  <a:srgbClr val="000000"/>
                </a:solidFill>
                <a:latin typeface="Times New Roman"/>
                <a:ea typeface="Times New Roman"/>
                <a:cs typeface="Times New Roman"/>
                <a:sym typeface="Times New Roman"/>
              </a:rPr>
              <a:t>: Mô hình Llama 2-7B cần xấp xỉ 14 GB bộ nhớ cho trọng số FP16, vượt xa tổng dung lượng BRAM/URAM nội bộ, do đó cần phải lưu toàn bộ trong số của mô hình ở bộ nhớ ngoài của FPGA</a:t>
            </a:r>
          </a:p>
          <a:p>
            <a:pPr marL="602647" lvl="1" indent="-301323">
              <a:lnSpc>
                <a:spcPts val="4675"/>
              </a:lnSpc>
              <a:buFont typeface="Arial"/>
              <a:buChar char="•"/>
            </a:pPr>
            <a:r>
              <a:rPr lang="en-US" sz="3329" b="1" dirty="0" err="1">
                <a:solidFill>
                  <a:srgbClr val="000000"/>
                </a:solidFill>
                <a:latin typeface="Times New Roman"/>
                <a:ea typeface="Times New Roman"/>
                <a:cs typeface="Times New Roman"/>
                <a:sym typeface="Times New Roman"/>
              </a:rPr>
              <a:t>Nút</a:t>
            </a:r>
            <a:r>
              <a:rPr lang="en-US" sz="3329" b="1" dirty="0">
                <a:solidFill>
                  <a:srgbClr val="000000"/>
                </a:solidFill>
                <a:latin typeface="Times New Roman"/>
                <a:ea typeface="Times New Roman"/>
                <a:cs typeface="Times New Roman"/>
                <a:sym typeface="Times New Roman"/>
              </a:rPr>
              <a:t> </a:t>
            </a:r>
            <a:r>
              <a:rPr lang="en-US" sz="3329" b="1" dirty="0" err="1">
                <a:solidFill>
                  <a:srgbClr val="000000"/>
                </a:solidFill>
                <a:latin typeface="Times New Roman"/>
                <a:ea typeface="Times New Roman"/>
                <a:cs typeface="Times New Roman"/>
                <a:sym typeface="Times New Roman"/>
              </a:rPr>
              <a:t>thắt</a:t>
            </a:r>
            <a:r>
              <a:rPr lang="en-US" sz="3329" b="1" dirty="0">
                <a:solidFill>
                  <a:srgbClr val="000000"/>
                </a:solidFill>
                <a:latin typeface="Times New Roman"/>
                <a:ea typeface="Times New Roman"/>
                <a:cs typeface="Times New Roman"/>
                <a:sym typeface="Times New Roman"/>
              </a:rPr>
              <a:t> </a:t>
            </a:r>
            <a:r>
              <a:rPr lang="en-US" sz="3329" b="1" dirty="0" err="1">
                <a:solidFill>
                  <a:srgbClr val="000000"/>
                </a:solidFill>
                <a:latin typeface="Times New Roman"/>
                <a:ea typeface="Times New Roman"/>
                <a:cs typeface="Times New Roman"/>
                <a:sym typeface="Times New Roman"/>
              </a:rPr>
              <a:t>cổ</a:t>
            </a:r>
            <a:r>
              <a:rPr lang="en-US" sz="3329" b="1" dirty="0">
                <a:solidFill>
                  <a:srgbClr val="000000"/>
                </a:solidFill>
                <a:latin typeface="Times New Roman"/>
                <a:ea typeface="Times New Roman"/>
                <a:cs typeface="Times New Roman"/>
                <a:sym typeface="Times New Roman"/>
              </a:rPr>
              <a:t> chai </a:t>
            </a:r>
            <a:r>
              <a:rPr lang="en-US" sz="3329" b="1" dirty="0" err="1">
                <a:solidFill>
                  <a:srgbClr val="000000"/>
                </a:solidFill>
                <a:latin typeface="Times New Roman"/>
                <a:ea typeface="Times New Roman"/>
                <a:cs typeface="Times New Roman"/>
                <a:sym typeface="Times New Roman"/>
              </a:rPr>
              <a:t>băng</a:t>
            </a:r>
            <a:r>
              <a:rPr lang="en-US" sz="3329" b="1" dirty="0">
                <a:solidFill>
                  <a:srgbClr val="000000"/>
                </a:solidFill>
                <a:latin typeface="Times New Roman"/>
                <a:ea typeface="Times New Roman"/>
                <a:cs typeface="Times New Roman"/>
                <a:sym typeface="Times New Roman"/>
              </a:rPr>
              <a:t> </a:t>
            </a:r>
            <a:r>
              <a:rPr lang="en-US" sz="3329" b="1" dirty="0" err="1">
                <a:solidFill>
                  <a:srgbClr val="000000"/>
                </a:solidFill>
                <a:latin typeface="Times New Roman"/>
                <a:ea typeface="Times New Roman"/>
                <a:cs typeface="Times New Roman"/>
                <a:sym typeface="Times New Roman"/>
              </a:rPr>
              <a:t>thông</a:t>
            </a:r>
            <a:r>
              <a:rPr lang="en-US" sz="3329" b="1" dirty="0">
                <a:solidFill>
                  <a:srgbClr val="000000"/>
                </a:solidFill>
                <a:latin typeface="Times New Roman"/>
                <a:ea typeface="Times New Roman"/>
                <a:cs typeface="Times New Roman"/>
                <a:sym typeface="Times New Roman"/>
              </a:rPr>
              <a:t> (Memory-bound): </a:t>
            </a:r>
            <a:r>
              <a:rPr lang="en-US" sz="3329" dirty="0">
                <a:solidFill>
                  <a:srgbClr val="000000"/>
                </a:solidFill>
                <a:latin typeface="Times New Roman"/>
                <a:ea typeface="Times New Roman"/>
                <a:cs typeface="Times New Roman"/>
                <a:sym typeface="Times New Roman"/>
              </a:rPr>
              <a:t>Giai </a:t>
            </a:r>
            <a:r>
              <a:rPr lang="en-US" sz="3329" dirty="0" err="1">
                <a:solidFill>
                  <a:srgbClr val="000000"/>
                </a:solidFill>
                <a:latin typeface="Times New Roman"/>
                <a:ea typeface="Times New Roman"/>
                <a:cs typeface="Times New Roman"/>
                <a:sym typeface="Times New Roman"/>
              </a:rPr>
              <a:t>đoạn</a:t>
            </a:r>
            <a:r>
              <a:rPr lang="en-US" sz="3329" dirty="0">
                <a:solidFill>
                  <a:srgbClr val="000000"/>
                </a:solidFill>
                <a:latin typeface="Times New Roman"/>
                <a:ea typeface="Times New Roman"/>
                <a:cs typeface="Times New Roman"/>
                <a:sym typeface="Times New Roman"/>
              </a:rPr>
              <a:t> autoregressive decoding (batch=1) </a:t>
            </a:r>
            <a:r>
              <a:rPr lang="en-US" sz="3329" dirty="0" err="1">
                <a:solidFill>
                  <a:srgbClr val="000000"/>
                </a:solidFill>
                <a:latin typeface="Times New Roman"/>
                <a:ea typeface="Times New Roman"/>
                <a:cs typeface="Times New Roman"/>
                <a:sym typeface="Times New Roman"/>
              </a:rPr>
              <a:t>có</a:t>
            </a:r>
            <a:r>
              <a:rPr lang="en-US" sz="3329" dirty="0">
                <a:solidFill>
                  <a:srgbClr val="000000"/>
                </a:solidFill>
                <a:latin typeface="Times New Roman"/>
                <a:ea typeface="Times New Roman"/>
                <a:cs typeface="Times New Roman"/>
                <a:sym typeface="Times New Roman"/>
              </a:rPr>
              <a:t> arithmetic intensity </a:t>
            </a:r>
            <a:r>
              <a:rPr lang="en-US" sz="3329" dirty="0" err="1">
                <a:solidFill>
                  <a:srgbClr val="000000"/>
                </a:solidFill>
                <a:latin typeface="Times New Roman"/>
                <a:ea typeface="Times New Roman"/>
                <a:cs typeface="Times New Roman"/>
                <a:sym typeface="Times New Roman"/>
              </a:rPr>
              <a:t>rất</a:t>
            </a:r>
            <a:r>
              <a:rPr lang="en-US" sz="3329" dirty="0">
                <a:solidFill>
                  <a:srgbClr val="000000"/>
                </a:solidFill>
                <a:latin typeface="Times New Roman"/>
                <a:ea typeface="Times New Roman"/>
                <a:cs typeface="Times New Roman"/>
                <a:sym typeface="Times New Roman"/>
              </a:rPr>
              <a:t> </a:t>
            </a:r>
            <a:r>
              <a:rPr lang="en-US" sz="3329" dirty="0" err="1">
                <a:solidFill>
                  <a:srgbClr val="000000"/>
                </a:solidFill>
                <a:latin typeface="Times New Roman"/>
                <a:ea typeface="Times New Roman"/>
                <a:cs typeface="Times New Roman"/>
                <a:sym typeface="Times New Roman"/>
              </a:rPr>
              <a:t>thấp</a:t>
            </a:r>
            <a:r>
              <a:rPr lang="en-US" sz="3329" dirty="0">
                <a:solidFill>
                  <a:srgbClr val="000000"/>
                </a:solidFill>
                <a:latin typeface="Times New Roman"/>
                <a:ea typeface="Times New Roman"/>
                <a:cs typeface="Times New Roman"/>
                <a:sym typeface="Times New Roman"/>
              </a:rPr>
              <a:t> do </a:t>
            </a:r>
            <a:r>
              <a:rPr lang="en-US" sz="3329" dirty="0" err="1">
                <a:solidFill>
                  <a:srgbClr val="000000"/>
                </a:solidFill>
                <a:latin typeface="Times New Roman"/>
                <a:ea typeface="Times New Roman"/>
                <a:cs typeface="Times New Roman"/>
                <a:sym typeface="Times New Roman"/>
              </a:rPr>
              <a:t>toàn</a:t>
            </a:r>
            <a:r>
              <a:rPr lang="en-US" sz="3329" dirty="0">
                <a:solidFill>
                  <a:srgbClr val="000000"/>
                </a:solidFill>
                <a:latin typeface="Times New Roman"/>
                <a:ea typeface="Times New Roman"/>
                <a:cs typeface="Times New Roman"/>
                <a:sym typeface="Times New Roman"/>
              </a:rPr>
              <a:t> </a:t>
            </a:r>
            <a:r>
              <a:rPr lang="en-US" sz="3329" dirty="0" err="1">
                <a:solidFill>
                  <a:srgbClr val="000000"/>
                </a:solidFill>
                <a:latin typeface="Times New Roman"/>
                <a:ea typeface="Times New Roman"/>
                <a:cs typeface="Times New Roman"/>
                <a:sym typeface="Times New Roman"/>
              </a:rPr>
              <a:t>bộ</a:t>
            </a:r>
            <a:r>
              <a:rPr lang="en-US" sz="3329" dirty="0">
                <a:solidFill>
                  <a:srgbClr val="000000"/>
                </a:solidFill>
                <a:latin typeface="Times New Roman"/>
                <a:ea typeface="Times New Roman"/>
                <a:cs typeface="Times New Roman"/>
                <a:sym typeface="Times New Roman"/>
              </a:rPr>
              <a:t> </a:t>
            </a:r>
            <a:r>
              <a:rPr lang="en-US" sz="3329" dirty="0" err="1">
                <a:solidFill>
                  <a:srgbClr val="000000"/>
                </a:solidFill>
                <a:latin typeface="Times New Roman"/>
                <a:ea typeface="Times New Roman"/>
                <a:cs typeface="Times New Roman"/>
                <a:sym typeface="Times New Roman"/>
              </a:rPr>
              <a:t>trọng</a:t>
            </a:r>
            <a:r>
              <a:rPr lang="en-US" sz="3329" dirty="0">
                <a:solidFill>
                  <a:srgbClr val="000000"/>
                </a:solidFill>
                <a:latin typeface="Times New Roman"/>
                <a:ea typeface="Times New Roman"/>
                <a:cs typeface="Times New Roman"/>
                <a:sym typeface="Times New Roman"/>
              </a:rPr>
              <a:t> </a:t>
            </a:r>
            <a:r>
              <a:rPr lang="en-US" sz="3329" dirty="0" err="1">
                <a:solidFill>
                  <a:srgbClr val="000000"/>
                </a:solidFill>
                <a:latin typeface="Times New Roman"/>
                <a:ea typeface="Times New Roman"/>
                <a:cs typeface="Times New Roman"/>
                <a:sym typeface="Times New Roman"/>
              </a:rPr>
              <a:t>số</a:t>
            </a:r>
            <a:r>
              <a:rPr lang="en-US" sz="3329" dirty="0">
                <a:solidFill>
                  <a:srgbClr val="000000"/>
                </a:solidFill>
                <a:latin typeface="Times New Roman"/>
                <a:ea typeface="Times New Roman"/>
                <a:cs typeface="Times New Roman"/>
                <a:sym typeface="Times New Roman"/>
              </a:rPr>
              <a:t> </a:t>
            </a:r>
            <a:r>
              <a:rPr lang="en-US" sz="3329" dirty="0" err="1">
                <a:solidFill>
                  <a:srgbClr val="000000"/>
                </a:solidFill>
                <a:latin typeface="Times New Roman"/>
                <a:ea typeface="Times New Roman"/>
                <a:cs typeface="Times New Roman"/>
                <a:sym typeface="Times New Roman"/>
              </a:rPr>
              <a:t>phải</a:t>
            </a:r>
            <a:r>
              <a:rPr lang="en-US" sz="3329" dirty="0">
                <a:solidFill>
                  <a:srgbClr val="000000"/>
                </a:solidFill>
                <a:latin typeface="Times New Roman"/>
                <a:ea typeface="Times New Roman"/>
                <a:cs typeface="Times New Roman"/>
                <a:sym typeface="Times New Roman"/>
              </a:rPr>
              <a:t> </a:t>
            </a:r>
            <a:r>
              <a:rPr lang="en-US" sz="3329" dirty="0" err="1">
                <a:solidFill>
                  <a:srgbClr val="000000"/>
                </a:solidFill>
                <a:latin typeface="Times New Roman"/>
                <a:ea typeface="Times New Roman"/>
                <a:cs typeface="Times New Roman"/>
                <a:sym typeface="Times New Roman"/>
              </a:rPr>
              <a:t>đọc</a:t>
            </a:r>
            <a:r>
              <a:rPr lang="en-US" sz="3329" dirty="0">
                <a:solidFill>
                  <a:srgbClr val="000000"/>
                </a:solidFill>
                <a:latin typeface="Times New Roman"/>
                <a:ea typeface="Times New Roman"/>
                <a:cs typeface="Times New Roman"/>
                <a:sym typeface="Times New Roman"/>
              </a:rPr>
              <a:t> </a:t>
            </a:r>
            <a:r>
              <a:rPr lang="en-US" sz="3329" dirty="0" err="1">
                <a:solidFill>
                  <a:srgbClr val="000000"/>
                </a:solidFill>
                <a:latin typeface="Times New Roman"/>
                <a:ea typeface="Times New Roman"/>
                <a:cs typeface="Times New Roman"/>
                <a:sym typeface="Times New Roman"/>
              </a:rPr>
              <a:t>lại</a:t>
            </a:r>
            <a:r>
              <a:rPr lang="en-US" sz="3329" dirty="0">
                <a:solidFill>
                  <a:srgbClr val="000000"/>
                </a:solidFill>
                <a:latin typeface="Times New Roman"/>
                <a:ea typeface="Times New Roman"/>
                <a:cs typeface="Times New Roman"/>
                <a:sym typeface="Times New Roman"/>
              </a:rPr>
              <a:t> </a:t>
            </a:r>
            <a:r>
              <a:rPr lang="en-US" sz="3329" dirty="0" err="1">
                <a:solidFill>
                  <a:srgbClr val="000000"/>
                </a:solidFill>
                <a:latin typeface="Times New Roman"/>
                <a:ea typeface="Times New Roman"/>
                <a:cs typeface="Times New Roman"/>
                <a:sym typeface="Times New Roman"/>
              </a:rPr>
              <a:t>cho</a:t>
            </a:r>
            <a:r>
              <a:rPr lang="en-US" sz="3329" dirty="0">
                <a:solidFill>
                  <a:srgbClr val="000000"/>
                </a:solidFill>
                <a:latin typeface="Times New Roman"/>
                <a:ea typeface="Times New Roman"/>
                <a:cs typeface="Times New Roman"/>
                <a:sym typeface="Times New Roman"/>
              </a:rPr>
              <a:t> </a:t>
            </a:r>
            <a:r>
              <a:rPr lang="en-US" sz="3329" dirty="0" err="1">
                <a:solidFill>
                  <a:srgbClr val="000000"/>
                </a:solidFill>
                <a:latin typeface="Times New Roman"/>
                <a:ea typeface="Times New Roman"/>
                <a:cs typeface="Times New Roman"/>
                <a:sym typeface="Times New Roman"/>
              </a:rPr>
              <a:t>mỗi</a:t>
            </a:r>
            <a:r>
              <a:rPr lang="en-US" sz="3329" dirty="0">
                <a:solidFill>
                  <a:srgbClr val="000000"/>
                </a:solidFill>
                <a:latin typeface="Times New Roman"/>
                <a:ea typeface="Times New Roman"/>
                <a:cs typeface="Times New Roman"/>
                <a:sym typeface="Times New Roman"/>
              </a:rPr>
              <a:t> token </a:t>
            </a:r>
            <a:r>
              <a:rPr lang="en-US" sz="3329" dirty="0" err="1">
                <a:solidFill>
                  <a:srgbClr val="000000"/>
                </a:solidFill>
                <a:latin typeface="Times New Roman"/>
                <a:ea typeface="Times New Roman"/>
                <a:cs typeface="Times New Roman"/>
                <a:sym typeface="Times New Roman"/>
              </a:rPr>
              <a:t>mới</a:t>
            </a:r>
            <a:r>
              <a:rPr lang="en-US" sz="3329" dirty="0">
                <a:solidFill>
                  <a:srgbClr val="000000"/>
                </a:solidFill>
                <a:latin typeface="Times New Roman"/>
                <a:ea typeface="Times New Roman"/>
                <a:cs typeface="Times New Roman"/>
                <a:sym typeface="Times New Roman"/>
              </a:rPr>
              <a:t>.</a:t>
            </a:r>
          </a:p>
          <a:p>
            <a:pPr marL="602647" lvl="1" indent="-301323">
              <a:lnSpc>
                <a:spcPts val="4675"/>
              </a:lnSpc>
              <a:buFont typeface="Arial"/>
              <a:buChar char="•"/>
            </a:pPr>
            <a:r>
              <a:rPr lang="vi-VN" sz="3329" b="1" dirty="0">
                <a:solidFill>
                  <a:srgbClr val="000000"/>
                </a:solidFill>
                <a:latin typeface="Times New Roman"/>
                <a:ea typeface="Times New Roman"/>
                <a:cs typeface="Times New Roman"/>
                <a:sym typeface="Times New Roman"/>
              </a:rPr>
              <a:t>Vấn đề KV Cache</a:t>
            </a:r>
            <a:r>
              <a:rPr lang="vi-VN" sz="3329" dirty="0">
                <a:solidFill>
                  <a:srgbClr val="000000"/>
                </a:solidFill>
                <a:latin typeface="Times New Roman"/>
                <a:ea typeface="Times New Roman"/>
                <a:cs typeface="Times New Roman"/>
                <a:sym typeface="Times New Roman"/>
              </a:rPr>
              <a:t>: Lưu lượng truy cập Key-Value (KV) cache tăng tuyến tính theo độ dài ngữ cảnh ngữ cảnh, làm trầm trọng thêm tình trạng thiếu băng thông.</a:t>
            </a:r>
          </a:p>
          <a:p>
            <a:pPr marL="602647" lvl="1" indent="-301323">
              <a:lnSpc>
                <a:spcPts val="4675"/>
              </a:lnSpc>
              <a:buFont typeface="Arial"/>
              <a:buChar char="•"/>
            </a:pPr>
            <a:endParaRPr lang="en-US" sz="3329" dirty="0">
              <a:solidFill>
                <a:srgbClr val="000000"/>
              </a:solidFill>
              <a:latin typeface="Times New Roman"/>
              <a:ea typeface="Times New Roman"/>
              <a:cs typeface="Times New Roman"/>
              <a:sym typeface="Times New Roman"/>
            </a:endParaRPr>
          </a:p>
        </p:txBody>
      </p:sp>
      <p:grpSp>
        <p:nvGrpSpPr>
          <p:cNvPr id="25" name="Group 25"/>
          <p:cNvGrpSpPr/>
          <p:nvPr/>
        </p:nvGrpSpPr>
        <p:grpSpPr>
          <a:xfrm>
            <a:off x="6350346" y="9534525"/>
            <a:ext cx="6172200" cy="547688"/>
            <a:chOff x="0" y="0"/>
            <a:chExt cx="8229600" cy="730250"/>
          </a:xfrm>
        </p:grpSpPr>
        <p:sp>
          <p:nvSpPr>
            <p:cNvPr id="26" name="Freeform 26"/>
            <p:cNvSpPr/>
            <p:nvPr/>
          </p:nvSpPr>
          <p:spPr>
            <a:xfrm>
              <a:off x="0" y="0"/>
              <a:ext cx="8229600" cy="730250"/>
            </a:xfrm>
            <a:custGeom>
              <a:avLst/>
              <a:gdLst/>
              <a:ahLst/>
              <a:cxnLst/>
              <a:rect l="l" t="t" r="r" b="b"/>
              <a:pathLst>
                <a:path w="8229600" h="730250">
                  <a:moveTo>
                    <a:pt x="0" y="0"/>
                  </a:moveTo>
                  <a:lnTo>
                    <a:pt x="8229600" y="0"/>
                  </a:lnTo>
                  <a:lnTo>
                    <a:pt x="8229600" y="730250"/>
                  </a:lnTo>
                  <a:lnTo>
                    <a:pt x="0" y="730250"/>
                  </a:lnTo>
                  <a:close/>
                </a:path>
              </a:pathLst>
            </a:custGeom>
            <a:blipFill>
              <a:blip r:embed="rId6">
                <a:alphaModFix amt="0"/>
              </a:blip>
              <a:stretch>
                <a:fillRect t="-169587" b="-169587"/>
              </a:stretch>
            </a:blipFill>
          </p:spPr>
          <p:txBody>
            <a:bodyPr/>
            <a:lstStyle/>
            <a:p>
              <a:endParaRPr lang="vi-VN"/>
            </a:p>
          </p:txBody>
        </p:sp>
        <p:sp>
          <p:nvSpPr>
            <p:cNvPr id="27" name="TextBox 27"/>
            <p:cNvSpPr txBox="1"/>
            <p:nvPr/>
          </p:nvSpPr>
          <p:spPr>
            <a:xfrm>
              <a:off x="0" y="-19050"/>
              <a:ext cx="8229600" cy="749300"/>
            </a:xfrm>
            <a:prstGeom prst="rect">
              <a:avLst/>
            </a:prstGeom>
          </p:spPr>
          <p:txBody>
            <a:bodyPr lIns="0" tIns="0" rIns="0" bIns="0" rtlCol="0" anchor="ctr"/>
            <a:lstStyle/>
            <a:p>
              <a:pPr algn="ctr">
                <a:lnSpc>
                  <a:spcPts val="2160"/>
                </a:lnSpc>
              </a:pPr>
              <a:r>
                <a:rPr lang="en-US" sz="1800" dirty="0">
                  <a:solidFill>
                    <a:srgbClr val="898989"/>
                  </a:solidFill>
                  <a:latin typeface="Arial"/>
                  <a:ea typeface="Arial"/>
                  <a:cs typeface="Arial"/>
                  <a:sym typeface="Arial"/>
                </a:rPr>
                <a:t>Copyrights 2024 CE-UIT. All Rights Reserved.</a:t>
              </a:r>
            </a:p>
          </p:txBody>
        </p:sp>
      </p:grpSp>
      <p:grpSp>
        <p:nvGrpSpPr>
          <p:cNvPr id="28" name="Group 28"/>
          <p:cNvGrpSpPr/>
          <p:nvPr/>
        </p:nvGrpSpPr>
        <p:grpSpPr>
          <a:xfrm>
            <a:off x="15634421" y="9534525"/>
            <a:ext cx="4114800" cy="547688"/>
            <a:chOff x="0" y="0"/>
            <a:chExt cx="5486400" cy="730250"/>
          </a:xfrm>
        </p:grpSpPr>
        <p:sp>
          <p:nvSpPr>
            <p:cNvPr id="29" name="Freeform 29"/>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blipFill>
              <a:blip r:embed="rId6">
                <a:alphaModFix amt="0"/>
              </a:blip>
              <a:stretch>
                <a:fillRect t="-96391" b="-96391"/>
              </a:stretch>
            </a:blipFill>
          </p:spPr>
          <p:txBody>
            <a:bodyPr/>
            <a:lstStyle/>
            <a:p>
              <a:endParaRPr lang="vi-VN"/>
            </a:p>
          </p:txBody>
        </p:sp>
        <p:sp>
          <p:nvSpPr>
            <p:cNvPr id="30" name="TextBox 30"/>
            <p:cNvSpPr txBox="1"/>
            <p:nvPr/>
          </p:nvSpPr>
          <p:spPr>
            <a:xfrm>
              <a:off x="0" y="-19050"/>
              <a:ext cx="5486400" cy="749300"/>
            </a:xfrm>
            <a:prstGeom prst="rect">
              <a:avLst/>
            </a:prstGeom>
          </p:spPr>
          <p:txBody>
            <a:bodyPr lIns="0" tIns="0" rIns="0" bIns="0" rtlCol="0" anchor="ctr"/>
            <a:lstStyle/>
            <a:p>
              <a:pPr algn="ctr">
                <a:lnSpc>
                  <a:spcPts val="2160"/>
                </a:lnSpc>
              </a:pPr>
              <a:r>
                <a:rPr lang="en-US" sz="1800">
                  <a:solidFill>
                    <a:srgbClr val="FFFFFF"/>
                  </a:solidFill>
                  <a:latin typeface="Arial"/>
                  <a:ea typeface="Arial"/>
                  <a:cs typeface="Arial"/>
                  <a:sym typeface="Arial"/>
                </a:rPr>
                <a:t>4</a:t>
              </a: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91440" y="-2287991"/>
            <a:ext cx="18105120" cy="527771"/>
          </a:xfrm>
          <a:prstGeom prst="rect">
            <a:avLst/>
          </a:prstGeom>
        </p:spPr>
        <p:txBody>
          <a:bodyPr lIns="0" tIns="0" rIns="0" bIns="0" rtlCol="0" anchor="t">
            <a:spAutoFit/>
          </a:bodyPr>
          <a:lstStyle/>
          <a:p>
            <a:pPr algn="ctr">
              <a:lnSpc>
                <a:spcPts val="3600"/>
              </a:lnSpc>
            </a:pPr>
            <a:r>
              <a:rPr lang="en-US" sz="3000">
                <a:solidFill>
                  <a:srgbClr val="C3C3C3"/>
                </a:solidFill>
                <a:latin typeface="Arial"/>
                <a:ea typeface="Arial"/>
                <a:cs typeface="Arial"/>
                <a:sym typeface="Arial"/>
              </a:rPr>
              <a:t>www.9slide.vn</a:t>
            </a:r>
          </a:p>
        </p:txBody>
      </p:sp>
      <p:grpSp>
        <p:nvGrpSpPr>
          <p:cNvPr id="3" name="Group 3"/>
          <p:cNvGrpSpPr/>
          <p:nvPr/>
        </p:nvGrpSpPr>
        <p:grpSpPr>
          <a:xfrm>
            <a:off x="0" y="2124"/>
            <a:ext cx="18291715" cy="10295487"/>
            <a:chOff x="0" y="0"/>
            <a:chExt cx="24388953" cy="13727316"/>
          </a:xfrm>
        </p:grpSpPr>
        <p:sp>
          <p:nvSpPr>
            <p:cNvPr id="4" name="Freeform 4"/>
            <p:cNvSpPr/>
            <p:nvPr/>
          </p:nvSpPr>
          <p:spPr>
            <a:xfrm>
              <a:off x="0" y="0"/>
              <a:ext cx="24388953" cy="13727303"/>
            </a:xfrm>
            <a:custGeom>
              <a:avLst/>
              <a:gdLst/>
              <a:ahLst/>
              <a:cxnLst/>
              <a:rect l="l" t="t" r="r" b="b"/>
              <a:pathLst>
                <a:path w="24388953" h="1372730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txBody>
            <a:bodyPr/>
            <a:lstStyle/>
            <a:p>
              <a:endParaRPr lang="vi-VN"/>
            </a:p>
          </p:txBody>
        </p:sp>
      </p:grpSp>
      <p:grpSp>
        <p:nvGrpSpPr>
          <p:cNvPr id="5" name="Group 5"/>
          <p:cNvGrpSpPr/>
          <p:nvPr/>
        </p:nvGrpSpPr>
        <p:grpSpPr>
          <a:xfrm rot="5400000">
            <a:off x="8668474" y="-8670065"/>
            <a:ext cx="947328" cy="18291715"/>
            <a:chOff x="0" y="0"/>
            <a:chExt cx="1263104" cy="24388953"/>
          </a:xfrm>
        </p:grpSpPr>
        <p:sp>
          <p:nvSpPr>
            <p:cNvPr id="6" name="Freeform 6"/>
            <p:cNvSpPr/>
            <p:nvPr/>
          </p:nvSpPr>
          <p:spPr>
            <a:xfrm>
              <a:off x="0" y="0"/>
              <a:ext cx="1263142" cy="24388953"/>
            </a:xfrm>
            <a:custGeom>
              <a:avLst/>
              <a:gdLst/>
              <a:ahLst/>
              <a:cxnLst/>
              <a:rect l="l" t="t" r="r" b="b"/>
              <a:pathLst>
                <a:path w="1263142" h="24388953">
                  <a:moveTo>
                    <a:pt x="0" y="0"/>
                  </a:moveTo>
                  <a:lnTo>
                    <a:pt x="1263142" y="0"/>
                  </a:lnTo>
                  <a:lnTo>
                    <a:pt x="1263142" y="24388953"/>
                  </a:lnTo>
                  <a:lnTo>
                    <a:pt x="0" y="24388953"/>
                  </a:lnTo>
                  <a:close/>
                </a:path>
              </a:pathLst>
            </a:custGeom>
            <a:gradFill rotWithShape="1">
              <a:gsLst>
                <a:gs pos="0">
                  <a:srgbClr val="10CD57">
                    <a:alpha val="100000"/>
                  </a:srgbClr>
                </a:gs>
                <a:gs pos="100000">
                  <a:srgbClr val="027159">
                    <a:alpha val="100000"/>
                  </a:srgbClr>
                </a:gs>
              </a:gsLst>
              <a:lin ang="0"/>
            </a:gradFill>
          </p:spPr>
          <p:txBody>
            <a:bodyPr/>
            <a:lstStyle/>
            <a:p>
              <a:endParaRPr lang="vi-VN"/>
            </a:p>
          </p:txBody>
        </p:sp>
      </p:grpSp>
      <p:grpSp>
        <p:nvGrpSpPr>
          <p:cNvPr id="7" name="Group 7"/>
          <p:cNvGrpSpPr/>
          <p:nvPr/>
        </p:nvGrpSpPr>
        <p:grpSpPr>
          <a:xfrm rot="5400000">
            <a:off x="8670331" y="-8672198"/>
            <a:ext cx="947328" cy="18291715"/>
            <a:chOff x="0" y="0"/>
            <a:chExt cx="1263104" cy="24388953"/>
          </a:xfrm>
        </p:grpSpPr>
        <p:sp>
          <p:nvSpPr>
            <p:cNvPr id="8" name="Freeform 8"/>
            <p:cNvSpPr/>
            <p:nvPr/>
          </p:nvSpPr>
          <p:spPr>
            <a:xfrm flipV="1">
              <a:off x="0" y="0"/>
              <a:ext cx="1263142" cy="24388953"/>
            </a:xfrm>
            <a:custGeom>
              <a:avLst/>
              <a:gdLst/>
              <a:ahLst/>
              <a:cxnLst/>
              <a:rect l="l" t="t" r="r" b="b"/>
              <a:pathLst>
                <a:path w="1263142" h="24388953">
                  <a:moveTo>
                    <a:pt x="0" y="0"/>
                  </a:moveTo>
                  <a:lnTo>
                    <a:pt x="1263142" y="0"/>
                  </a:lnTo>
                  <a:lnTo>
                    <a:pt x="1263142" y="24388953"/>
                  </a:lnTo>
                  <a:lnTo>
                    <a:pt x="0" y="24388953"/>
                  </a:lnTo>
                  <a:close/>
                </a:path>
              </a:pathLst>
            </a:custGeom>
            <a:blipFill>
              <a:blip r:embed="rId2"/>
              <a:stretch>
                <a:fillRect l="-35093" r="-35090"/>
              </a:stretch>
            </a:blipFill>
          </p:spPr>
          <p:txBody>
            <a:bodyPr/>
            <a:lstStyle/>
            <a:p>
              <a:endParaRPr lang="vi-VN"/>
            </a:p>
          </p:txBody>
        </p:sp>
      </p:grpSp>
      <p:sp>
        <p:nvSpPr>
          <p:cNvPr id="9" name="TextBox 9"/>
          <p:cNvSpPr txBox="1"/>
          <p:nvPr/>
        </p:nvSpPr>
        <p:spPr>
          <a:xfrm>
            <a:off x="451866" y="248326"/>
            <a:ext cx="10947559" cy="424158"/>
          </a:xfrm>
          <a:prstGeom prst="rect">
            <a:avLst/>
          </a:prstGeom>
        </p:spPr>
        <p:txBody>
          <a:bodyPr lIns="0" tIns="0" rIns="0" bIns="0" rtlCol="0" anchor="t">
            <a:spAutoFit/>
          </a:bodyPr>
          <a:lstStyle/>
          <a:p>
            <a:pPr algn="l">
              <a:lnSpc>
                <a:spcPts val="2879"/>
              </a:lnSpc>
            </a:pPr>
            <a:r>
              <a:rPr lang="en-US" sz="2400" b="1">
                <a:solidFill>
                  <a:srgbClr val="FFFFFF"/>
                </a:solidFill>
                <a:latin typeface="Arial Bold"/>
                <a:ea typeface="Arial Bold"/>
                <a:cs typeface="Arial Bold"/>
                <a:sym typeface="Arial Bold"/>
              </a:rPr>
              <a:t>FACULTY OF COMPUTER ENGINEERING</a:t>
            </a:r>
          </a:p>
        </p:txBody>
      </p:sp>
      <p:grpSp>
        <p:nvGrpSpPr>
          <p:cNvPr id="10" name="Group 10"/>
          <p:cNvGrpSpPr/>
          <p:nvPr/>
        </p:nvGrpSpPr>
        <p:grpSpPr>
          <a:xfrm>
            <a:off x="6719973" y="457933"/>
            <a:ext cx="4848044" cy="957948"/>
            <a:chOff x="0" y="0"/>
            <a:chExt cx="6464059" cy="1277264"/>
          </a:xfrm>
        </p:grpSpPr>
        <p:sp>
          <p:nvSpPr>
            <p:cNvPr id="11" name="Freeform 11"/>
            <p:cNvSpPr/>
            <p:nvPr/>
          </p:nvSpPr>
          <p:spPr>
            <a:xfrm>
              <a:off x="0" y="0"/>
              <a:ext cx="6464173" cy="1277366"/>
            </a:xfrm>
            <a:custGeom>
              <a:avLst/>
              <a:gdLst/>
              <a:ahLst/>
              <a:cxnLst/>
              <a:rect l="l" t="t" r="r" b="b"/>
              <a:pathLst>
                <a:path w="6464173" h="1277366">
                  <a:moveTo>
                    <a:pt x="0" y="638683"/>
                  </a:moveTo>
                  <a:cubicBezTo>
                    <a:pt x="0" y="285877"/>
                    <a:pt x="285877" y="0"/>
                    <a:pt x="638683" y="0"/>
                  </a:cubicBezTo>
                  <a:lnTo>
                    <a:pt x="5825490" y="0"/>
                  </a:lnTo>
                  <a:cubicBezTo>
                    <a:pt x="6178169" y="0"/>
                    <a:pt x="6464173" y="285877"/>
                    <a:pt x="6464173" y="638683"/>
                  </a:cubicBezTo>
                  <a:cubicBezTo>
                    <a:pt x="6464173" y="991489"/>
                    <a:pt x="6178296" y="1277366"/>
                    <a:pt x="5825490" y="1277366"/>
                  </a:cubicBezTo>
                  <a:lnTo>
                    <a:pt x="638683" y="1277366"/>
                  </a:lnTo>
                  <a:cubicBezTo>
                    <a:pt x="285877" y="1277239"/>
                    <a:pt x="0" y="991362"/>
                    <a:pt x="0" y="638683"/>
                  </a:cubicBezTo>
                  <a:close/>
                </a:path>
              </a:pathLst>
            </a:custGeom>
            <a:gradFill rotWithShape="1">
              <a:gsLst>
                <a:gs pos="0">
                  <a:srgbClr val="38EF7D">
                    <a:alpha val="100000"/>
                  </a:srgbClr>
                </a:gs>
                <a:gs pos="100000">
                  <a:srgbClr val="752AFF">
                    <a:alpha val="100000"/>
                  </a:srgbClr>
                </a:gs>
              </a:gsLst>
              <a:lin ang="4729360"/>
            </a:gradFill>
          </p:spPr>
          <p:txBody>
            <a:bodyPr/>
            <a:lstStyle/>
            <a:p>
              <a:endParaRPr lang="vi-VN"/>
            </a:p>
          </p:txBody>
        </p:sp>
      </p:grpSp>
      <p:grpSp>
        <p:nvGrpSpPr>
          <p:cNvPr id="12" name="Group 12"/>
          <p:cNvGrpSpPr/>
          <p:nvPr/>
        </p:nvGrpSpPr>
        <p:grpSpPr>
          <a:xfrm>
            <a:off x="6807460" y="535962"/>
            <a:ext cx="4673079" cy="801872"/>
            <a:chOff x="0" y="0"/>
            <a:chExt cx="6230772" cy="1069162"/>
          </a:xfrm>
        </p:grpSpPr>
        <p:sp>
          <p:nvSpPr>
            <p:cNvPr id="13" name="Freeform 13"/>
            <p:cNvSpPr/>
            <p:nvPr/>
          </p:nvSpPr>
          <p:spPr>
            <a:xfrm>
              <a:off x="0" y="0"/>
              <a:ext cx="6230747" cy="1069086"/>
            </a:xfrm>
            <a:custGeom>
              <a:avLst/>
              <a:gdLst/>
              <a:ahLst/>
              <a:cxnLst/>
              <a:rect l="l" t="t" r="r" b="b"/>
              <a:pathLst>
                <a:path w="6230747" h="1069086">
                  <a:moveTo>
                    <a:pt x="0" y="534543"/>
                  </a:moveTo>
                  <a:cubicBezTo>
                    <a:pt x="0" y="239395"/>
                    <a:pt x="239395" y="0"/>
                    <a:pt x="534543" y="0"/>
                  </a:cubicBezTo>
                  <a:lnTo>
                    <a:pt x="5696204" y="0"/>
                  </a:lnTo>
                  <a:cubicBezTo>
                    <a:pt x="5991479" y="0"/>
                    <a:pt x="6230747" y="239395"/>
                    <a:pt x="6230747" y="534543"/>
                  </a:cubicBezTo>
                  <a:cubicBezTo>
                    <a:pt x="6230747" y="829691"/>
                    <a:pt x="5991352" y="1069086"/>
                    <a:pt x="5696204" y="1069086"/>
                  </a:cubicBezTo>
                  <a:lnTo>
                    <a:pt x="534543" y="1069086"/>
                  </a:lnTo>
                  <a:cubicBezTo>
                    <a:pt x="239395" y="1069213"/>
                    <a:pt x="0" y="829818"/>
                    <a:pt x="0" y="534543"/>
                  </a:cubicBezTo>
                  <a:close/>
                </a:path>
              </a:pathLst>
            </a:custGeom>
            <a:solidFill>
              <a:srgbClr val="FFFFFF"/>
            </a:solidFill>
          </p:spPr>
          <p:txBody>
            <a:bodyPr/>
            <a:lstStyle/>
            <a:p>
              <a:endParaRPr lang="vi-VN"/>
            </a:p>
          </p:txBody>
        </p:sp>
      </p:grpSp>
      <p:grpSp>
        <p:nvGrpSpPr>
          <p:cNvPr id="14" name="Group 14"/>
          <p:cNvGrpSpPr/>
          <p:nvPr/>
        </p:nvGrpSpPr>
        <p:grpSpPr>
          <a:xfrm>
            <a:off x="9436446" y="362541"/>
            <a:ext cx="1163307" cy="1152592"/>
            <a:chOff x="0" y="0"/>
            <a:chExt cx="1551076" cy="1536789"/>
          </a:xfrm>
        </p:grpSpPr>
        <p:sp>
          <p:nvSpPr>
            <p:cNvPr id="15" name="Freeform 15" descr="Icon  Description automatically generated with medium confidence"/>
            <p:cNvSpPr/>
            <p:nvPr/>
          </p:nvSpPr>
          <p:spPr>
            <a:xfrm>
              <a:off x="0" y="0"/>
              <a:ext cx="1551051" cy="1536827"/>
            </a:xfrm>
            <a:custGeom>
              <a:avLst/>
              <a:gdLst/>
              <a:ahLst/>
              <a:cxnLst/>
              <a:rect l="l" t="t" r="r" b="b"/>
              <a:pathLst>
                <a:path w="1551051" h="1536827">
                  <a:moveTo>
                    <a:pt x="0" y="0"/>
                  </a:moveTo>
                  <a:lnTo>
                    <a:pt x="1551051" y="0"/>
                  </a:lnTo>
                  <a:lnTo>
                    <a:pt x="1551051" y="1536827"/>
                  </a:lnTo>
                  <a:lnTo>
                    <a:pt x="0" y="1536827"/>
                  </a:lnTo>
                  <a:lnTo>
                    <a:pt x="0" y="0"/>
                  </a:lnTo>
                  <a:close/>
                </a:path>
              </a:pathLst>
            </a:custGeom>
            <a:blipFill>
              <a:blip r:embed="rId3"/>
              <a:stretch>
                <a:fillRect l="-75" r="-76" b="2"/>
              </a:stretch>
            </a:blipFill>
          </p:spPr>
          <p:txBody>
            <a:bodyPr/>
            <a:lstStyle/>
            <a:p>
              <a:endParaRPr lang="vi-VN"/>
            </a:p>
          </p:txBody>
        </p:sp>
      </p:grpSp>
      <p:grpSp>
        <p:nvGrpSpPr>
          <p:cNvPr id="16" name="Group 16"/>
          <p:cNvGrpSpPr/>
          <p:nvPr/>
        </p:nvGrpSpPr>
        <p:grpSpPr>
          <a:xfrm>
            <a:off x="7688247" y="398078"/>
            <a:ext cx="1307516" cy="1081516"/>
            <a:chOff x="0" y="0"/>
            <a:chExt cx="1743354" cy="1442022"/>
          </a:xfrm>
        </p:grpSpPr>
        <p:sp>
          <p:nvSpPr>
            <p:cNvPr id="17" name="Freeform 17" descr="A picture containing clipart, vector graphics  Description automatically generated"/>
            <p:cNvSpPr/>
            <p:nvPr/>
          </p:nvSpPr>
          <p:spPr>
            <a:xfrm>
              <a:off x="0" y="0"/>
              <a:ext cx="1743329" cy="1442085"/>
            </a:xfrm>
            <a:custGeom>
              <a:avLst/>
              <a:gdLst/>
              <a:ahLst/>
              <a:cxnLst/>
              <a:rect l="l" t="t" r="r" b="b"/>
              <a:pathLst>
                <a:path w="1743329" h="1442085">
                  <a:moveTo>
                    <a:pt x="0" y="0"/>
                  </a:moveTo>
                  <a:lnTo>
                    <a:pt x="1743329" y="0"/>
                  </a:lnTo>
                  <a:lnTo>
                    <a:pt x="1743329" y="1442085"/>
                  </a:lnTo>
                  <a:lnTo>
                    <a:pt x="0" y="1442085"/>
                  </a:lnTo>
                  <a:lnTo>
                    <a:pt x="0" y="0"/>
                  </a:lnTo>
                  <a:close/>
                </a:path>
              </a:pathLst>
            </a:custGeom>
            <a:blipFill>
              <a:blip r:embed="rId4"/>
              <a:stretch>
                <a:fillRect t="-74" r="-1" b="-71"/>
              </a:stretch>
            </a:blipFill>
          </p:spPr>
          <p:txBody>
            <a:bodyPr/>
            <a:lstStyle/>
            <a:p>
              <a:endParaRPr lang="vi-VN"/>
            </a:p>
          </p:txBody>
        </p:sp>
      </p:grpSp>
      <p:sp>
        <p:nvSpPr>
          <p:cNvPr id="18" name="Freeform 18"/>
          <p:cNvSpPr/>
          <p:nvPr/>
        </p:nvSpPr>
        <p:spPr>
          <a:xfrm>
            <a:off x="17262338" y="9405385"/>
            <a:ext cx="819198" cy="819198"/>
          </a:xfrm>
          <a:custGeom>
            <a:avLst/>
            <a:gdLst/>
            <a:ahLst/>
            <a:cxnLst/>
            <a:rect l="l" t="t" r="r" b="b"/>
            <a:pathLst>
              <a:path w="819198" h="819198">
                <a:moveTo>
                  <a:pt x="0" y="0"/>
                </a:moveTo>
                <a:lnTo>
                  <a:pt x="819198" y="0"/>
                </a:lnTo>
                <a:lnTo>
                  <a:pt x="819198" y="819198"/>
                </a:lnTo>
                <a:lnTo>
                  <a:pt x="0" y="81919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vi-VN">
              <a:latin typeface="+mj-lt"/>
            </a:endParaRPr>
          </a:p>
        </p:txBody>
      </p:sp>
      <p:grpSp>
        <p:nvGrpSpPr>
          <p:cNvPr id="19" name="Group 19"/>
          <p:cNvGrpSpPr/>
          <p:nvPr/>
        </p:nvGrpSpPr>
        <p:grpSpPr>
          <a:xfrm>
            <a:off x="0" y="2124"/>
            <a:ext cx="18291715" cy="10295487"/>
            <a:chOff x="0" y="0"/>
            <a:chExt cx="24388953" cy="13727316"/>
          </a:xfrm>
        </p:grpSpPr>
        <p:sp>
          <p:nvSpPr>
            <p:cNvPr id="20" name="Freeform 20"/>
            <p:cNvSpPr/>
            <p:nvPr/>
          </p:nvSpPr>
          <p:spPr>
            <a:xfrm>
              <a:off x="0" y="0"/>
              <a:ext cx="24388953" cy="13727303"/>
            </a:xfrm>
            <a:custGeom>
              <a:avLst/>
              <a:gdLst/>
              <a:ahLst/>
              <a:cxnLst/>
              <a:rect l="l" t="t" r="r" b="b"/>
              <a:pathLst>
                <a:path w="24388953" h="1372730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txBody>
            <a:bodyPr/>
            <a:lstStyle/>
            <a:p>
              <a:endParaRPr lang="vi-VN"/>
            </a:p>
          </p:txBody>
        </p:sp>
      </p:grpSp>
      <p:grpSp>
        <p:nvGrpSpPr>
          <p:cNvPr id="21" name="Group 21"/>
          <p:cNvGrpSpPr/>
          <p:nvPr/>
        </p:nvGrpSpPr>
        <p:grpSpPr>
          <a:xfrm>
            <a:off x="908999" y="1555147"/>
            <a:ext cx="16470001" cy="1335996"/>
            <a:chOff x="0" y="0"/>
            <a:chExt cx="21960002" cy="1781327"/>
          </a:xfrm>
        </p:grpSpPr>
        <p:sp>
          <p:nvSpPr>
            <p:cNvPr id="22" name="Freeform 22"/>
            <p:cNvSpPr/>
            <p:nvPr/>
          </p:nvSpPr>
          <p:spPr>
            <a:xfrm>
              <a:off x="0" y="0"/>
              <a:ext cx="21960001" cy="1781326"/>
            </a:xfrm>
            <a:custGeom>
              <a:avLst/>
              <a:gdLst/>
              <a:ahLst/>
              <a:cxnLst/>
              <a:rect l="l" t="t" r="r" b="b"/>
              <a:pathLst>
                <a:path w="21960001" h="1781326">
                  <a:moveTo>
                    <a:pt x="0" y="0"/>
                  </a:moveTo>
                  <a:lnTo>
                    <a:pt x="21960001" y="0"/>
                  </a:lnTo>
                  <a:lnTo>
                    <a:pt x="21960001" y="1781326"/>
                  </a:lnTo>
                  <a:lnTo>
                    <a:pt x="0" y="1781326"/>
                  </a:lnTo>
                  <a:close/>
                </a:path>
              </a:pathLst>
            </a:custGeom>
            <a:blipFill>
              <a:blip r:embed="rId6">
                <a:alphaModFix amt="0"/>
              </a:blip>
              <a:stretch>
                <a:fillRect t="-190209" b="-190209"/>
              </a:stretch>
            </a:blipFill>
          </p:spPr>
          <p:txBody>
            <a:bodyPr/>
            <a:lstStyle/>
            <a:p>
              <a:endParaRPr lang="vi-VN">
                <a:latin typeface="+mj-lt"/>
              </a:endParaRPr>
            </a:p>
          </p:txBody>
        </p:sp>
        <p:sp>
          <p:nvSpPr>
            <p:cNvPr id="23" name="TextBox 23"/>
            <p:cNvSpPr txBox="1"/>
            <p:nvPr/>
          </p:nvSpPr>
          <p:spPr>
            <a:xfrm>
              <a:off x="0" y="38100"/>
              <a:ext cx="21960002" cy="1743227"/>
            </a:xfrm>
            <a:prstGeom prst="rect">
              <a:avLst/>
            </a:prstGeom>
          </p:spPr>
          <p:txBody>
            <a:bodyPr lIns="0" tIns="0" rIns="0" bIns="0" rtlCol="0" anchor="ctr"/>
            <a:lstStyle/>
            <a:p>
              <a:pPr>
                <a:lnSpc>
                  <a:spcPts val="6480"/>
                </a:lnSpc>
              </a:pPr>
              <a:r>
                <a:rPr lang="vi-VN" sz="6000" b="1" dirty="0">
                  <a:gradFill>
                    <a:gsLst>
                      <a:gs pos="0">
                        <a:srgbClr val="027159">
                          <a:alpha val="100000"/>
                        </a:srgbClr>
                      </a:gs>
                      <a:gs pos="100000">
                        <a:srgbClr val="10CD57">
                          <a:alpha val="100000"/>
                        </a:srgbClr>
                      </a:gs>
                    </a:gsLst>
                    <a:lin ang="16200000"/>
                  </a:gradFill>
                  <a:latin typeface="+mj-lt"/>
                  <a:ea typeface="Times New Roman Bold"/>
                  <a:cs typeface="Times New Roman Bold"/>
                  <a:sym typeface="Times New Roman Bold"/>
                </a:rPr>
                <a:t>Hướng tiếp cận &amp; Kế thừa</a:t>
              </a:r>
            </a:p>
          </p:txBody>
        </p:sp>
      </p:grpSp>
      <p:grpSp>
        <p:nvGrpSpPr>
          <p:cNvPr id="25" name="Group 25"/>
          <p:cNvGrpSpPr/>
          <p:nvPr/>
        </p:nvGrpSpPr>
        <p:grpSpPr>
          <a:xfrm>
            <a:off x="6350346" y="9534525"/>
            <a:ext cx="6172200" cy="547688"/>
            <a:chOff x="0" y="0"/>
            <a:chExt cx="8229600" cy="730250"/>
          </a:xfrm>
        </p:grpSpPr>
        <p:sp>
          <p:nvSpPr>
            <p:cNvPr id="26" name="Freeform 26"/>
            <p:cNvSpPr/>
            <p:nvPr/>
          </p:nvSpPr>
          <p:spPr>
            <a:xfrm>
              <a:off x="0" y="0"/>
              <a:ext cx="8229600" cy="730250"/>
            </a:xfrm>
            <a:custGeom>
              <a:avLst/>
              <a:gdLst/>
              <a:ahLst/>
              <a:cxnLst/>
              <a:rect l="l" t="t" r="r" b="b"/>
              <a:pathLst>
                <a:path w="8229600" h="730250">
                  <a:moveTo>
                    <a:pt x="0" y="0"/>
                  </a:moveTo>
                  <a:lnTo>
                    <a:pt x="8229600" y="0"/>
                  </a:lnTo>
                  <a:lnTo>
                    <a:pt x="8229600" y="730250"/>
                  </a:lnTo>
                  <a:lnTo>
                    <a:pt x="0" y="730250"/>
                  </a:lnTo>
                  <a:close/>
                </a:path>
              </a:pathLst>
            </a:custGeom>
            <a:blipFill>
              <a:blip r:embed="rId6">
                <a:alphaModFix amt="0"/>
              </a:blip>
              <a:stretch>
                <a:fillRect t="-169587" b="-169587"/>
              </a:stretch>
            </a:blipFill>
          </p:spPr>
          <p:txBody>
            <a:bodyPr/>
            <a:lstStyle/>
            <a:p>
              <a:endParaRPr lang="vi-VN">
                <a:latin typeface="+mj-lt"/>
              </a:endParaRPr>
            </a:p>
          </p:txBody>
        </p:sp>
        <p:sp>
          <p:nvSpPr>
            <p:cNvPr id="27" name="TextBox 27"/>
            <p:cNvSpPr txBox="1"/>
            <p:nvPr/>
          </p:nvSpPr>
          <p:spPr>
            <a:xfrm>
              <a:off x="0" y="-19050"/>
              <a:ext cx="8229600" cy="749300"/>
            </a:xfrm>
            <a:prstGeom prst="rect">
              <a:avLst/>
            </a:prstGeom>
          </p:spPr>
          <p:txBody>
            <a:bodyPr lIns="0" tIns="0" rIns="0" bIns="0" rtlCol="0" anchor="ctr"/>
            <a:lstStyle/>
            <a:p>
              <a:pPr algn="ctr">
                <a:lnSpc>
                  <a:spcPts val="2160"/>
                </a:lnSpc>
              </a:pPr>
              <a:r>
                <a:rPr lang="en-US" sz="1800">
                  <a:solidFill>
                    <a:srgbClr val="898989"/>
                  </a:solidFill>
                  <a:latin typeface="+mj-lt"/>
                  <a:ea typeface="Arial"/>
                  <a:cs typeface="Arial"/>
                  <a:sym typeface="Arial"/>
                </a:rPr>
                <a:t>Copyrights 2024 CE-UIT. All Rights Reserved.</a:t>
              </a:r>
            </a:p>
          </p:txBody>
        </p:sp>
      </p:grpSp>
      <p:grpSp>
        <p:nvGrpSpPr>
          <p:cNvPr id="28" name="Group 28"/>
          <p:cNvGrpSpPr/>
          <p:nvPr/>
        </p:nvGrpSpPr>
        <p:grpSpPr>
          <a:xfrm>
            <a:off x="15634421" y="9534525"/>
            <a:ext cx="4114800" cy="547688"/>
            <a:chOff x="0" y="0"/>
            <a:chExt cx="5486400" cy="730250"/>
          </a:xfrm>
        </p:grpSpPr>
        <p:sp>
          <p:nvSpPr>
            <p:cNvPr id="29" name="Freeform 29"/>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blipFill>
              <a:blip r:embed="rId6">
                <a:alphaModFix amt="0"/>
              </a:blip>
              <a:stretch>
                <a:fillRect t="-96391" b="-96391"/>
              </a:stretch>
            </a:blipFill>
          </p:spPr>
          <p:txBody>
            <a:bodyPr/>
            <a:lstStyle/>
            <a:p>
              <a:endParaRPr lang="vi-VN"/>
            </a:p>
          </p:txBody>
        </p:sp>
        <p:sp>
          <p:nvSpPr>
            <p:cNvPr id="30" name="TextBox 30"/>
            <p:cNvSpPr txBox="1"/>
            <p:nvPr/>
          </p:nvSpPr>
          <p:spPr>
            <a:xfrm>
              <a:off x="0" y="-19050"/>
              <a:ext cx="5486400" cy="749300"/>
            </a:xfrm>
            <a:prstGeom prst="rect">
              <a:avLst/>
            </a:prstGeom>
          </p:spPr>
          <p:txBody>
            <a:bodyPr lIns="0" tIns="0" rIns="0" bIns="0" rtlCol="0" anchor="ctr"/>
            <a:lstStyle/>
            <a:p>
              <a:pPr algn="ctr">
                <a:lnSpc>
                  <a:spcPts val="2160"/>
                </a:lnSpc>
              </a:pPr>
              <a:r>
                <a:rPr lang="en-US" sz="1800">
                  <a:solidFill>
                    <a:srgbClr val="FFFFFF"/>
                  </a:solidFill>
                  <a:latin typeface="Arial"/>
                  <a:ea typeface="Arial"/>
                  <a:cs typeface="Arial"/>
                  <a:sym typeface="Arial"/>
                </a:rPr>
                <a:t>5</a:t>
              </a:r>
            </a:p>
          </p:txBody>
        </p:sp>
      </p:grpSp>
      <p:sp>
        <p:nvSpPr>
          <p:cNvPr id="137" name="TextBox 136">
            <a:extLst>
              <a:ext uri="{FF2B5EF4-FFF2-40B4-BE49-F238E27FC236}">
                <a16:creationId xmlns:a16="http://schemas.microsoft.com/office/drawing/2014/main" id="{9EACFF53-0483-9A7D-D7A7-98DF144341FA}"/>
              </a:ext>
            </a:extLst>
          </p:cNvPr>
          <p:cNvSpPr txBox="1"/>
          <p:nvPr/>
        </p:nvSpPr>
        <p:spPr>
          <a:xfrm>
            <a:off x="1652734" y="3135811"/>
            <a:ext cx="6536395" cy="430887"/>
          </a:xfrm>
          <a:prstGeom prst="rect">
            <a:avLst/>
          </a:prstGeom>
          <a:noFill/>
        </p:spPr>
        <p:txBody>
          <a:bodyPr wrap="square" lIns="400050" tIns="0" rIns="0" bIns="0" anchor="t">
            <a:spAutoFit/>
          </a:bodyPr>
          <a:lstStyle/>
          <a:p>
            <a:pPr algn="l"/>
            <a:r>
              <a:rPr sz="2800" b="1" i="0" u="none" dirty="0">
                <a:solidFill>
                  <a:srgbClr val="064E3B"/>
                </a:solidFill>
                <a:latin typeface="+mj-lt"/>
              </a:rPr>
              <a:t>Các </a:t>
            </a:r>
            <a:r>
              <a:rPr sz="2800" b="1" i="0" u="none" dirty="0" err="1">
                <a:solidFill>
                  <a:srgbClr val="064E3B"/>
                </a:solidFill>
                <a:latin typeface="+mj-lt"/>
              </a:rPr>
              <a:t>công</a:t>
            </a:r>
            <a:r>
              <a:rPr sz="2800" b="1" i="0" u="none" dirty="0">
                <a:solidFill>
                  <a:srgbClr val="064E3B"/>
                </a:solidFill>
                <a:latin typeface="+mj-lt"/>
              </a:rPr>
              <a:t> </a:t>
            </a:r>
            <a:r>
              <a:rPr sz="2800" b="1" i="0" u="none" dirty="0" err="1">
                <a:solidFill>
                  <a:srgbClr val="064E3B"/>
                </a:solidFill>
                <a:latin typeface="+mj-lt"/>
              </a:rPr>
              <a:t>trình</a:t>
            </a:r>
            <a:r>
              <a:rPr sz="2800" b="1" i="0" u="none" dirty="0">
                <a:solidFill>
                  <a:srgbClr val="064E3B"/>
                </a:solidFill>
                <a:latin typeface="+mj-lt"/>
              </a:rPr>
              <a:t> </a:t>
            </a:r>
            <a:r>
              <a:rPr sz="2800" b="1" i="0" u="none" dirty="0" err="1">
                <a:solidFill>
                  <a:srgbClr val="064E3B"/>
                </a:solidFill>
                <a:latin typeface="+mj-lt"/>
              </a:rPr>
              <a:t>liên</a:t>
            </a:r>
            <a:r>
              <a:rPr sz="2800" b="1" i="0" u="none" dirty="0">
                <a:solidFill>
                  <a:srgbClr val="064E3B"/>
                </a:solidFill>
                <a:latin typeface="+mj-lt"/>
              </a:rPr>
              <a:t> </a:t>
            </a:r>
            <a:r>
              <a:rPr sz="2800" b="1" i="0" u="none" dirty="0" err="1">
                <a:solidFill>
                  <a:srgbClr val="064E3B"/>
                </a:solidFill>
                <a:latin typeface="+mj-lt"/>
              </a:rPr>
              <a:t>quan</a:t>
            </a:r>
            <a:endParaRPr sz="2800" b="1" i="0" u="none" dirty="0">
              <a:solidFill>
                <a:srgbClr val="064E3B"/>
              </a:solidFill>
              <a:latin typeface="+mj-lt"/>
            </a:endParaRPr>
          </a:p>
        </p:txBody>
      </p:sp>
      <p:sp>
        <p:nvSpPr>
          <p:cNvPr id="139" name="TextBox 138">
            <a:extLst>
              <a:ext uri="{FF2B5EF4-FFF2-40B4-BE49-F238E27FC236}">
                <a16:creationId xmlns:a16="http://schemas.microsoft.com/office/drawing/2014/main" id="{74178F5A-FC47-8ADA-B6AB-AF4109F3B6C8}"/>
              </a:ext>
            </a:extLst>
          </p:cNvPr>
          <p:cNvSpPr txBox="1"/>
          <p:nvPr/>
        </p:nvSpPr>
        <p:spPr>
          <a:xfrm>
            <a:off x="1291142" y="4025165"/>
            <a:ext cx="7243258" cy="861774"/>
          </a:xfrm>
          <a:prstGeom prst="rect">
            <a:avLst/>
          </a:prstGeom>
          <a:noFill/>
        </p:spPr>
        <p:txBody>
          <a:bodyPr wrap="square" lIns="0" tIns="0" rIns="0" bIns="0" anchor="t">
            <a:spAutoFit/>
          </a:bodyPr>
          <a:lstStyle/>
          <a:p>
            <a:pPr algn="l"/>
            <a:r>
              <a:rPr sz="2800" b="0" i="0" u="none" dirty="0" err="1">
                <a:solidFill>
                  <a:srgbClr val="334155"/>
                </a:solidFill>
                <a:latin typeface="+mj-lt"/>
              </a:rPr>
              <a:t>Khảo</a:t>
            </a:r>
            <a:r>
              <a:rPr sz="2800" b="0" i="0" u="none" dirty="0">
                <a:solidFill>
                  <a:srgbClr val="334155"/>
                </a:solidFill>
                <a:latin typeface="+mj-lt"/>
              </a:rPr>
              <a:t> </a:t>
            </a:r>
            <a:r>
              <a:rPr sz="2800" b="0" i="0" u="none" dirty="0" err="1">
                <a:solidFill>
                  <a:srgbClr val="334155"/>
                </a:solidFill>
                <a:latin typeface="+mj-lt"/>
              </a:rPr>
              <a:t>sát</a:t>
            </a:r>
            <a:r>
              <a:rPr sz="2800" b="0" i="0" u="none" dirty="0">
                <a:solidFill>
                  <a:srgbClr val="334155"/>
                </a:solidFill>
                <a:latin typeface="+mj-lt"/>
              </a:rPr>
              <a:t> </a:t>
            </a:r>
            <a:r>
              <a:rPr sz="2800" b="0" i="0" u="none" dirty="0" err="1">
                <a:solidFill>
                  <a:srgbClr val="334155"/>
                </a:solidFill>
                <a:latin typeface="+mj-lt"/>
              </a:rPr>
              <a:t>các</a:t>
            </a:r>
            <a:r>
              <a:rPr sz="2800" b="0" i="0" u="none" dirty="0">
                <a:solidFill>
                  <a:srgbClr val="334155"/>
                </a:solidFill>
                <a:latin typeface="+mj-lt"/>
              </a:rPr>
              <a:t> </a:t>
            </a:r>
            <a:r>
              <a:rPr sz="2800" b="0" i="0" u="none" dirty="0" err="1">
                <a:solidFill>
                  <a:srgbClr val="334155"/>
                </a:solidFill>
                <a:latin typeface="+mj-lt"/>
              </a:rPr>
              <a:t>nghiên</a:t>
            </a:r>
            <a:r>
              <a:rPr sz="2800" b="0" i="0" u="none" dirty="0">
                <a:solidFill>
                  <a:srgbClr val="334155"/>
                </a:solidFill>
                <a:latin typeface="+mj-lt"/>
              </a:rPr>
              <a:t> </a:t>
            </a:r>
            <a:r>
              <a:rPr sz="2800" b="0" i="0" u="none" dirty="0" err="1">
                <a:solidFill>
                  <a:srgbClr val="334155"/>
                </a:solidFill>
                <a:latin typeface="+mj-lt"/>
              </a:rPr>
              <a:t>cứu</a:t>
            </a:r>
            <a:r>
              <a:rPr sz="2800" b="0" i="0" u="none" dirty="0">
                <a:solidFill>
                  <a:srgbClr val="334155"/>
                </a:solidFill>
                <a:latin typeface="+mj-lt"/>
              </a:rPr>
              <a:t> </a:t>
            </a:r>
            <a:r>
              <a:rPr sz="2800" b="0" i="0" u="none" dirty="0" err="1">
                <a:solidFill>
                  <a:srgbClr val="334155"/>
                </a:solidFill>
                <a:latin typeface="+mj-lt"/>
              </a:rPr>
              <a:t>phần</a:t>
            </a:r>
            <a:r>
              <a:rPr sz="2800" b="0" i="0" u="none" dirty="0">
                <a:solidFill>
                  <a:srgbClr val="334155"/>
                </a:solidFill>
                <a:latin typeface="+mj-lt"/>
              </a:rPr>
              <a:t> </a:t>
            </a:r>
            <a:r>
              <a:rPr sz="2800" b="0" i="0" u="none" dirty="0" err="1">
                <a:solidFill>
                  <a:srgbClr val="334155"/>
                </a:solidFill>
                <a:latin typeface="+mj-lt"/>
              </a:rPr>
              <a:t>cứng</a:t>
            </a:r>
            <a:r>
              <a:rPr sz="2800" b="0" i="0" u="none" dirty="0">
                <a:solidFill>
                  <a:srgbClr val="334155"/>
                </a:solidFill>
                <a:latin typeface="+mj-lt"/>
              </a:rPr>
              <a:t> </a:t>
            </a:r>
            <a:r>
              <a:rPr sz="2800" b="0" i="0" u="none" dirty="0" err="1">
                <a:solidFill>
                  <a:srgbClr val="334155"/>
                </a:solidFill>
                <a:latin typeface="+mj-lt"/>
              </a:rPr>
              <a:t>gần</a:t>
            </a:r>
            <a:r>
              <a:rPr sz="2800" b="0" i="0" u="none" dirty="0">
                <a:solidFill>
                  <a:srgbClr val="334155"/>
                </a:solidFill>
                <a:latin typeface="+mj-lt"/>
              </a:rPr>
              <a:t> </a:t>
            </a:r>
            <a:r>
              <a:rPr sz="2800" b="0" i="0" u="none" dirty="0" err="1">
                <a:solidFill>
                  <a:srgbClr val="334155"/>
                </a:solidFill>
                <a:latin typeface="+mj-lt"/>
              </a:rPr>
              <a:t>đây</a:t>
            </a:r>
            <a:r>
              <a:rPr sz="2800" b="0" i="0" u="none" dirty="0">
                <a:solidFill>
                  <a:srgbClr val="334155"/>
                </a:solidFill>
                <a:latin typeface="+mj-lt"/>
              </a:rPr>
              <a:t> (</a:t>
            </a:r>
            <a:r>
              <a:rPr sz="2800" b="0" i="0" u="none" dirty="0" err="1">
                <a:solidFill>
                  <a:srgbClr val="334155"/>
                </a:solidFill>
                <a:latin typeface="+mj-lt"/>
              </a:rPr>
              <a:t>FlightLLM</a:t>
            </a:r>
            <a:r>
              <a:rPr sz="2800" b="0" i="0" u="none" dirty="0">
                <a:solidFill>
                  <a:srgbClr val="334155"/>
                </a:solidFill>
                <a:latin typeface="+mj-lt"/>
              </a:rPr>
              <a:t>, </a:t>
            </a:r>
            <a:r>
              <a:rPr sz="2800" b="0" i="0" u="none" dirty="0" err="1">
                <a:solidFill>
                  <a:srgbClr val="334155"/>
                </a:solidFill>
                <a:latin typeface="+mj-lt"/>
              </a:rPr>
              <a:t>QLlama</a:t>
            </a:r>
            <a:r>
              <a:rPr sz="2800" b="0" i="0" u="none" dirty="0">
                <a:solidFill>
                  <a:srgbClr val="334155"/>
                </a:solidFill>
                <a:latin typeface="+mj-lt"/>
              </a:rPr>
              <a:t>, </a:t>
            </a:r>
            <a:r>
              <a:rPr sz="2800" b="0" i="0" u="none" dirty="0" err="1">
                <a:solidFill>
                  <a:srgbClr val="334155"/>
                </a:solidFill>
                <a:latin typeface="+mj-lt"/>
              </a:rPr>
              <a:t>SwiftKV</a:t>
            </a:r>
            <a:r>
              <a:rPr sz="2800" b="0" i="0" u="none" dirty="0">
                <a:solidFill>
                  <a:srgbClr val="334155"/>
                </a:solidFill>
                <a:latin typeface="+mj-lt"/>
              </a:rPr>
              <a:t>):</a:t>
            </a:r>
          </a:p>
        </p:txBody>
      </p:sp>
      <p:sp>
        <p:nvSpPr>
          <p:cNvPr id="141" name="TextBox 140">
            <a:extLst>
              <a:ext uri="{FF2B5EF4-FFF2-40B4-BE49-F238E27FC236}">
                <a16:creationId xmlns:a16="http://schemas.microsoft.com/office/drawing/2014/main" id="{4DD85C23-6309-7C10-31ED-21C8D7D5181A}"/>
              </a:ext>
            </a:extLst>
          </p:cNvPr>
          <p:cNvSpPr txBox="1"/>
          <p:nvPr/>
        </p:nvSpPr>
        <p:spPr>
          <a:xfrm>
            <a:off x="9845424" y="3135811"/>
            <a:ext cx="4730591" cy="430887"/>
          </a:xfrm>
          <a:prstGeom prst="rect">
            <a:avLst/>
          </a:prstGeom>
          <a:noFill/>
        </p:spPr>
        <p:txBody>
          <a:bodyPr wrap="square" lIns="295275" tIns="0" rIns="0" bIns="0" anchor="t">
            <a:spAutoFit/>
          </a:bodyPr>
          <a:lstStyle/>
          <a:p>
            <a:pPr algn="l"/>
            <a:r>
              <a:rPr sz="2800" b="1" i="0" u="none" dirty="0" err="1">
                <a:solidFill>
                  <a:srgbClr val="064E3B"/>
                </a:solidFill>
                <a:latin typeface="+mj-lt"/>
              </a:rPr>
              <a:t>Giải</a:t>
            </a:r>
            <a:r>
              <a:rPr sz="2800" b="1" i="0" u="none" dirty="0">
                <a:solidFill>
                  <a:srgbClr val="064E3B"/>
                </a:solidFill>
                <a:latin typeface="+mj-lt"/>
              </a:rPr>
              <a:t> </a:t>
            </a:r>
            <a:r>
              <a:rPr sz="2800" b="1" i="0" u="none" dirty="0" err="1">
                <a:solidFill>
                  <a:srgbClr val="064E3B"/>
                </a:solidFill>
                <a:latin typeface="+mj-lt"/>
              </a:rPr>
              <a:t>pháp</a:t>
            </a:r>
            <a:r>
              <a:rPr sz="2800" b="1" i="0" u="none" dirty="0">
                <a:solidFill>
                  <a:srgbClr val="064E3B"/>
                </a:solidFill>
                <a:latin typeface="+mj-lt"/>
              </a:rPr>
              <a:t> </a:t>
            </a:r>
            <a:r>
              <a:rPr sz="2800" b="1" i="0" u="none" dirty="0" err="1">
                <a:solidFill>
                  <a:srgbClr val="064E3B"/>
                </a:solidFill>
                <a:latin typeface="+mj-lt"/>
              </a:rPr>
              <a:t>của</a:t>
            </a:r>
            <a:r>
              <a:rPr sz="2800" b="1" i="0" u="none" dirty="0">
                <a:solidFill>
                  <a:srgbClr val="064E3B"/>
                </a:solidFill>
                <a:latin typeface="+mj-lt"/>
              </a:rPr>
              <a:t> </a:t>
            </a:r>
            <a:r>
              <a:rPr sz="2800" b="1" i="0" u="none" dirty="0" err="1">
                <a:solidFill>
                  <a:srgbClr val="064E3B"/>
                </a:solidFill>
                <a:latin typeface="+mj-lt"/>
              </a:rPr>
              <a:t>nhóm</a:t>
            </a:r>
            <a:endParaRPr sz="2800" b="1" i="0" u="none" dirty="0">
              <a:solidFill>
                <a:srgbClr val="064E3B"/>
              </a:solidFill>
              <a:latin typeface="+mj-lt"/>
            </a:endParaRPr>
          </a:p>
        </p:txBody>
      </p:sp>
      <p:pic>
        <p:nvPicPr>
          <p:cNvPr id="145" name="Picture 144" descr="image.png">
            <a:extLst>
              <a:ext uri="{FF2B5EF4-FFF2-40B4-BE49-F238E27FC236}">
                <a16:creationId xmlns:a16="http://schemas.microsoft.com/office/drawing/2014/main" id="{0D0FE878-6417-B0DB-0EC8-7924FBEA851F}"/>
              </a:ext>
            </a:extLst>
          </p:cNvPr>
          <p:cNvPicPr>
            <a:picLocks noChangeAspect="1"/>
          </p:cNvPicPr>
          <p:nvPr/>
        </p:nvPicPr>
        <p:blipFill>
          <a:blip r:embed="rId7"/>
          <a:stretch>
            <a:fillRect/>
          </a:stretch>
        </p:blipFill>
        <p:spPr>
          <a:xfrm>
            <a:off x="1315786" y="3101985"/>
            <a:ext cx="430293" cy="376506"/>
          </a:xfrm>
          <a:prstGeom prst="rect">
            <a:avLst/>
          </a:prstGeom>
        </p:spPr>
      </p:pic>
      <p:sp>
        <p:nvSpPr>
          <p:cNvPr id="147" name="TextBox 146">
            <a:extLst>
              <a:ext uri="{FF2B5EF4-FFF2-40B4-BE49-F238E27FC236}">
                <a16:creationId xmlns:a16="http://schemas.microsoft.com/office/drawing/2014/main" id="{6A821D62-C503-85EB-82A0-CF34480DF586}"/>
              </a:ext>
            </a:extLst>
          </p:cNvPr>
          <p:cNvSpPr txBox="1"/>
          <p:nvPr/>
        </p:nvSpPr>
        <p:spPr>
          <a:xfrm>
            <a:off x="1601537" y="5265164"/>
            <a:ext cx="6454564" cy="861774"/>
          </a:xfrm>
          <a:prstGeom prst="rect">
            <a:avLst/>
          </a:prstGeom>
          <a:noFill/>
        </p:spPr>
        <p:txBody>
          <a:bodyPr wrap="square" lIns="0" tIns="0" rIns="0" bIns="0" anchor="t">
            <a:spAutoFit/>
          </a:bodyPr>
          <a:lstStyle/>
          <a:p>
            <a:pPr algn="l"/>
            <a:r>
              <a:rPr sz="2800" b="0" i="0" u="none" dirty="0" err="1">
                <a:solidFill>
                  <a:srgbClr val="334155"/>
                </a:solidFill>
                <a:latin typeface="+mj-lt"/>
              </a:rPr>
              <a:t>Phân</a:t>
            </a:r>
            <a:r>
              <a:rPr sz="2800" b="0" i="0" u="none" dirty="0">
                <a:solidFill>
                  <a:srgbClr val="334155"/>
                </a:solidFill>
                <a:latin typeface="+mj-lt"/>
              </a:rPr>
              <a:t> </a:t>
            </a:r>
            <a:r>
              <a:rPr sz="2800" b="0" i="0" u="none" dirty="0" err="1">
                <a:solidFill>
                  <a:srgbClr val="334155"/>
                </a:solidFill>
                <a:latin typeface="+mj-lt"/>
              </a:rPr>
              <a:t>vùng</a:t>
            </a:r>
            <a:r>
              <a:rPr sz="2800" b="0" i="0" u="none" dirty="0">
                <a:solidFill>
                  <a:srgbClr val="334155"/>
                </a:solidFill>
                <a:latin typeface="+mj-lt"/>
              </a:rPr>
              <a:t> compute core </a:t>
            </a:r>
            <a:r>
              <a:rPr sz="2800" b="0" i="0" u="none" dirty="0" err="1">
                <a:solidFill>
                  <a:srgbClr val="334155"/>
                </a:solidFill>
                <a:latin typeface="+mj-lt"/>
              </a:rPr>
              <a:t>theo</a:t>
            </a:r>
            <a:r>
              <a:rPr sz="2800" b="0" i="0" u="none" dirty="0">
                <a:solidFill>
                  <a:srgbClr val="334155"/>
                </a:solidFill>
                <a:latin typeface="+mj-lt"/>
              </a:rPr>
              <a:t> SLR </a:t>
            </a:r>
            <a:r>
              <a:rPr sz="2800" b="0" i="0" u="none" dirty="0" err="1">
                <a:solidFill>
                  <a:srgbClr val="334155"/>
                </a:solidFill>
                <a:latin typeface="+mj-lt"/>
              </a:rPr>
              <a:t>để</a:t>
            </a:r>
            <a:r>
              <a:rPr sz="2800" b="0" i="0" u="none" dirty="0">
                <a:solidFill>
                  <a:srgbClr val="334155"/>
                </a:solidFill>
                <a:latin typeface="+mj-lt"/>
              </a:rPr>
              <a:t> </a:t>
            </a:r>
            <a:r>
              <a:rPr sz="2800" b="0" i="0" u="none" dirty="0" err="1">
                <a:solidFill>
                  <a:srgbClr val="334155"/>
                </a:solidFill>
                <a:latin typeface="+mj-lt"/>
              </a:rPr>
              <a:t>tối</a:t>
            </a:r>
            <a:r>
              <a:rPr sz="2800" b="0" i="0" u="none" dirty="0">
                <a:solidFill>
                  <a:srgbClr val="334155"/>
                </a:solidFill>
                <a:latin typeface="+mj-lt"/>
              </a:rPr>
              <a:t> </a:t>
            </a:r>
            <a:r>
              <a:rPr sz="2800" b="0" i="0" u="none" dirty="0" err="1">
                <a:solidFill>
                  <a:srgbClr val="334155"/>
                </a:solidFill>
                <a:latin typeface="+mj-lt"/>
              </a:rPr>
              <a:t>ưu</a:t>
            </a:r>
            <a:r>
              <a:rPr sz="2800" b="0" i="0" u="none" dirty="0">
                <a:solidFill>
                  <a:srgbClr val="334155"/>
                </a:solidFill>
                <a:latin typeface="+mj-lt"/>
              </a:rPr>
              <a:t> locality.</a:t>
            </a:r>
          </a:p>
        </p:txBody>
      </p:sp>
      <p:sp>
        <p:nvSpPr>
          <p:cNvPr id="149" name="TextBox 148">
            <a:extLst>
              <a:ext uri="{FF2B5EF4-FFF2-40B4-BE49-F238E27FC236}">
                <a16:creationId xmlns:a16="http://schemas.microsoft.com/office/drawing/2014/main" id="{1525DB0E-ECD0-E338-60A7-E732EAD5F71B}"/>
              </a:ext>
            </a:extLst>
          </p:cNvPr>
          <p:cNvSpPr txBox="1"/>
          <p:nvPr/>
        </p:nvSpPr>
        <p:spPr>
          <a:xfrm>
            <a:off x="1601537" y="6309657"/>
            <a:ext cx="6454564" cy="861774"/>
          </a:xfrm>
          <a:prstGeom prst="rect">
            <a:avLst/>
          </a:prstGeom>
          <a:noFill/>
        </p:spPr>
        <p:txBody>
          <a:bodyPr wrap="square" lIns="0" tIns="0" rIns="0" bIns="0" anchor="t">
            <a:spAutoFit/>
          </a:bodyPr>
          <a:lstStyle/>
          <a:p>
            <a:pPr algn="l"/>
            <a:r>
              <a:rPr sz="2800" b="0" i="0" u="none" dirty="0" err="1">
                <a:solidFill>
                  <a:srgbClr val="334155"/>
                </a:solidFill>
                <a:latin typeface="+mj-lt"/>
              </a:rPr>
              <a:t>Áp</a:t>
            </a:r>
            <a:r>
              <a:rPr sz="2800" b="0" i="0" u="none" dirty="0">
                <a:solidFill>
                  <a:srgbClr val="334155"/>
                </a:solidFill>
                <a:latin typeface="+mj-lt"/>
              </a:rPr>
              <a:t> </a:t>
            </a:r>
            <a:r>
              <a:rPr sz="2800" b="0" i="0" u="none" dirty="0" err="1">
                <a:solidFill>
                  <a:srgbClr val="334155"/>
                </a:solidFill>
                <a:latin typeface="+mj-lt"/>
              </a:rPr>
              <a:t>dụng</a:t>
            </a:r>
            <a:r>
              <a:rPr sz="2800" b="0" i="0" u="none" dirty="0">
                <a:solidFill>
                  <a:srgbClr val="334155"/>
                </a:solidFill>
                <a:latin typeface="+mj-lt"/>
              </a:rPr>
              <a:t> </a:t>
            </a:r>
            <a:r>
              <a:rPr sz="2800" b="0" i="0" u="none" dirty="0" err="1">
                <a:solidFill>
                  <a:srgbClr val="334155"/>
                </a:solidFill>
                <a:latin typeface="+mj-lt"/>
              </a:rPr>
              <a:t>microscaling</a:t>
            </a:r>
            <a:r>
              <a:rPr sz="2800" b="0" i="0" u="none" dirty="0">
                <a:solidFill>
                  <a:srgbClr val="334155"/>
                </a:solidFill>
                <a:latin typeface="+mj-lt"/>
              </a:rPr>
              <a:t> quantization </a:t>
            </a:r>
            <a:r>
              <a:rPr sz="2800" b="0" i="0" u="none" dirty="0" err="1">
                <a:solidFill>
                  <a:srgbClr val="334155"/>
                </a:solidFill>
                <a:latin typeface="+mj-lt"/>
              </a:rPr>
              <a:t>giảm</a:t>
            </a:r>
            <a:r>
              <a:rPr sz="2800" b="0" i="0" u="none" dirty="0">
                <a:solidFill>
                  <a:srgbClr val="334155"/>
                </a:solidFill>
                <a:latin typeface="+mj-lt"/>
              </a:rPr>
              <a:t> dung </a:t>
            </a:r>
            <a:r>
              <a:rPr sz="2800" b="0" i="0" u="none" dirty="0" err="1">
                <a:solidFill>
                  <a:srgbClr val="334155"/>
                </a:solidFill>
                <a:latin typeface="+mj-lt"/>
              </a:rPr>
              <a:t>lượng</a:t>
            </a:r>
            <a:r>
              <a:rPr sz="2800" b="0" i="0" u="none" dirty="0">
                <a:solidFill>
                  <a:srgbClr val="334155"/>
                </a:solidFill>
                <a:latin typeface="+mj-lt"/>
              </a:rPr>
              <a:t>.</a:t>
            </a:r>
          </a:p>
        </p:txBody>
      </p:sp>
      <p:sp>
        <p:nvSpPr>
          <p:cNvPr id="151" name="TextBox 150">
            <a:extLst>
              <a:ext uri="{FF2B5EF4-FFF2-40B4-BE49-F238E27FC236}">
                <a16:creationId xmlns:a16="http://schemas.microsoft.com/office/drawing/2014/main" id="{3852DE75-0069-A64B-B0D7-9FEBCC81110F}"/>
              </a:ext>
            </a:extLst>
          </p:cNvPr>
          <p:cNvSpPr txBox="1"/>
          <p:nvPr/>
        </p:nvSpPr>
        <p:spPr>
          <a:xfrm>
            <a:off x="1530932" y="7459527"/>
            <a:ext cx="6454564" cy="861774"/>
          </a:xfrm>
          <a:prstGeom prst="rect">
            <a:avLst/>
          </a:prstGeom>
          <a:noFill/>
        </p:spPr>
        <p:txBody>
          <a:bodyPr wrap="square" lIns="0" tIns="0" rIns="0" bIns="0" anchor="t">
            <a:spAutoFit/>
          </a:bodyPr>
          <a:lstStyle/>
          <a:p>
            <a:pPr algn="l"/>
            <a:r>
              <a:rPr lang="vi-VN" sz="2800" b="0" i="0" u="none" dirty="0">
                <a:solidFill>
                  <a:srgbClr val="334155"/>
                </a:solidFill>
                <a:latin typeface="+mj-lt"/>
              </a:rPr>
              <a:t>Tận dụng tối đa các port từ bộ nhớ ngoài vào kernel để khai thác tối đa băng thông</a:t>
            </a:r>
            <a:endParaRPr sz="2800" b="0" i="0" u="none" dirty="0">
              <a:solidFill>
                <a:srgbClr val="334155"/>
              </a:solidFill>
              <a:latin typeface="+mj-lt"/>
            </a:endParaRPr>
          </a:p>
        </p:txBody>
      </p:sp>
      <p:pic>
        <p:nvPicPr>
          <p:cNvPr id="153" name="Picture 152" descr="image.png">
            <a:extLst>
              <a:ext uri="{FF2B5EF4-FFF2-40B4-BE49-F238E27FC236}">
                <a16:creationId xmlns:a16="http://schemas.microsoft.com/office/drawing/2014/main" id="{12343BF4-6C9A-A682-55FE-7A71A6B9D851}"/>
              </a:ext>
            </a:extLst>
          </p:cNvPr>
          <p:cNvPicPr>
            <a:picLocks noChangeAspect="1"/>
          </p:cNvPicPr>
          <p:nvPr/>
        </p:nvPicPr>
        <p:blipFill>
          <a:blip r:embed="rId8"/>
          <a:stretch>
            <a:fillRect/>
          </a:stretch>
        </p:blipFill>
        <p:spPr>
          <a:xfrm>
            <a:off x="9620934" y="3052573"/>
            <a:ext cx="397156" cy="529541"/>
          </a:xfrm>
          <a:prstGeom prst="rect">
            <a:avLst/>
          </a:prstGeom>
        </p:spPr>
      </p:pic>
      <p:pic>
        <p:nvPicPr>
          <p:cNvPr id="161" name="Picture 160" descr="image.png">
            <a:extLst>
              <a:ext uri="{FF2B5EF4-FFF2-40B4-BE49-F238E27FC236}">
                <a16:creationId xmlns:a16="http://schemas.microsoft.com/office/drawing/2014/main" id="{184A5ED5-3BAD-B921-A129-07DC6CC6C4B7}"/>
              </a:ext>
            </a:extLst>
          </p:cNvPr>
          <p:cNvPicPr>
            <a:picLocks noChangeAspect="1"/>
          </p:cNvPicPr>
          <p:nvPr/>
        </p:nvPicPr>
        <p:blipFill>
          <a:blip r:embed="rId9"/>
          <a:stretch>
            <a:fillRect/>
          </a:stretch>
        </p:blipFill>
        <p:spPr>
          <a:xfrm>
            <a:off x="1315787" y="5265165"/>
            <a:ext cx="147913" cy="309273"/>
          </a:xfrm>
          <a:prstGeom prst="rect">
            <a:avLst/>
          </a:prstGeom>
        </p:spPr>
      </p:pic>
      <p:pic>
        <p:nvPicPr>
          <p:cNvPr id="163" name="Picture 162" descr="image.png">
            <a:extLst>
              <a:ext uri="{FF2B5EF4-FFF2-40B4-BE49-F238E27FC236}">
                <a16:creationId xmlns:a16="http://schemas.microsoft.com/office/drawing/2014/main" id="{3B18C162-A79F-A8D3-978A-E2F880EC71FB}"/>
              </a:ext>
            </a:extLst>
          </p:cNvPr>
          <p:cNvPicPr>
            <a:picLocks noChangeAspect="1"/>
          </p:cNvPicPr>
          <p:nvPr/>
        </p:nvPicPr>
        <p:blipFill>
          <a:blip r:embed="rId9"/>
          <a:stretch>
            <a:fillRect/>
          </a:stretch>
        </p:blipFill>
        <p:spPr>
          <a:xfrm>
            <a:off x="1315787" y="6309658"/>
            <a:ext cx="147913" cy="309273"/>
          </a:xfrm>
          <a:prstGeom prst="rect">
            <a:avLst/>
          </a:prstGeom>
        </p:spPr>
      </p:pic>
      <p:pic>
        <p:nvPicPr>
          <p:cNvPr id="165" name="Picture 164" descr="image.png">
            <a:extLst>
              <a:ext uri="{FF2B5EF4-FFF2-40B4-BE49-F238E27FC236}">
                <a16:creationId xmlns:a16="http://schemas.microsoft.com/office/drawing/2014/main" id="{1794C503-C0C6-3911-2F53-C8DBAD490EB2}"/>
              </a:ext>
            </a:extLst>
          </p:cNvPr>
          <p:cNvPicPr>
            <a:picLocks noChangeAspect="1"/>
          </p:cNvPicPr>
          <p:nvPr/>
        </p:nvPicPr>
        <p:blipFill>
          <a:blip r:embed="rId9"/>
          <a:stretch>
            <a:fillRect/>
          </a:stretch>
        </p:blipFill>
        <p:spPr>
          <a:xfrm>
            <a:off x="1291142" y="7535386"/>
            <a:ext cx="147913" cy="309273"/>
          </a:xfrm>
          <a:prstGeom prst="rect">
            <a:avLst/>
          </a:prstGeom>
        </p:spPr>
      </p:pic>
      <p:sp>
        <p:nvSpPr>
          <p:cNvPr id="175" name="TextBox 174">
            <a:extLst>
              <a:ext uri="{FF2B5EF4-FFF2-40B4-BE49-F238E27FC236}">
                <a16:creationId xmlns:a16="http://schemas.microsoft.com/office/drawing/2014/main" id="{086C1F3C-8634-1178-BB42-9FEA99C22646}"/>
              </a:ext>
            </a:extLst>
          </p:cNvPr>
          <p:cNvSpPr txBox="1"/>
          <p:nvPr/>
        </p:nvSpPr>
        <p:spPr>
          <a:xfrm>
            <a:off x="9273125" y="4045679"/>
            <a:ext cx="6881275" cy="861774"/>
          </a:xfrm>
          <a:prstGeom prst="rect">
            <a:avLst/>
          </a:prstGeom>
          <a:noFill/>
        </p:spPr>
        <p:txBody>
          <a:bodyPr wrap="square" lIns="0" tIns="0" rIns="0" bIns="0" anchor="t">
            <a:spAutoFit/>
          </a:bodyPr>
          <a:lstStyle/>
          <a:p>
            <a:pPr algn="l"/>
            <a:r>
              <a:rPr lang="vi-VN" sz="2800" b="0" i="0" u="none" dirty="0">
                <a:solidFill>
                  <a:srgbClr val="334155"/>
                </a:solidFill>
                <a:latin typeface="+mj-lt"/>
              </a:rPr>
              <a:t>Ứng dụng và hiện thực các hướng phát triển tiếp theo vào kiến trúc hiện tại </a:t>
            </a:r>
            <a:endParaRPr sz="2800" b="0" i="0" u="none" dirty="0">
              <a:solidFill>
                <a:srgbClr val="334155"/>
              </a:solidFill>
              <a:latin typeface="+mj-lt"/>
            </a:endParaRPr>
          </a:p>
        </p:txBody>
      </p:sp>
      <p:sp>
        <p:nvSpPr>
          <p:cNvPr id="177" name="TextBox 176">
            <a:extLst>
              <a:ext uri="{FF2B5EF4-FFF2-40B4-BE49-F238E27FC236}">
                <a16:creationId xmlns:a16="http://schemas.microsoft.com/office/drawing/2014/main" id="{32CF2C9A-CCE4-B24C-AAB3-326296586342}"/>
              </a:ext>
            </a:extLst>
          </p:cNvPr>
          <p:cNvSpPr txBox="1"/>
          <p:nvPr/>
        </p:nvSpPr>
        <p:spPr>
          <a:xfrm>
            <a:off x="9590638" y="5345719"/>
            <a:ext cx="7478161" cy="861774"/>
          </a:xfrm>
          <a:prstGeom prst="rect">
            <a:avLst/>
          </a:prstGeom>
          <a:noFill/>
        </p:spPr>
        <p:txBody>
          <a:bodyPr wrap="square" lIns="0" tIns="0" rIns="0" bIns="0" anchor="t">
            <a:spAutoFit/>
          </a:bodyPr>
          <a:lstStyle/>
          <a:p>
            <a:r>
              <a:rPr lang="vi-VN" sz="2800" dirty="0">
                <a:solidFill>
                  <a:srgbClr val="334155"/>
                </a:solidFill>
                <a:latin typeface="+mj-lt"/>
              </a:rPr>
              <a:t>Lượng tử hóa W4A15 theo group quantize 32 để map vào DSP48E2.</a:t>
            </a:r>
            <a:endParaRPr sz="2800" b="0" i="0" u="none" dirty="0">
              <a:solidFill>
                <a:srgbClr val="334155"/>
              </a:solidFill>
              <a:latin typeface="+mj-lt"/>
            </a:endParaRPr>
          </a:p>
        </p:txBody>
      </p:sp>
      <p:sp>
        <p:nvSpPr>
          <p:cNvPr id="179" name="TextBox 178">
            <a:extLst>
              <a:ext uri="{FF2B5EF4-FFF2-40B4-BE49-F238E27FC236}">
                <a16:creationId xmlns:a16="http://schemas.microsoft.com/office/drawing/2014/main" id="{49F2CF33-F78C-25FA-BE95-0DC405412FB2}"/>
              </a:ext>
            </a:extLst>
          </p:cNvPr>
          <p:cNvSpPr txBox="1"/>
          <p:nvPr/>
        </p:nvSpPr>
        <p:spPr>
          <a:xfrm>
            <a:off x="9590638" y="6390212"/>
            <a:ext cx="7173361" cy="861774"/>
          </a:xfrm>
          <a:prstGeom prst="rect">
            <a:avLst/>
          </a:prstGeom>
          <a:noFill/>
        </p:spPr>
        <p:txBody>
          <a:bodyPr wrap="square" lIns="0" tIns="0" rIns="0" bIns="0" anchor="t">
            <a:spAutoFit/>
          </a:bodyPr>
          <a:lstStyle/>
          <a:p>
            <a:pPr algn="l"/>
            <a:r>
              <a:rPr lang="vi-VN" sz="2800" b="0" i="0" u="none" dirty="0">
                <a:solidFill>
                  <a:srgbClr val="334155"/>
                </a:solidFill>
                <a:latin typeface="+mj-lt"/>
              </a:rPr>
              <a:t>Lượng tử hóa K/V cache xuống định dạng int8 và dùng online softmax</a:t>
            </a:r>
            <a:r>
              <a:rPr sz="2800" b="0" i="0" u="none" dirty="0">
                <a:solidFill>
                  <a:srgbClr val="334155"/>
                </a:solidFill>
                <a:latin typeface="+mj-lt"/>
              </a:rPr>
              <a:t>.</a:t>
            </a:r>
          </a:p>
        </p:txBody>
      </p:sp>
      <p:sp>
        <p:nvSpPr>
          <p:cNvPr id="181" name="TextBox 180">
            <a:extLst>
              <a:ext uri="{FF2B5EF4-FFF2-40B4-BE49-F238E27FC236}">
                <a16:creationId xmlns:a16="http://schemas.microsoft.com/office/drawing/2014/main" id="{7A02C8CC-93A7-AF6F-41DA-C7A9697DA8C2}"/>
              </a:ext>
            </a:extLst>
          </p:cNvPr>
          <p:cNvSpPr txBox="1"/>
          <p:nvPr/>
        </p:nvSpPr>
        <p:spPr>
          <a:xfrm>
            <a:off x="9520033" y="7540082"/>
            <a:ext cx="7173361" cy="861774"/>
          </a:xfrm>
          <a:prstGeom prst="rect">
            <a:avLst/>
          </a:prstGeom>
          <a:noFill/>
        </p:spPr>
        <p:txBody>
          <a:bodyPr wrap="square" lIns="0" tIns="0" rIns="0" bIns="0" anchor="t">
            <a:spAutoFit/>
          </a:bodyPr>
          <a:lstStyle/>
          <a:p>
            <a:pPr algn="l"/>
            <a:r>
              <a:rPr lang="vi-VN" sz="2800" b="0" i="0" u="none" dirty="0">
                <a:solidFill>
                  <a:srgbClr val="334155"/>
                </a:solidFill>
                <a:latin typeface="+mj-lt"/>
              </a:rPr>
              <a:t>Tận dụng 4 khối xử lí chạy song song trên 4 SLR, từng SLR gắn liền với từng DDR.</a:t>
            </a:r>
            <a:endParaRPr sz="2800" b="0" i="0" u="none" dirty="0">
              <a:solidFill>
                <a:srgbClr val="334155"/>
              </a:solidFill>
              <a:latin typeface="+mj-lt"/>
            </a:endParaRPr>
          </a:p>
        </p:txBody>
      </p:sp>
      <p:pic>
        <p:nvPicPr>
          <p:cNvPr id="183" name="Picture 182" descr="image.png">
            <a:extLst>
              <a:ext uri="{FF2B5EF4-FFF2-40B4-BE49-F238E27FC236}">
                <a16:creationId xmlns:a16="http://schemas.microsoft.com/office/drawing/2014/main" id="{6D6E1F14-6DF0-06DA-2EA6-FD8958969E07}"/>
              </a:ext>
            </a:extLst>
          </p:cNvPr>
          <p:cNvPicPr>
            <a:picLocks noChangeAspect="1"/>
          </p:cNvPicPr>
          <p:nvPr/>
        </p:nvPicPr>
        <p:blipFill>
          <a:blip r:embed="rId9"/>
          <a:stretch>
            <a:fillRect/>
          </a:stretch>
        </p:blipFill>
        <p:spPr>
          <a:xfrm>
            <a:off x="9304889" y="5345720"/>
            <a:ext cx="147913" cy="309273"/>
          </a:xfrm>
          <a:prstGeom prst="rect">
            <a:avLst/>
          </a:prstGeom>
        </p:spPr>
      </p:pic>
      <p:pic>
        <p:nvPicPr>
          <p:cNvPr id="185" name="Picture 184" descr="image.png">
            <a:extLst>
              <a:ext uri="{FF2B5EF4-FFF2-40B4-BE49-F238E27FC236}">
                <a16:creationId xmlns:a16="http://schemas.microsoft.com/office/drawing/2014/main" id="{84DD280E-269C-3EC0-FE09-E22A1EE9CFA3}"/>
              </a:ext>
            </a:extLst>
          </p:cNvPr>
          <p:cNvPicPr>
            <a:picLocks noChangeAspect="1"/>
          </p:cNvPicPr>
          <p:nvPr/>
        </p:nvPicPr>
        <p:blipFill>
          <a:blip r:embed="rId9"/>
          <a:stretch>
            <a:fillRect/>
          </a:stretch>
        </p:blipFill>
        <p:spPr>
          <a:xfrm>
            <a:off x="9304889" y="6390213"/>
            <a:ext cx="147913" cy="309273"/>
          </a:xfrm>
          <a:prstGeom prst="rect">
            <a:avLst/>
          </a:prstGeom>
        </p:spPr>
      </p:pic>
      <p:pic>
        <p:nvPicPr>
          <p:cNvPr id="187" name="Picture 186" descr="image.png">
            <a:extLst>
              <a:ext uri="{FF2B5EF4-FFF2-40B4-BE49-F238E27FC236}">
                <a16:creationId xmlns:a16="http://schemas.microsoft.com/office/drawing/2014/main" id="{BBFA8E83-1BF1-8BFC-1F32-C41E3A181E40}"/>
              </a:ext>
            </a:extLst>
          </p:cNvPr>
          <p:cNvPicPr>
            <a:picLocks noChangeAspect="1"/>
          </p:cNvPicPr>
          <p:nvPr/>
        </p:nvPicPr>
        <p:blipFill>
          <a:blip r:embed="rId9"/>
          <a:stretch>
            <a:fillRect/>
          </a:stretch>
        </p:blipFill>
        <p:spPr>
          <a:xfrm>
            <a:off x="9280244" y="7615941"/>
            <a:ext cx="147913" cy="30927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91440" y="-2287991"/>
            <a:ext cx="18105120" cy="527771"/>
          </a:xfrm>
          <a:prstGeom prst="rect">
            <a:avLst/>
          </a:prstGeom>
        </p:spPr>
        <p:txBody>
          <a:bodyPr lIns="0" tIns="0" rIns="0" bIns="0" rtlCol="0" anchor="t">
            <a:spAutoFit/>
          </a:bodyPr>
          <a:lstStyle/>
          <a:p>
            <a:pPr algn="ctr">
              <a:lnSpc>
                <a:spcPts val="3600"/>
              </a:lnSpc>
            </a:pPr>
            <a:r>
              <a:rPr lang="en-US" sz="3000">
                <a:solidFill>
                  <a:srgbClr val="C3C3C3"/>
                </a:solidFill>
                <a:latin typeface="Arial"/>
                <a:ea typeface="Arial"/>
                <a:cs typeface="Arial"/>
                <a:sym typeface="Arial"/>
              </a:rPr>
              <a:t>www.9slide.vn</a:t>
            </a:r>
          </a:p>
        </p:txBody>
      </p:sp>
      <p:grpSp>
        <p:nvGrpSpPr>
          <p:cNvPr id="3" name="Group 3"/>
          <p:cNvGrpSpPr/>
          <p:nvPr/>
        </p:nvGrpSpPr>
        <p:grpSpPr>
          <a:xfrm>
            <a:off x="0" y="2124"/>
            <a:ext cx="18291715" cy="10295487"/>
            <a:chOff x="0" y="0"/>
            <a:chExt cx="24388953" cy="13727316"/>
          </a:xfrm>
        </p:grpSpPr>
        <p:sp>
          <p:nvSpPr>
            <p:cNvPr id="4" name="Freeform 4"/>
            <p:cNvSpPr/>
            <p:nvPr/>
          </p:nvSpPr>
          <p:spPr>
            <a:xfrm>
              <a:off x="0" y="0"/>
              <a:ext cx="24388953" cy="13727303"/>
            </a:xfrm>
            <a:custGeom>
              <a:avLst/>
              <a:gdLst/>
              <a:ahLst/>
              <a:cxnLst/>
              <a:rect l="l" t="t" r="r" b="b"/>
              <a:pathLst>
                <a:path w="24388953" h="1372730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txBody>
            <a:bodyPr/>
            <a:lstStyle/>
            <a:p>
              <a:endParaRPr lang="vi-VN"/>
            </a:p>
          </p:txBody>
        </p:sp>
      </p:grpSp>
      <p:grpSp>
        <p:nvGrpSpPr>
          <p:cNvPr id="5" name="Group 5"/>
          <p:cNvGrpSpPr/>
          <p:nvPr/>
        </p:nvGrpSpPr>
        <p:grpSpPr>
          <a:xfrm rot="5400000">
            <a:off x="8668474" y="-8670065"/>
            <a:ext cx="947328" cy="18291715"/>
            <a:chOff x="0" y="0"/>
            <a:chExt cx="1263104" cy="24388953"/>
          </a:xfrm>
        </p:grpSpPr>
        <p:sp>
          <p:nvSpPr>
            <p:cNvPr id="6" name="Freeform 6"/>
            <p:cNvSpPr/>
            <p:nvPr/>
          </p:nvSpPr>
          <p:spPr>
            <a:xfrm>
              <a:off x="0" y="0"/>
              <a:ext cx="1263142" cy="24388953"/>
            </a:xfrm>
            <a:custGeom>
              <a:avLst/>
              <a:gdLst/>
              <a:ahLst/>
              <a:cxnLst/>
              <a:rect l="l" t="t" r="r" b="b"/>
              <a:pathLst>
                <a:path w="1263142" h="24388953">
                  <a:moveTo>
                    <a:pt x="0" y="0"/>
                  </a:moveTo>
                  <a:lnTo>
                    <a:pt x="1263142" y="0"/>
                  </a:lnTo>
                  <a:lnTo>
                    <a:pt x="1263142" y="24388953"/>
                  </a:lnTo>
                  <a:lnTo>
                    <a:pt x="0" y="24388953"/>
                  </a:lnTo>
                  <a:close/>
                </a:path>
              </a:pathLst>
            </a:custGeom>
            <a:gradFill rotWithShape="1">
              <a:gsLst>
                <a:gs pos="0">
                  <a:srgbClr val="10CD57">
                    <a:alpha val="100000"/>
                  </a:srgbClr>
                </a:gs>
                <a:gs pos="100000">
                  <a:srgbClr val="027159">
                    <a:alpha val="100000"/>
                  </a:srgbClr>
                </a:gs>
              </a:gsLst>
              <a:lin ang="0"/>
            </a:gradFill>
          </p:spPr>
          <p:txBody>
            <a:bodyPr/>
            <a:lstStyle/>
            <a:p>
              <a:endParaRPr lang="vi-VN"/>
            </a:p>
          </p:txBody>
        </p:sp>
      </p:grpSp>
      <p:grpSp>
        <p:nvGrpSpPr>
          <p:cNvPr id="7" name="Group 7"/>
          <p:cNvGrpSpPr/>
          <p:nvPr/>
        </p:nvGrpSpPr>
        <p:grpSpPr>
          <a:xfrm rot="5400000">
            <a:off x="8670331" y="-8672198"/>
            <a:ext cx="947328" cy="18291715"/>
            <a:chOff x="0" y="0"/>
            <a:chExt cx="1263104" cy="24388953"/>
          </a:xfrm>
        </p:grpSpPr>
        <p:sp>
          <p:nvSpPr>
            <p:cNvPr id="8" name="Freeform 8"/>
            <p:cNvSpPr/>
            <p:nvPr/>
          </p:nvSpPr>
          <p:spPr>
            <a:xfrm flipV="1">
              <a:off x="0" y="0"/>
              <a:ext cx="1263142" cy="24388953"/>
            </a:xfrm>
            <a:custGeom>
              <a:avLst/>
              <a:gdLst/>
              <a:ahLst/>
              <a:cxnLst/>
              <a:rect l="l" t="t" r="r" b="b"/>
              <a:pathLst>
                <a:path w="1263142" h="24388953">
                  <a:moveTo>
                    <a:pt x="0" y="0"/>
                  </a:moveTo>
                  <a:lnTo>
                    <a:pt x="1263142" y="0"/>
                  </a:lnTo>
                  <a:lnTo>
                    <a:pt x="1263142" y="24388953"/>
                  </a:lnTo>
                  <a:lnTo>
                    <a:pt x="0" y="24388953"/>
                  </a:lnTo>
                  <a:close/>
                </a:path>
              </a:pathLst>
            </a:custGeom>
            <a:blipFill>
              <a:blip r:embed="rId2"/>
              <a:stretch>
                <a:fillRect l="-35093" r="-35090"/>
              </a:stretch>
            </a:blipFill>
          </p:spPr>
          <p:txBody>
            <a:bodyPr/>
            <a:lstStyle/>
            <a:p>
              <a:endParaRPr lang="vi-VN"/>
            </a:p>
          </p:txBody>
        </p:sp>
      </p:grpSp>
      <p:sp>
        <p:nvSpPr>
          <p:cNvPr id="9" name="TextBox 9"/>
          <p:cNvSpPr txBox="1"/>
          <p:nvPr/>
        </p:nvSpPr>
        <p:spPr>
          <a:xfrm>
            <a:off x="451866" y="248326"/>
            <a:ext cx="10947559" cy="424158"/>
          </a:xfrm>
          <a:prstGeom prst="rect">
            <a:avLst/>
          </a:prstGeom>
        </p:spPr>
        <p:txBody>
          <a:bodyPr lIns="0" tIns="0" rIns="0" bIns="0" rtlCol="0" anchor="t">
            <a:spAutoFit/>
          </a:bodyPr>
          <a:lstStyle/>
          <a:p>
            <a:pPr algn="l">
              <a:lnSpc>
                <a:spcPts val="2879"/>
              </a:lnSpc>
            </a:pPr>
            <a:r>
              <a:rPr lang="en-US" sz="2400" b="1">
                <a:solidFill>
                  <a:srgbClr val="FFFFFF"/>
                </a:solidFill>
                <a:latin typeface="Arial Bold"/>
                <a:ea typeface="Arial Bold"/>
                <a:cs typeface="Arial Bold"/>
                <a:sym typeface="Arial Bold"/>
              </a:rPr>
              <a:t>FACULTY OF COMPUTER ENGINEERING</a:t>
            </a:r>
          </a:p>
        </p:txBody>
      </p:sp>
      <p:grpSp>
        <p:nvGrpSpPr>
          <p:cNvPr id="10" name="Group 10"/>
          <p:cNvGrpSpPr/>
          <p:nvPr/>
        </p:nvGrpSpPr>
        <p:grpSpPr>
          <a:xfrm>
            <a:off x="6719973" y="457933"/>
            <a:ext cx="4848044" cy="957948"/>
            <a:chOff x="0" y="0"/>
            <a:chExt cx="6464059" cy="1277264"/>
          </a:xfrm>
        </p:grpSpPr>
        <p:sp>
          <p:nvSpPr>
            <p:cNvPr id="11" name="Freeform 11"/>
            <p:cNvSpPr/>
            <p:nvPr/>
          </p:nvSpPr>
          <p:spPr>
            <a:xfrm>
              <a:off x="0" y="0"/>
              <a:ext cx="6464173" cy="1277366"/>
            </a:xfrm>
            <a:custGeom>
              <a:avLst/>
              <a:gdLst/>
              <a:ahLst/>
              <a:cxnLst/>
              <a:rect l="l" t="t" r="r" b="b"/>
              <a:pathLst>
                <a:path w="6464173" h="1277366">
                  <a:moveTo>
                    <a:pt x="0" y="638683"/>
                  </a:moveTo>
                  <a:cubicBezTo>
                    <a:pt x="0" y="285877"/>
                    <a:pt x="285877" y="0"/>
                    <a:pt x="638683" y="0"/>
                  </a:cubicBezTo>
                  <a:lnTo>
                    <a:pt x="5825490" y="0"/>
                  </a:lnTo>
                  <a:cubicBezTo>
                    <a:pt x="6178169" y="0"/>
                    <a:pt x="6464173" y="285877"/>
                    <a:pt x="6464173" y="638683"/>
                  </a:cubicBezTo>
                  <a:cubicBezTo>
                    <a:pt x="6464173" y="991489"/>
                    <a:pt x="6178296" y="1277366"/>
                    <a:pt x="5825490" y="1277366"/>
                  </a:cubicBezTo>
                  <a:lnTo>
                    <a:pt x="638683" y="1277366"/>
                  </a:lnTo>
                  <a:cubicBezTo>
                    <a:pt x="285877" y="1277239"/>
                    <a:pt x="0" y="991362"/>
                    <a:pt x="0" y="638683"/>
                  </a:cubicBezTo>
                  <a:close/>
                </a:path>
              </a:pathLst>
            </a:custGeom>
            <a:gradFill rotWithShape="1">
              <a:gsLst>
                <a:gs pos="0">
                  <a:srgbClr val="38EF7D">
                    <a:alpha val="100000"/>
                  </a:srgbClr>
                </a:gs>
                <a:gs pos="100000">
                  <a:srgbClr val="752AFF">
                    <a:alpha val="100000"/>
                  </a:srgbClr>
                </a:gs>
              </a:gsLst>
              <a:lin ang="4729360"/>
            </a:gradFill>
          </p:spPr>
          <p:txBody>
            <a:bodyPr/>
            <a:lstStyle/>
            <a:p>
              <a:endParaRPr lang="vi-VN"/>
            </a:p>
          </p:txBody>
        </p:sp>
      </p:grpSp>
      <p:grpSp>
        <p:nvGrpSpPr>
          <p:cNvPr id="12" name="Group 12"/>
          <p:cNvGrpSpPr/>
          <p:nvPr/>
        </p:nvGrpSpPr>
        <p:grpSpPr>
          <a:xfrm>
            <a:off x="6807460" y="535962"/>
            <a:ext cx="4673079" cy="801872"/>
            <a:chOff x="0" y="0"/>
            <a:chExt cx="6230772" cy="1069162"/>
          </a:xfrm>
        </p:grpSpPr>
        <p:sp>
          <p:nvSpPr>
            <p:cNvPr id="13" name="Freeform 13"/>
            <p:cNvSpPr/>
            <p:nvPr/>
          </p:nvSpPr>
          <p:spPr>
            <a:xfrm>
              <a:off x="0" y="0"/>
              <a:ext cx="6230747" cy="1069086"/>
            </a:xfrm>
            <a:custGeom>
              <a:avLst/>
              <a:gdLst/>
              <a:ahLst/>
              <a:cxnLst/>
              <a:rect l="l" t="t" r="r" b="b"/>
              <a:pathLst>
                <a:path w="6230747" h="1069086">
                  <a:moveTo>
                    <a:pt x="0" y="534543"/>
                  </a:moveTo>
                  <a:cubicBezTo>
                    <a:pt x="0" y="239395"/>
                    <a:pt x="239395" y="0"/>
                    <a:pt x="534543" y="0"/>
                  </a:cubicBezTo>
                  <a:lnTo>
                    <a:pt x="5696204" y="0"/>
                  </a:lnTo>
                  <a:cubicBezTo>
                    <a:pt x="5991479" y="0"/>
                    <a:pt x="6230747" y="239395"/>
                    <a:pt x="6230747" y="534543"/>
                  </a:cubicBezTo>
                  <a:cubicBezTo>
                    <a:pt x="6230747" y="829691"/>
                    <a:pt x="5991352" y="1069086"/>
                    <a:pt x="5696204" y="1069086"/>
                  </a:cubicBezTo>
                  <a:lnTo>
                    <a:pt x="534543" y="1069086"/>
                  </a:lnTo>
                  <a:cubicBezTo>
                    <a:pt x="239395" y="1069213"/>
                    <a:pt x="0" y="829818"/>
                    <a:pt x="0" y="534543"/>
                  </a:cubicBezTo>
                  <a:close/>
                </a:path>
              </a:pathLst>
            </a:custGeom>
            <a:solidFill>
              <a:srgbClr val="FFFFFF"/>
            </a:solidFill>
          </p:spPr>
          <p:txBody>
            <a:bodyPr/>
            <a:lstStyle/>
            <a:p>
              <a:endParaRPr lang="vi-VN"/>
            </a:p>
          </p:txBody>
        </p:sp>
      </p:grpSp>
      <p:grpSp>
        <p:nvGrpSpPr>
          <p:cNvPr id="14" name="Group 14"/>
          <p:cNvGrpSpPr/>
          <p:nvPr/>
        </p:nvGrpSpPr>
        <p:grpSpPr>
          <a:xfrm>
            <a:off x="9436446" y="362541"/>
            <a:ext cx="1163307" cy="1152592"/>
            <a:chOff x="0" y="0"/>
            <a:chExt cx="1551076" cy="1536789"/>
          </a:xfrm>
        </p:grpSpPr>
        <p:sp>
          <p:nvSpPr>
            <p:cNvPr id="15" name="Freeform 15" descr="Icon  Description automatically generated with medium confidence"/>
            <p:cNvSpPr/>
            <p:nvPr/>
          </p:nvSpPr>
          <p:spPr>
            <a:xfrm>
              <a:off x="0" y="0"/>
              <a:ext cx="1551051" cy="1536827"/>
            </a:xfrm>
            <a:custGeom>
              <a:avLst/>
              <a:gdLst/>
              <a:ahLst/>
              <a:cxnLst/>
              <a:rect l="l" t="t" r="r" b="b"/>
              <a:pathLst>
                <a:path w="1551051" h="1536827">
                  <a:moveTo>
                    <a:pt x="0" y="0"/>
                  </a:moveTo>
                  <a:lnTo>
                    <a:pt x="1551051" y="0"/>
                  </a:lnTo>
                  <a:lnTo>
                    <a:pt x="1551051" y="1536827"/>
                  </a:lnTo>
                  <a:lnTo>
                    <a:pt x="0" y="1536827"/>
                  </a:lnTo>
                  <a:lnTo>
                    <a:pt x="0" y="0"/>
                  </a:lnTo>
                  <a:close/>
                </a:path>
              </a:pathLst>
            </a:custGeom>
            <a:blipFill>
              <a:blip r:embed="rId3"/>
              <a:stretch>
                <a:fillRect l="-75" r="-76" b="2"/>
              </a:stretch>
            </a:blipFill>
          </p:spPr>
          <p:txBody>
            <a:bodyPr/>
            <a:lstStyle/>
            <a:p>
              <a:endParaRPr lang="vi-VN"/>
            </a:p>
          </p:txBody>
        </p:sp>
      </p:grpSp>
      <p:grpSp>
        <p:nvGrpSpPr>
          <p:cNvPr id="16" name="Group 16"/>
          <p:cNvGrpSpPr/>
          <p:nvPr/>
        </p:nvGrpSpPr>
        <p:grpSpPr>
          <a:xfrm>
            <a:off x="7688247" y="398078"/>
            <a:ext cx="1307516" cy="1081516"/>
            <a:chOff x="0" y="0"/>
            <a:chExt cx="1743354" cy="1442022"/>
          </a:xfrm>
        </p:grpSpPr>
        <p:sp>
          <p:nvSpPr>
            <p:cNvPr id="17" name="Freeform 17" descr="A picture containing clipart, vector graphics  Description automatically generated"/>
            <p:cNvSpPr/>
            <p:nvPr/>
          </p:nvSpPr>
          <p:spPr>
            <a:xfrm>
              <a:off x="0" y="0"/>
              <a:ext cx="1743329" cy="1442085"/>
            </a:xfrm>
            <a:custGeom>
              <a:avLst/>
              <a:gdLst/>
              <a:ahLst/>
              <a:cxnLst/>
              <a:rect l="l" t="t" r="r" b="b"/>
              <a:pathLst>
                <a:path w="1743329" h="1442085">
                  <a:moveTo>
                    <a:pt x="0" y="0"/>
                  </a:moveTo>
                  <a:lnTo>
                    <a:pt x="1743329" y="0"/>
                  </a:lnTo>
                  <a:lnTo>
                    <a:pt x="1743329" y="1442085"/>
                  </a:lnTo>
                  <a:lnTo>
                    <a:pt x="0" y="1442085"/>
                  </a:lnTo>
                  <a:lnTo>
                    <a:pt x="0" y="0"/>
                  </a:lnTo>
                  <a:close/>
                </a:path>
              </a:pathLst>
            </a:custGeom>
            <a:blipFill>
              <a:blip r:embed="rId4"/>
              <a:stretch>
                <a:fillRect t="-74" r="-1" b="-71"/>
              </a:stretch>
            </a:blipFill>
          </p:spPr>
          <p:txBody>
            <a:bodyPr/>
            <a:lstStyle/>
            <a:p>
              <a:endParaRPr lang="vi-VN"/>
            </a:p>
          </p:txBody>
        </p:sp>
      </p:grpSp>
      <p:sp>
        <p:nvSpPr>
          <p:cNvPr id="18" name="Freeform 18"/>
          <p:cNvSpPr/>
          <p:nvPr/>
        </p:nvSpPr>
        <p:spPr>
          <a:xfrm>
            <a:off x="17262338" y="9405385"/>
            <a:ext cx="819198" cy="819198"/>
          </a:xfrm>
          <a:custGeom>
            <a:avLst/>
            <a:gdLst/>
            <a:ahLst/>
            <a:cxnLst/>
            <a:rect l="l" t="t" r="r" b="b"/>
            <a:pathLst>
              <a:path w="819198" h="819198">
                <a:moveTo>
                  <a:pt x="0" y="0"/>
                </a:moveTo>
                <a:lnTo>
                  <a:pt x="819198" y="0"/>
                </a:lnTo>
                <a:lnTo>
                  <a:pt x="819198" y="819198"/>
                </a:lnTo>
                <a:lnTo>
                  <a:pt x="0" y="81919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vi-VN"/>
          </a:p>
        </p:txBody>
      </p:sp>
      <p:grpSp>
        <p:nvGrpSpPr>
          <p:cNvPr id="19" name="Group 19"/>
          <p:cNvGrpSpPr/>
          <p:nvPr/>
        </p:nvGrpSpPr>
        <p:grpSpPr>
          <a:xfrm>
            <a:off x="0" y="2124"/>
            <a:ext cx="18291715" cy="10295487"/>
            <a:chOff x="0" y="0"/>
            <a:chExt cx="24388953" cy="13727316"/>
          </a:xfrm>
        </p:grpSpPr>
        <p:sp>
          <p:nvSpPr>
            <p:cNvPr id="20" name="Freeform 20"/>
            <p:cNvSpPr/>
            <p:nvPr/>
          </p:nvSpPr>
          <p:spPr>
            <a:xfrm>
              <a:off x="0" y="0"/>
              <a:ext cx="24388953" cy="13727303"/>
            </a:xfrm>
            <a:custGeom>
              <a:avLst/>
              <a:gdLst/>
              <a:ahLst/>
              <a:cxnLst/>
              <a:rect l="l" t="t" r="r" b="b"/>
              <a:pathLst>
                <a:path w="24388953" h="1372730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txBody>
            <a:bodyPr/>
            <a:lstStyle/>
            <a:p>
              <a:endParaRPr lang="vi-VN"/>
            </a:p>
          </p:txBody>
        </p:sp>
      </p:grpSp>
      <p:grpSp>
        <p:nvGrpSpPr>
          <p:cNvPr id="25" name="Group 25"/>
          <p:cNvGrpSpPr/>
          <p:nvPr/>
        </p:nvGrpSpPr>
        <p:grpSpPr>
          <a:xfrm>
            <a:off x="6350346" y="9534525"/>
            <a:ext cx="6172200" cy="547688"/>
            <a:chOff x="0" y="0"/>
            <a:chExt cx="8229600" cy="730250"/>
          </a:xfrm>
        </p:grpSpPr>
        <p:sp>
          <p:nvSpPr>
            <p:cNvPr id="26" name="Freeform 26"/>
            <p:cNvSpPr/>
            <p:nvPr/>
          </p:nvSpPr>
          <p:spPr>
            <a:xfrm>
              <a:off x="0" y="0"/>
              <a:ext cx="8229600" cy="730250"/>
            </a:xfrm>
            <a:custGeom>
              <a:avLst/>
              <a:gdLst/>
              <a:ahLst/>
              <a:cxnLst/>
              <a:rect l="l" t="t" r="r" b="b"/>
              <a:pathLst>
                <a:path w="8229600" h="730250">
                  <a:moveTo>
                    <a:pt x="0" y="0"/>
                  </a:moveTo>
                  <a:lnTo>
                    <a:pt x="8229600" y="0"/>
                  </a:lnTo>
                  <a:lnTo>
                    <a:pt x="8229600" y="730250"/>
                  </a:lnTo>
                  <a:lnTo>
                    <a:pt x="0" y="730250"/>
                  </a:lnTo>
                  <a:close/>
                </a:path>
              </a:pathLst>
            </a:custGeom>
            <a:blipFill>
              <a:blip r:embed="rId6">
                <a:alphaModFix amt="0"/>
              </a:blip>
              <a:stretch>
                <a:fillRect t="-169587" b="-169587"/>
              </a:stretch>
            </a:blipFill>
          </p:spPr>
          <p:txBody>
            <a:bodyPr/>
            <a:lstStyle/>
            <a:p>
              <a:endParaRPr lang="vi-VN"/>
            </a:p>
          </p:txBody>
        </p:sp>
        <p:sp>
          <p:nvSpPr>
            <p:cNvPr id="27" name="TextBox 27"/>
            <p:cNvSpPr txBox="1"/>
            <p:nvPr/>
          </p:nvSpPr>
          <p:spPr>
            <a:xfrm>
              <a:off x="0" y="-19050"/>
              <a:ext cx="8229600" cy="749300"/>
            </a:xfrm>
            <a:prstGeom prst="rect">
              <a:avLst/>
            </a:prstGeom>
          </p:spPr>
          <p:txBody>
            <a:bodyPr lIns="0" tIns="0" rIns="0" bIns="0" rtlCol="0" anchor="ctr"/>
            <a:lstStyle/>
            <a:p>
              <a:pPr algn="ctr">
                <a:lnSpc>
                  <a:spcPts val="2160"/>
                </a:lnSpc>
              </a:pPr>
              <a:r>
                <a:rPr lang="en-US" sz="1800">
                  <a:solidFill>
                    <a:srgbClr val="898989"/>
                  </a:solidFill>
                  <a:latin typeface="Arial"/>
                  <a:ea typeface="Arial"/>
                  <a:cs typeface="Arial"/>
                  <a:sym typeface="Arial"/>
                </a:rPr>
                <a:t>Copyrights 2024 CE-UIT. All Rights Reserved.</a:t>
              </a:r>
            </a:p>
          </p:txBody>
        </p:sp>
      </p:grpSp>
      <p:grpSp>
        <p:nvGrpSpPr>
          <p:cNvPr id="28" name="Group 28"/>
          <p:cNvGrpSpPr/>
          <p:nvPr/>
        </p:nvGrpSpPr>
        <p:grpSpPr>
          <a:xfrm>
            <a:off x="15634421" y="9534525"/>
            <a:ext cx="4114800" cy="547688"/>
            <a:chOff x="0" y="0"/>
            <a:chExt cx="5486400" cy="730250"/>
          </a:xfrm>
        </p:grpSpPr>
        <p:sp>
          <p:nvSpPr>
            <p:cNvPr id="29" name="Freeform 29"/>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blipFill>
              <a:blip r:embed="rId6">
                <a:alphaModFix amt="0"/>
              </a:blip>
              <a:stretch>
                <a:fillRect t="-96391" b="-96391"/>
              </a:stretch>
            </a:blipFill>
          </p:spPr>
          <p:txBody>
            <a:bodyPr/>
            <a:lstStyle/>
            <a:p>
              <a:endParaRPr lang="vi-VN"/>
            </a:p>
          </p:txBody>
        </p:sp>
        <p:sp>
          <p:nvSpPr>
            <p:cNvPr id="30" name="TextBox 30"/>
            <p:cNvSpPr txBox="1"/>
            <p:nvPr/>
          </p:nvSpPr>
          <p:spPr>
            <a:xfrm>
              <a:off x="0" y="-19050"/>
              <a:ext cx="5486400" cy="749300"/>
            </a:xfrm>
            <a:prstGeom prst="rect">
              <a:avLst/>
            </a:prstGeom>
          </p:spPr>
          <p:txBody>
            <a:bodyPr lIns="0" tIns="0" rIns="0" bIns="0" rtlCol="0" anchor="ctr"/>
            <a:lstStyle/>
            <a:p>
              <a:pPr algn="ctr">
                <a:lnSpc>
                  <a:spcPts val="2160"/>
                </a:lnSpc>
              </a:pPr>
              <a:r>
                <a:rPr lang="en-US" sz="1800">
                  <a:solidFill>
                    <a:srgbClr val="FFFFFF"/>
                  </a:solidFill>
                  <a:latin typeface="Arial"/>
                  <a:ea typeface="Arial"/>
                  <a:cs typeface="Arial"/>
                  <a:sym typeface="Arial"/>
                </a:rPr>
                <a:t>6</a:t>
              </a:r>
            </a:p>
          </p:txBody>
        </p:sp>
      </p:grpSp>
      <p:pic>
        <p:nvPicPr>
          <p:cNvPr id="32" name="Picture 31" descr="image.png">
            <a:extLst>
              <a:ext uri="{FF2B5EF4-FFF2-40B4-BE49-F238E27FC236}">
                <a16:creationId xmlns:a16="http://schemas.microsoft.com/office/drawing/2014/main" id="{62A7C752-0731-4271-72C1-D25658C59969}"/>
              </a:ext>
            </a:extLst>
          </p:cNvPr>
          <p:cNvPicPr>
            <a:picLocks noChangeAspect="1"/>
          </p:cNvPicPr>
          <p:nvPr/>
        </p:nvPicPr>
        <p:blipFill>
          <a:blip r:embed="rId7"/>
          <a:stretch>
            <a:fillRect/>
          </a:stretch>
        </p:blipFill>
        <p:spPr>
          <a:xfrm>
            <a:off x="760262" y="2155876"/>
            <a:ext cx="5184872" cy="6264223"/>
          </a:xfrm>
          <a:prstGeom prst="rect">
            <a:avLst/>
          </a:prstGeom>
        </p:spPr>
      </p:pic>
      <p:pic>
        <p:nvPicPr>
          <p:cNvPr id="34" name="Picture 33" descr="image.png">
            <a:extLst>
              <a:ext uri="{FF2B5EF4-FFF2-40B4-BE49-F238E27FC236}">
                <a16:creationId xmlns:a16="http://schemas.microsoft.com/office/drawing/2014/main" id="{D7DCAF63-8BBF-4BDF-ABA2-A632B0194381}"/>
              </a:ext>
            </a:extLst>
          </p:cNvPr>
          <p:cNvPicPr>
            <a:picLocks noChangeAspect="1"/>
          </p:cNvPicPr>
          <p:nvPr/>
        </p:nvPicPr>
        <p:blipFill>
          <a:blip r:embed="rId8"/>
          <a:stretch>
            <a:fillRect/>
          </a:stretch>
        </p:blipFill>
        <p:spPr>
          <a:xfrm>
            <a:off x="6303149" y="2155876"/>
            <a:ext cx="5652778" cy="6215696"/>
          </a:xfrm>
          <a:prstGeom prst="rect">
            <a:avLst/>
          </a:prstGeom>
        </p:spPr>
      </p:pic>
      <p:pic>
        <p:nvPicPr>
          <p:cNvPr id="36" name="Picture 35" descr="image.png">
            <a:extLst>
              <a:ext uri="{FF2B5EF4-FFF2-40B4-BE49-F238E27FC236}">
                <a16:creationId xmlns:a16="http://schemas.microsoft.com/office/drawing/2014/main" id="{9032A56E-2751-CD44-1FF0-66B8C8DBD6BE}"/>
              </a:ext>
            </a:extLst>
          </p:cNvPr>
          <p:cNvPicPr>
            <a:picLocks noChangeAspect="1"/>
          </p:cNvPicPr>
          <p:nvPr/>
        </p:nvPicPr>
        <p:blipFill>
          <a:blip r:embed="rId9"/>
          <a:stretch>
            <a:fillRect/>
          </a:stretch>
        </p:blipFill>
        <p:spPr>
          <a:xfrm>
            <a:off x="12342868" y="2144917"/>
            <a:ext cx="5335533" cy="6286140"/>
          </a:xfrm>
          <a:prstGeom prst="rect">
            <a:avLst/>
          </a:prstGeom>
        </p:spPr>
      </p:pic>
      <p:sp>
        <p:nvSpPr>
          <p:cNvPr id="40" name="TextBox 39">
            <a:extLst>
              <a:ext uri="{FF2B5EF4-FFF2-40B4-BE49-F238E27FC236}">
                <a16:creationId xmlns:a16="http://schemas.microsoft.com/office/drawing/2014/main" id="{AE7685C7-6D19-1B58-5FD9-2C52283F874E}"/>
              </a:ext>
            </a:extLst>
          </p:cNvPr>
          <p:cNvSpPr txBox="1"/>
          <p:nvPr/>
        </p:nvSpPr>
        <p:spPr>
          <a:xfrm>
            <a:off x="1206769" y="3871178"/>
            <a:ext cx="3412971" cy="369332"/>
          </a:xfrm>
          <a:prstGeom prst="rect">
            <a:avLst/>
          </a:prstGeom>
          <a:noFill/>
        </p:spPr>
        <p:txBody>
          <a:bodyPr wrap="square" lIns="0" tIns="0" rIns="0" bIns="0" anchor="t">
            <a:spAutoFit/>
          </a:bodyPr>
          <a:lstStyle/>
          <a:p>
            <a:pPr algn="l"/>
            <a:r>
              <a:rPr sz="2400" b="1" i="0" u="none" dirty="0">
                <a:solidFill>
                  <a:srgbClr val="064E3B"/>
                </a:solidFill>
                <a:latin typeface="+mj-lt"/>
              </a:rPr>
              <a:t>Linear Engine W4A15</a:t>
            </a:r>
          </a:p>
        </p:txBody>
      </p:sp>
      <p:sp>
        <p:nvSpPr>
          <p:cNvPr id="42" name="TextBox 41">
            <a:extLst>
              <a:ext uri="{FF2B5EF4-FFF2-40B4-BE49-F238E27FC236}">
                <a16:creationId xmlns:a16="http://schemas.microsoft.com/office/drawing/2014/main" id="{27CA3C09-869A-8D1B-0E77-8367AEB1A97B}"/>
              </a:ext>
            </a:extLst>
          </p:cNvPr>
          <p:cNvSpPr txBox="1"/>
          <p:nvPr/>
        </p:nvSpPr>
        <p:spPr>
          <a:xfrm>
            <a:off x="1185405" y="4799390"/>
            <a:ext cx="4759728" cy="2585323"/>
          </a:xfrm>
          <a:prstGeom prst="rect">
            <a:avLst/>
          </a:prstGeom>
          <a:noFill/>
        </p:spPr>
        <p:txBody>
          <a:bodyPr wrap="square" lIns="0" tIns="0" rIns="0" bIns="0" anchor="t">
            <a:spAutoFit/>
          </a:bodyPr>
          <a:lstStyle/>
          <a:p>
            <a:pPr algn="l"/>
            <a:r>
              <a:rPr sz="2400" b="0" i="0" u="none" dirty="0" err="1">
                <a:solidFill>
                  <a:srgbClr val="334155"/>
                </a:solidFill>
                <a:latin typeface="+mj-lt"/>
              </a:rPr>
              <a:t>Tối</a:t>
            </a:r>
            <a:r>
              <a:rPr sz="2400" b="0" i="0" u="none" dirty="0">
                <a:solidFill>
                  <a:srgbClr val="334155"/>
                </a:solidFill>
                <a:latin typeface="+mj-lt"/>
              </a:rPr>
              <a:t> </a:t>
            </a:r>
            <a:r>
              <a:rPr sz="2400" b="0" i="0" u="none" dirty="0" err="1">
                <a:solidFill>
                  <a:srgbClr val="334155"/>
                </a:solidFill>
                <a:latin typeface="+mj-lt"/>
              </a:rPr>
              <a:t>ưu</a:t>
            </a:r>
            <a:r>
              <a:rPr sz="2400" b="0" i="0" u="none" dirty="0">
                <a:solidFill>
                  <a:srgbClr val="334155"/>
                </a:solidFill>
                <a:latin typeface="+mj-lt"/>
              </a:rPr>
              <a:t> </a:t>
            </a:r>
            <a:r>
              <a:rPr sz="2400" b="0" i="0" u="none" dirty="0" err="1">
                <a:solidFill>
                  <a:srgbClr val="334155"/>
                </a:solidFill>
                <a:latin typeface="+mj-lt"/>
              </a:rPr>
              <a:t>cho</a:t>
            </a:r>
            <a:r>
              <a:rPr sz="2400" b="0" i="0" u="none" dirty="0">
                <a:solidFill>
                  <a:srgbClr val="334155"/>
                </a:solidFill>
                <a:latin typeface="+mj-lt"/>
              </a:rPr>
              <a:t> DSP48E2: </a:t>
            </a:r>
            <a:r>
              <a:rPr sz="2400" b="0" i="0" u="none" dirty="0" err="1">
                <a:solidFill>
                  <a:srgbClr val="334155"/>
                </a:solidFill>
                <a:latin typeface="+mj-lt"/>
              </a:rPr>
              <a:t>Đóng</a:t>
            </a:r>
            <a:r>
              <a:rPr sz="2400" b="0" i="0" u="none" dirty="0">
                <a:solidFill>
                  <a:srgbClr val="334155"/>
                </a:solidFill>
                <a:latin typeface="+mj-lt"/>
              </a:rPr>
              <a:t> </a:t>
            </a:r>
            <a:r>
              <a:rPr sz="2400" b="0" i="0" u="none" dirty="0" err="1">
                <a:solidFill>
                  <a:srgbClr val="334155"/>
                </a:solidFill>
                <a:latin typeface="+mj-lt"/>
              </a:rPr>
              <a:t>gói</a:t>
            </a:r>
            <a:r>
              <a:rPr sz="2400" b="0" i="0" u="none" dirty="0">
                <a:solidFill>
                  <a:srgbClr val="334155"/>
                </a:solidFill>
                <a:latin typeface="+mj-lt"/>
              </a:rPr>
              <a:t> </a:t>
            </a:r>
            <a:r>
              <a:rPr sz="2400" b="0" i="0" u="none" dirty="0" err="1">
                <a:solidFill>
                  <a:srgbClr val="334155"/>
                </a:solidFill>
                <a:latin typeface="+mj-lt"/>
              </a:rPr>
              <a:t>hai</a:t>
            </a:r>
            <a:r>
              <a:rPr sz="2400" b="0" i="0" u="none" dirty="0">
                <a:solidFill>
                  <a:srgbClr val="334155"/>
                </a:solidFill>
                <a:latin typeface="+mj-lt"/>
              </a:rPr>
              <a:t> </a:t>
            </a:r>
            <a:r>
              <a:rPr sz="2400" b="0" i="0" u="none" dirty="0" err="1">
                <a:solidFill>
                  <a:srgbClr val="334155"/>
                </a:solidFill>
                <a:latin typeface="+mj-lt"/>
              </a:rPr>
              <a:t>trọng</a:t>
            </a:r>
            <a:r>
              <a:rPr sz="2400" b="0" i="0" u="none" dirty="0">
                <a:solidFill>
                  <a:srgbClr val="334155"/>
                </a:solidFill>
                <a:latin typeface="+mj-lt"/>
              </a:rPr>
              <a:t> </a:t>
            </a:r>
            <a:r>
              <a:rPr sz="2400" b="0" i="0" u="none" dirty="0" err="1">
                <a:solidFill>
                  <a:srgbClr val="334155"/>
                </a:solidFill>
                <a:latin typeface="+mj-lt"/>
              </a:rPr>
              <a:t>số</a:t>
            </a:r>
            <a:r>
              <a:rPr sz="2400" b="0" i="0" u="none" dirty="0">
                <a:solidFill>
                  <a:srgbClr val="334155"/>
                </a:solidFill>
                <a:latin typeface="+mj-lt"/>
              </a:rPr>
              <a:t> INT4 </a:t>
            </a:r>
            <a:r>
              <a:rPr sz="2400" b="0" i="0" u="none" dirty="0" err="1">
                <a:solidFill>
                  <a:srgbClr val="334155"/>
                </a:solidFill>
                <a:latin typeface="+mj-lt"/>
              </a:rPr>
              <a:t>cùng</a:t>
            </a:r>
            <a:r>
              <a:rPr sz="2400" b="0" i="0" u="none" dirty="0">
                <a:solidFill>
                  <a:srgbClr val="334155"/>
                </a:solidFill>
                <a:latin typeface="+mj-lt"/>
              </a:rPr>
              <a:t> </a:t>
            </a:r>
            <a:r>
              <a:rPr sz="2400" b="0" i="0" u="none" dirty="0" err="1">
                <a:solidFill>
                  <a:srgbClr val="334155"/>
                </a:solidFill>
                <a:latin typeface="+mj-lt"/>
              </a:rPr>
              <a:t>nhân</a:t>
            </a:r>
            <a:r>
              <a:rPr sz="2400" b="0" i="0" u="none" dirty="0">
                <a:solidFill>
                  <a:srgbClr val="334155"/>
                </a:solidFill>
                <a:latin typeface="+mj-lt"/>
              </a:rPr>
              <a:t> </a:t>
            </a:r>
            <a:r>
              <a:rPr sz="2400" b="0" i="0" u="none" dirty="0" err="1">
                <a:solidFill>
                  <a:srgbClr val="334155"/>
                </a:solidFill>
                <a:latin typeface="+mj-lt"/>
              </a:rPr>
              <a:t>với</a:t>
            </a:r>
            <a:r>
              <a:rPr sz="2400" b="0" i="0" u="none" dirty="0">
                <a:solidFill>
                  <a:srgbClr val="334155"/>
                </a:solidFill>
                <a:latin typeface="+mj-lt"/>
              </a:rPr>
              <a:t> </a:t>
            </a:r>
            <a:r>
              <a:rPr sz="2400" b="0" i="0" u="none" dirty="0" err="1">
                <a:solidFill>
                  <a:srgbClr val="334155"/>
                </a:solidFill>
                <a:latin typeface="+mj-lt"/>
              </a:rPr>
              <a:t>một</a:t>
            </a:r>
            <a:r>
              <a:rPr sz="2400" b="0" i="0" u="none" dirty="0">
                <a:solidFill>
                  <a:srgbClr val="334155"/>
                </a:solidFill>
                <a:latin typeface="+mj-lt"/>
              </a:rPr>
              <a:t> activation INT15 </a:t>
            </a:r>
            <a:r>
              <a:rPr sz="2400" b="0" i="0" u="none" dirty="0" err="1">
                <a:solidFill>
                  <a:srgbClr val="334155"/>
                </a:solidFill>
                <a:latin typeface="+mj-lt"/>
              </a:rPr>
              <a:t>vào</a:t>
            </a:r>
            <a:r>
              <a:rPr sz="2400" b="0" i="0" u="none" dirty="0">
                <a:solidFill>
                  <a:srgbClr val="334155"/>
                </a:solidFill>
                <a:latin typeface="+mj-lt"/>
              </a:rPr>
              <a:t> </a:t>
            </a:r>
            <a:r>
              <a:rPr sz="2400" b="0" i="0" u="none" dirty="0" err="1">
                <a:solidFill>
                  <a:srgbClr val="334155"/>
                </a:solidFill>
                <a:latin typeface="+mj-lt"/>
              </a:rPr>
              <a:t>một</a:t>
            </a:r>
            <a:r>
              <a:rPr sz="2400" b="0" i="0" u="none" dirty="0">
                <a:solidFill>
                  <a:srgbClr val="334155"/>
                </a:solidFill>
                <a:latin typeface="+mj-lt"/>
              </a:rPr>
              <a:t> DSP,</a:t>
            </a:r>
            <a:r>
              <a:rPr lang="vi-VN" sz="2400" b="0" i="0" u="none" dirty="0">
                <a:solidFill>
                  <a:srgbClr val="334155"/>
                </a:solidFill>
                <a:latin typeface="+mj-lt"/>
              </a:rPr>
              <a:t> tận dụng được cấu tạo của DSP,</a:t>
            </a:r>
            <a:r>
              <a:rPr sz="2400" b="0" i="0" u="none" dirty="0">
                <a:solidFill>
                  <a:srgbClr val="334155"/>
                </a:solidFill>
                <a:latin typeface="+mj-lt"/>
              </a:rPr>
              <a:t> </a:t>
            </a:r>
            <a:r>
              <a:rPr lang="vi-VN" sz="2400" b="0" i="0" u="none" dirty="0">
                <a:solidFill>
                  <a:srgbClr val="334155"/>
                </a:solidFill>
                <a:latin typeface="+mj-lt"/>
              </a:rPr>
              <a:t>tiết kiệm được một nửa số DSP nhưng không làm chậm thời gian compute, vẫn overlap được với thời gian load.</a:t>
            </a:r>
            <a:endParaRPr sz="2400" b="0" i="0" u="none" dirty="0">
              <a:solidFill>
                <a:srgbClr val="334155"/>
              </a:solidFill>
              <a:latin typeface="+mj-lt"/>
            </a:endParaRPr>
          </a:p>
        </p:txBody>
      </p:sp>
      <p:sp>
        <p:nvSpPr>
          <p:cNvPr id="46" name="TextBox 45">
            <a:extLst>
              <a:ext uri="{FF2B5EF4-FFF2-40B4-BE49-F238E27FC236}">
                <a16:creationId xmlns:a16="http://schemas.microsoft.com/office/drawing/2014/main" id="{6B7AA4B3-CB91-7D10-997F-19942FFA6C3F}"/>
              </a:ext>
            </a:extLst>
          </p:cNvPr>
          <p:cNvSpPr txBox="1"/>
          <p:nvPr/>
        </p:nvSpPr>
        <p:spPr>
          <a:xfrm>
            <a:off x="6564912" y="3878196"/>
            <a:ext cx="5164641" cy="369332"/>
          </a:xfrm>
          <a:prstGeom prst="rect">
            <a:avLst/>
          </a:prstGeom>
          <a:noFill/>
        </p:spPr>
        <p:txBody>
          <a:bodyPr wrap="square" lIns="0" tIns="0" rIns="0" bIns="0" anchor="t">
            <a:spAutoFit/>
          </a:bodyPr>
          <a:lstStyle/>
          <a:p>
            <a:pPr algn="l"/>
            <a:r>
              <a:rPr sz="2400" b="1" i="0" u="none" dirty="0">
                <a:solidFill>
                  <a:srgbClr val="064E3B"/>
                </a:solidFill>
                <a:latin typeface="+mj-lt"/>
              </a:rPr>
              <a:t>Giao </a:t>
            </a:r>
            <a:r>
              <a:rPr sz="2400" b="1" i="0" u="none" dirty="0" err="1">
                <a:solidFill>
                  <a:srgbClr val="064E3B"/>
                </a:solidFill>
                <a:latin typeface="+mj-lt"/>
              </a:rPr>
              <a:t>tiếp</a:t>
            </a:r>
            <a:r>
              <a:rPr sz="2400" b="1" i="0" u="none" dirty="0">
                <a:solidFill>
                  <a:srgbClr val="064E3B"/>
                </a:solidFill>
                <a:latin typeface="+mj-lt"/>
              </a:rPr>
              <a:t> 4 DDR Banks</a:t>
            </a:r>
            <a:r>
              <a:rPr lang="vi-VN" sz="2400" b="1" i="0" u="none" dirty="0">
                <a:solidFill>
                  <a:srgbClr val="064E3B"/>
                </a:solidFill>
                <a:latin typeface="+mj-lt"/>
              </a:rPr>
              <a:t> và 4 PE</a:t>
            </a:r>
            <a:endParaRPr sz="2400" b="1" i="0" u="none" dirty="0">
              <a:solidFill>
                <a:srgbClr val="064E3B"/>
              </a:solidFill>
              <a:latin typeface="+mj-lt"/>
            </a:endParaRPr>
          </a:p>
        </p:txBody>
      </p:sp>
      <p:sp>
        <p:nvSpPr>
          <p:cNvPr id="48" name="TextBox 47">
            <a:extLst>
              <a:ext uri="{FF2B5EF4-FFF2-40B4-BE49-F238E27FC236}">
                <a16:creationId xmlns:a16="http://schemas.microsoft.com/office/drawing/2014/main" id="{195BC986-F294-C49C-EDC3-E2454252578E}"/>
              </a:ext>
            </a:extLst>
          </p:cNvPr>
          <p:cNvSpPr txBox="1"/>
          <p:nvPr/>
        </p:nvSpPr>
        <p:spPr>
          <a:xfrm>
            <a:off x="6528955" y="4845903"/>
            <a:ext cx="4822144" cy="1850956"/>
          </a:xfrm>
          <a:prstGeom prst="rect">
            <a:avLst/>
          </a:prstGeom>
          <a:noFill/>
        </p:spPr>
        <p:txBody>
          <a:bodyPr wrap="square" lIns="0" tIns="0" rIns="0" bIns="0" anchor="t">
            <a:spAutoFit/>
          </a:bodyPr>
          <a:lstStyle/>
          <a:p>
            <a:pPr algn="l">
              <a:lnSpc>
                <a:spcPts val="2400"/>
              </a:lnSpc>
            </a:pPr>
            <a:r>
              <a:rPr sz="2400" b="0" i="0" u="none" dirty="0" err="1">
                <a:solidFill>
                  <a:srgbClr val="334155"/>
                </a:solidFill>
                <a:latin typeface="+mj-lt"/>
              </a:rPr>
              <a:t>Phân</a:t>
            </a:r>
            <a:r>
              <a:rPr sz="2400" b="0" i="0" u="none" dirty="0">
                <a:solidFill>
                  <a:srgbClr val="334155"/>
                </a:solidFill>
                <a:latin typeface="+mj-lt"/>
              </a:rPr>
              <a:t> </a:t>
            </a:r>
            <a:r>
              <a:rPr sz="2400" b="0" i="0" u="none" dirty="0" err="1">
                <a:solidFill>
                  <a:srgbClr val="334155"/>
                </a:solidFill>
                <a:latin typeface="+mj-lt"/>
              </a:rPr>
              <a:t>mảnh</a:t>
            </a:r>
            <a:r>
              <a:rPr sz="2400" b="0" i="0" u="none" dirty="0">
                <a:solidFill>
                  <a:srgbClr val="334155"/>
                </a:solidFill>
                <a:latin typeface="+mj-lt"/>
              </a:rPr>
              <a:t> weight</a:t>
            </a:r>
            <a:r>
              <a:rPr lang="vi-VN" sz="2400" b="0" i="0" u="none" dirty="0">
                <a:solidFill>
                  <a:srgbClr val="334155"/>
                </a:solidFill>
                <a:latin typeface="+mj-lt"/>
              </a:rPr>
              <a:t> và scale</a:t>
            </a:r>
            <a:r>
              <a:rPr sz="2400" b="0" i="0" u="none" dirty="0">
                <a:solidFill>
                  <a:srgbClr val="334155"/>
                </a:solidFill>
                <a:latin typeface="+mj-lt"/>
              </a:rPr>
              <a:t> </a:t>
            </a:r>
            <a:r>
              <a:rPr sz="2400" b="0" i="0" u="none" dirty="0" err="1">
                <a:solidFill>
                  <a:srgbClr val="334155"/>
                </a:solidFill>
                <a:latin typeface="+mj-lt"/>
              </a:rPr>
              <a:t>và</a:t>
            </a:r>
            <a:r>
              <a:rPr sz="2400" b="0" i="0" u="none" dirty="0">
                <a:solidFill>
                  <a:srgbClr val="334155"/>
                </a:solidFill>
                <a:latin typeface="+mj-lt"/>
              </a:rPr>
              <a:t> KV head </a:t>
            </a:r>
            <a:r>
              <a:rPr sz="2400" b="0" i="0" u="none" dirty="0" err="1">
                <a:solidFill>
                  <a:srgbClr val="334155"/>
                </a:solidFill>
                <a:latin typeface="+mj-lt"/>
              </a:rPr>
              <a:t>vào</a:t>
            </a:r>
            <a:r>
              <a:rPr sz="2400" b="0" i="0" u="none" dirty="0">
                <a:solidFill>
                  <a:srgbClr val="334155"/>
                </a:solidFill>
                <a:latin typeface="+mj-lt"/>
              </a:rPr>
              <a:t> 4 DDR bank. </a:t>
            </a:r>
            <a:r>
              <a:rPr sz="2400" b="0" i="0" u="none" dirty="0" err="1">
                <a:solidFill>
                  <a:srgbClr val="334155"/>
                </a:solidFill>
                <a:latin typeface="+mj-lt"/>
              </a:rPr>
              <a:t>Việc</a:t>
            </a:r>
            <a:r>
              <a:rPr sz="2400" b="0" i="0" u="none" dirty="0">
                <a:solidFill>
                  <a:srgbClr val="334155"/>
                </a:solidFill>
                <a:latin typeface="+mj-lt"/>
              </a:rPr>
              <a:t> </a:t>
            </a:r>
            <a:r>
              <a:rPr sz="2400" b="0" i="0" u="none" dirty="0" err="1">
                <a:solidFill>
                  <a:srgbClr val="334155"/>
                </a:solidFill>
                <a:latin typeface="+mj-lt"/>
              </a:rPr>
              <a:t>phân</a:t>
            </a:r>
            <a:r>
              <a:rPr sz="2400" b="0" i="0" u="none" dirty="0">
                <a:solidFill>
                  <a:srgbClr val="334155"/>
                </a:solidFill>
                <a:latin typeface="+mj-lt"/>
              </a:rPr>
              <a:t> </a:t>
            </a:r>
            <a:r>
              <a:rPr sz="2400" b="0" i="0" u="none" dirty="0" err="1">
                <a:solidFill>
                  <a:srgbClr val="334155"/>
                </a:solidFill>
                <a:latin typeface="+mj-lt"/>
              </a:rPr>
              <a:t>bố</a:t>
            </a:r>
            <a:r>
              <a:rPr sz="2400" b="0" i="0" u="none" dirty="0">
                <a:solidFill>
                  <a:srgbClr val="334155"/>
                </a:solidFill>
                <a:latin typeface="+mj-lt"/>
              </a:rPr>
              <a:t> </a:t>
            </a:r>
            <a:r>
              <a:rPr sz="2400" b="0" i="0" u="none" dirty="0" err="1">
                <a:solidFill>
                  <a:srgbClr val="334155"/>
                </a:solidFill>
                <a:latin typeface="+mj-lt"/>
              </a:rPr>
              <a:t>giúp</a:t>
            </a:r>
            <a:r>
              <a:rPr lang="vi-VN" sz="2400" dirty="0">
                <a:solidFill>
                  <a:srgbClr val="334155"/>
                </a:solidFill>
                <a:latin typeface="+mj-lt"/>
              </a:rPr>
              <a:t> khai thác</a:t>
            </a:r>
            <a:r>
              <a:rPr sz="2400" b="0" i="0" u="none" dirty="0">
                <a:solidFill>
                  <a:srgbClr val="334155"/>
                </a:solidFill>
                <a:latin typeface="+mj-lt"/>
              </a:rPr>
              <a:t> </a:t>
            </a:r>
            <a:r>
              <a:rPr lang="vi-VN" sz="2400" b="0" i="0" u="none" dirty="0">
                <a:solidFill>
                  <a:srgbClr val="334155"/>
                </a:solidFill>
                <a:latin typeface="+mj-lt"/>
              </a:rPr>
              <a:t>tối đa</a:t>
            </a:r>
            <a:r>
              <a:rPr sz="2400" b="0" i="0" u="none" dirty="0">
                <a:solidFill>
                  <a:srgbClr val="334155"/>
                </a:solidFill>
                <a:latin typeface="+mj-lt"/>
              </a:rPr>
              <a:t> </a:t>
            </a:r>
            <a:r>
              <a:rPr sz="2400" b="0" i="0" u="none" dirty="0" err="1">
                <a:solidFill>
                  <a:srgbClr val="334155"/>
                </a:solidFill>
                <a:latin typeface="+mj-lt"/>
              </a:rPr>
              <a:t>băng</a:t>
            </a:r>
            <a:r>
              <a:rPr sz="2400" b="0" i="0" u="none" dirty="0">
                <a:solidFill>
                  <a:srgbClr val="334155"/>
                </a:solidFill>
                <a:latin typeface="+mj-lt"/>
              </a:rPr>
              <a:t> </a:t>
            </a:r>
            <a:r>
              <a:rPr sz="2400" b="0" i="0" u="none" dirty="0" err="1">
                <a:solidFill>
                  <a:srgbClr val="334155"/>
                </a:solidFill>
                <a:latin typeface="+mj-lt"/>
              </a:rPr>
              <a:t>thông</a:t>
            </a:r>
            <a:r>
              <a:rPr lang="vi-VN" sz="2400" b="0" i="0" u="none" dirty="0">
                <a:solidFill>
                  <a:srgbClr val="334155"/>
                </a:solidFill>
                <a:latin typeface="+mj-lt"/>
              </a:rPr>
              <a:t> truyền weight từ bộ nhớ ngoài vào kernel của FPGA</a:t>
            </a:r>
            <a:r>
              <a:rPr sz="2400" b="0" i="0" u="none" dirty="0">
                <a:solidFill>
                  <a:srgbClr val="334155"/>
                </a:solidFill>
                <a:latin typeface="+mj-lt"/>
              </a:rPr>
              <a:t>, </a:t>
            </a:r>
            <a:r>
              <a:rPr sz="2400" b="0" i="0" u="none" dirty="0" err="1">
                <a:solidFill>
                  <a:srgbClr val="334155"/>
                </a:solidFill>
                <a:latin typeface="+mj-lt"/>
              </a:rPr>
              <a:t>hạn</a:t>
            </a:r>
            <a:r>
              <a:rPr sz="2400" b="0" i="0" u="none" dirty="0">
                <a:solidFill>
                  <a:srgbClr val="334155"/>
                </a:solidFill>
                <a:latin typeface="+mj-lt"/>
              </a:rPr>
              <a:t> </a:t>
            </a:r>
            <a:r>
              <a:rPr sz="2400" b="0" i="0" u="none" dirty="0" err="1">
                <a:solidFill>
                  <a:srgbClr val="334155"/>
                </a:solidFill>
                <a:latin typeface="+mj-lt"/>
              </a:rPr>
              <a:t>chế</a:t>
            </a:r>
            <a:r>
              <a:rPr sz="2400" b="0" i="0" u="none" dirty="0">
                <a:solidFill>
                  <a:srgbClr val="334155"/>
                </a:solidFill>
                <a:latin typeface="+mj-lt"/>
              </a:rPr>
              <a:t> </a:t>
            </a:r>
            <a:r>
              <a:rPr sz="2400" b="0" i="0" u="none" dirty="0" err="1">
                <a:solidFill>
                  <a:srgbClr val="334155"/>
                </a:solidFill>
                <a:latin typeface="+mj-lt"/>
              </a:rPr>
              <a:t>tranh</a:t>
            </a:r>
            <a:r>
              <a:rPr sz="2400" b="0" i="0" u="none" dirty="0">
                <a:solidFill>
                  <a:srgbClr val="334155"/>
                </a:solidFill>
                <a:latin typeface="+mj-lt"/>
              </a:rPr>
              <a:t> </a:t>
            </a:r>
            <a:r>
              <a:rPr sz="2400" b="0" i="0" u="none" dirty="0" err="1">
                <a:solidFill>
                  <a:srgbClr val="334155"/>
                </a:solidFill>
                <a:latin typeface="+mj-lt"/>
              </a:rPr>
              <a:t>chấp</a:t>
            </a:r>
            <a:r>
              <a:rPr sz="2400" b="0" i="0" u="none" dirty="0">
                <a:solidFill>
                  <a:srgbClr val="334155"/>
                </a:solidFill>
                <a:latin typeface="+mj-lt"/>
              </a:rPr>
              <a:t> </a:t>
            </a:r>
            <a:r>
              <a:rPr sz="2400" b="0" i="0" u="none" dirty="0" err="1">
                <a:solidFill>
                  <a:srgbClr val="334155"/>
                </a:solidFill>
                <a:latin typeface="+mj-lt"/>
              </a:rPr>
              <a:t>cổng</a:t>
            </a:r>
            <a:r>
              <a:rPr sz="2400" b="0" i="0" u="none" dirty="0">
                <a:solidFill>
                  <a:srgbClr val="334155"/>
                </a:solidFill>
                <a:latin typeface="+mj-lt"/>
              </a:rPr>
              <a:t> </a:t>
            </a:r>
            <a:r>
              <a:rPr lang="vi-VN" sz="2400" b="0" i="0" u="none" dirty="0">
                <a:solidFill>
                  <a:srgbClr val="334155"/>
                </a:solidFill>
                <a:latin typeface="+mj-lt"/>
              </a:rPr>
              <a:t>nhớ</a:t>
            </a:r>
            <a:r>
              <a:rPr sz="2400" b="0" i="0" u="none" dirty="0">
                <a:solidFill>
                  <a:srgbClr val="334155"/>
                </a:solidFill>
                <a:latin typeface="+mj-lt"/>
              </a:rPr>
              <a:t> </a:t>
            </a:r>
            <a:r>
              <a:rPr sz="2400" b="0" i="0" u="none" dirty="0" err="1">
                <a:solidFill>
                  <a:srgbClr val="334155"/>
                </a:solidFill>
                <a:latin typeface="+mj-lt"/>
              </a:rPr>
              <a:t>và</a:t>
            </a:r>
            <a:r>
              <a:rPr sz="2400" b="0" i="0" u="none" dirty="0">
                <a:solidFill>
                  <a:srgbClr val="334155"/>
                </a:solidFill>
                <a:latin typeface="+mj-lt"/>
              </a:rPr>
              <a:t> </a:t>
            </a:r>
            <a:r>
              <a:rPr sz="2400" b="0" i="0" u="none" dirty="0" err="1">
                <a:solidFill>
                  <a:srgbClr val="334155"/>
                </a:solidFill>
                <a:latin typeface="+mj-lt"/>
              </a:rPr>
              <a:t>thuận</a:t>
            </a:r>
            <a:r>
              <a:rPr sz="2400" b="0" i="0" u="none" dirty="0">
                <a:solidFill>
                  <a:srgbClr val="334155"/>
                </a:solidFill>
                <a:latin typeface="+mj-lt"/>
              </a:rPr>
              <a:t> </a:t>
            </a:r>
            <a:r>
              <a:rPr sz="2400" b="0" i="0" u="none" dirty="0" err="1">
                <a:solidFill>
                  <a:srgbClr val="334155"/>
                </a:solidFill>
                <a:latin typeface="+mj-lt"/>
              </a:rPr>
              <a:t>lợi</a:t>
            </a:r>
            <a:r>
              <a:rPr sz="2400" b="0" i="0" u="none" dirty="0">
                <a:solidFill>
                  <a:srgbClr val="334155"/>
                </a:solidFill>
                <a:latin typeface="+mj-lt"/>
              </a:rPr>
              <a:t> </a:t>
            </a:r>
            <a:r>
              <a:rPr sz="2400" b="0" i="0" u="none" dirty="0" err="1">
                <a:solidFill>
                  <a:srgbClr val="334155"/>
                </a:solidFill>
                <a:latin typeface="+mj-lt"/>
              </a:rPr>
              <a:t>cho</a:t>
            </a:r>
            <a:r>
              <a:rPr sz="2400" b="0" i="0" u="none" dirty="0">
                <a:solidFill>
                  <a:srgbClr val="334155"/>
                </a:solidFill>
                <a:latin typeface="+mj-lt"/>
              </a:rPr>
              <a:t> floorplan </a:t>
            </a:r>
            <a:r>
              <a:rPr sz="2400" b="0" i="0" u="none" dirty="0" err="1">
                <a:solidFill>
                  <a:srgbClr val="334155"/>
                </a:solidFill>
                <a:latin typeface="+mj-lt"/>
              </a:rPr>
              <a:t>theo</a:t>
            </a:r>
            <a:r>
              <a:rPr sz="2400" b="0" i="0" u="none" dirty="0">
                <a:solidFill>
                  <a:srgbClr val="334155"/>
                </a:solidFill>
                <a:latin typeface="+mj-lt"/>
              </a:rPr>
              <a:t> SLR.</a:t>
            </a:r>
          </a:p>
        </p:txBody>
      </p:sp>
      <p:sp>
        <p:nvSpPr>
          <p:cNvPr id="52" name="TextBox 51">
            <a:extLst>
              <a:ext uri="{FF2B5EF4-FFF2-40B4-BE49-F238E27FC236}">
                <a16:creationId xmlns:a16="http://schemas.microsoft.com/office/drawing/2014/main" id="{431D4EE9-91F6-6628-9AC6-F45E492C102B}"/>
              </a:ext>
            </a:extLst>
          </p:cNvPr>
          <p:cNvSpPr txBox="1"/>
          <p:nvPr/>
        </p:nvSpPr>
        <p:spPr>
          <a:xfrm>
            <a:off x="12693955" y="3871178"/>
            <a:ext cx="4387276" cy="369332"/>
          </a:xfrm>
          <a:prstGeom prst="rect">
            <a:avLst/>
          </a:prstGeom>
          <a:noFill/>
        </p:spPr>
        <p:txBody>
          <a:bodyPr wrap="square" lIns="0" tIns="0" rIns="0" bIns="0" anchor="t">
            <a:spAutoFit/>
          </a:bodyPr>
          <a:lstStyle/>
          <a:p>
            <a:pPr algn="l"/>
            <a:r>
              <a:rPr sz="2400" b="1" i="0" u="none" dirty="0">
                <a:solidFill>
                  <a:srgbClr val="064E3B"/>
                </a:solidFill>
                <a:latin typeface="+mj-lt"/>
              </a:rPr>
              <a:t>KV8 Online Attention</a:t>
            </a:r>
          </a:p>
        </p:txBody>
      </p:sp>
      <p:sp>
        <p:nvSpPr>
          <p:cNvPr id="54" name="TextBox 53">
            <a:extLst>
              <a:ext uri="{FF2B5EF4-FFF2-40B4-BE49-F238E27FC236}">
                <a16:creationId xmlns:a16="http://schemas.microsoft.com/office/drawing/2014/main" id="{4BF2503F-35CF-CC6D-0CDB-AD94C8F8DAF4}"/>
              </a:ext>
            </a:extLst>
          </p:cNvPr>
          <p:cNvSpPr txBox="1"/>
          <p:nvPr/>
        </p:nvSpPr>
        <p:spPr>
          <a:xfrm>
            <a:off x="12533940" y="4849564"/>
            <a:ext cx="4750104" cy="1543179"/>
          </a:xfrm>
          <a:prstGeom prst="rect">
            <a:avLst/>
          </a:prstGeom>
          <a:noFill/>
        </p:spPr>
        <p:txBody>
          <a:bodyPr wrap="square" lIns="0" tIns="0" rIns="0" bIns="0" anchor="t">
            <a:spAutoFit/>
          </a:bodyPr>
          <a:lstStyle/>
          <a:p>
            <a:pPr algn="l">
              <a:lnSpc>
                <a:spcPts val="2400"/>
              </a:lnSpc>
            </a:pPr>
            <a:r>
              <a:rPr sz="2400" b="0" i="0" u="none" dirty="0" err="1">
                <a:solidFill>
                  <a:srgbClr val="334155"/>
                </a:solidFill>
                <a:latin typeface="+mj-lt"/>
              </a:rPr>
              <a:t>Lượng</a:t>
            </a:r>
            <a:r>
              <a:rPr sz="2400" b="0" i="0" u="none" dirty="0">
                <a:solidFill>
                  <a:srgbClr val="334155"/>
                </a:solidFill>
                <a:latin typeface="+mj-lt"/>
              </a:rPr>
              <a:t> </a:t>
            </a:r>
            <a:r>
              <a:rPr sz="2400" b="0" i="0" u="none" dirty="0" err="1">
                <a:solidFill>
                  <a:srgbClr val="334155"/>
                </a:solidFill>
                <a:latin typeface="+mj-lt"/>
              </a:rPr>
              <a:t>tử</a:t>
            </a:r>
            <a:r>
              <a:rPr sz="2400" b="0" i="0" u="none" dirty="0">
                <a:solidFill>
                  <a:srgbClr val="334155"/>
                </a:solidFill>
                <a:latin typeface="+mj-lt"/>
              </a:rPr>
              <a:t> </a:t>
            </a:r>
            <a:r>
              <a:rPr sz="2400" b="0" i="0" u="none" dirty="0" err="1">
                <a:solidFill>
                  <a:srgbClr val="334155"/>
                </a:solidFill>
                <a:latin typeface="+mj-lt"/>
              </a:rPr>
              <a:t>hóa</a:t>
            </a:r>
            <a:r>
              <a:rPr sz="2400" b="0" i="0" u="none" dirty="0">
                <a:solidFill>
                  <a:srgbClr val="334155"/>
                </a:solidFill>
                <a:latin typeface="+mj-lt"/>
              </a:rPr>
              <a:t> K/V </a:t>
            </a:r>
            <a:r>
              <a:rPr sz="2400" b="0" i="0" u="none" dirty="0" err="1">
                <a:solidFill>
                  <a:srgbClr val="334155"/>
                </a:solidFill>
                <a:latin typeface="+mj-lt"/>
              </a:rPr>
              <a:t>xuống</a:t>
            </a:r>
            <a:r>
              <a:rPr sz="2400" b="0" i="0" u="none" dirty="0">
                <a:solidFill>
                  <a:srgbClr val="334155"/>
                </a:solidFill>
                <a:latin typeface="+mj-lt"/>
              </a:rPr>
              <a:t> INT8. </a:t>
            </a:r>
            <a:r>
              <a:rPr sz="2400" b="0" i="0" u="none" dirty="0" err="1">
                <a:solidFill>
                  <a:srgbClr val="334155"/>
                </a:solidFill>
                <a:latin typeface="+mj-lt"/>
              </a:rPr>
              <a:t>Quét</a:t>
            </a:r>
            <a:r>
              <a:rPr sz="2400" b="0" i="0" u="none" dirty="0">
                <a:solidFill>
                  <a:srgbClr val="334155"/>
                </a:solidFill>
                <a:latin typeface="+mj-lt"/>
              </a:rPr>
              <a:t> KV cache </a:t>
            </a:r>
            <a:r>
              <a:rPr sz="2400" b="0" i="0" u="none" dirty="0" err="1">
                <a:solidFill>
                  <a:srgbClr val="334155"/>
                </a:solidFill>
                <a:latin typeface="+mj-lt"/>
              </a:rPr>
              <a:t>một</a:t>
            </a:r>
            <a:r>
              <a:rPr sz="2400" b="0" i="0" u="none" dirty="0">
                <a:solidFill>
                  <a:srgbClr val="334155"/>
                </a:solidFill>
                <a:latin typeface="+mj-lt"/>
              </a:rPr>
              <a:t> </a:t>
            </a:r>
            <a:r>
              <a:rPr sz="2400" b="0" i="0" u="none" dirty="0" err="1">
                <a:solidFill>
                  <a:srgbClr val="334155"/>
                </a:solidFill>
                <a:latin typeface="+mj-lt"/>
              </a:rPr>
              <a:t>lần</a:t>
            </a:r>
            <a:r>
              <a:rPr sz="2400" b="0" i="0" u="none" dirty="0">
                <a:solidFill>
                  <a:srgbClr val="334155"/>
                </a:solidFill>
                <a:latin typeface="+mj-lt"/>
              </a:rPr>
              <a:t> </a:t>
            </a:r>
            <a:r>
              <a:rPr sz="2400" b="0" i="0" u="none" dirty="0" err="1">
                <a:solidFill>
                  <a:srgbClr val="334155"/>
                </a:solidFill>
                <a:latin typeface="+mj-lt"/>
              </a:rPr>
              <a:t>bằng</a:t>
            </a:r>
            <a:r>
              <a:rPr sz="2400" b="0" i="0" u="none" dirty="0">
                <a:solidFill>
                  <a:srgbClr val="334155"/>
                </a:solidFill>
                <a:latin typeface="+mj-lt"/>
              </a:rPr>
              <a:t> </a:t>
            </a:r>
            <a:r>
              <a:rPr sz="2400" b="0" i="0" u="none" dirty="0" err="1">
                <a:solidFill>
                  <a:srgbClr val="334155"/>
                </a:solidFill>
                <a:latin typeface="+mj-lt"/>
              </a:rPr>
              <a:t>thuật</a:t>
            </a:r>
            <a:r>
              <a:rPr sz="2400" b="0" i="0" u="none" dirty="0">
                <a:solidFill>
                  <a:srgbClr val="334155"/>
                </a:solidFill>
                <a:latin typeface="+mj-lt"/>
              </a:rPr>
              <a:t> </a:t>
            </a:r>
            <a:r>
              <a:rPr sz="2400" b="0" i="0" u="none" dirty="0" err="1">
                <a:solidFill>
                  <a:srgbClr val="334155"/>
                </a:solidFill>
                <a:latin typeface="+mj-lt"/>
              </a:rPr>
              <a:t>toán</a:t>
            </a:r>
            <a:r>
              <a:rPr sz="2400" b="0" i="0" u="none" dirty="0">
                <a:solidFill>
                  <a:srgbClr val="334155"/>
                </a:solidFill>
                <a:latin typeface="+mj-lt"/>
              </a:rPr>
              <a:t> online </a:t>
            </a:r>
            <a:r>
              <a:rPr sz="2400" b="0" i="0" u="none" dirty="0" err="1">
                <a:solidFill>
                  <a:srgbClr val="334155"/>
                </a:solidFill>
                <a:latin typeface="+mj-lt"/>
              </a:rPr>
              <a:t>softmax</a:t>
            </a:r>
            <a:r>
              <a:rPr sz="2400" b="0" i="0" u="none" dirty="0">
                <a:solidFill>
                  <a:srgbClr val="334155"/>
                </a:solidFill>
                <a:latin typeface="+mj-lt"/>
              </a:rPr>
              <a:t>, </a:t>
            </a:r>
            <a:r>
              <a:rPr sz="2400" b="0" i="0" u="none" dirty="0" err="1">
                <a:solidFill>
                  <a:srgbClr val="334155"/>
                </a:solidFill>
                <a:latin typeface="+mj-lt"/>
              </a:rPr>
              <a:t>loại</a:t>
            </a:r>
            <a:r>
              <a:rPr sz="2400" b="0" i="0" u="none" dirty="0">
                <a:solidFill>
                  <a:srgbClr val="334155"/>
                </a:solidFill>
                <a:latin typeface="+mj-lt"/>
              </a:rPr>
              <a:t> </a:t>
            </a:r>
            <a:r>
              <a:rPr sz="2400" b="0" i="0" u="none" dirty="0" err="1">
                <a:solidFill>
                  <a:srgbClr val="334155"/>
                </a:solidFill>
                <a:latin typeface="+mj-lt"/>
              </a:rPr>
              <a:t>bỏ</a:t>
            </a:r>
            <a:r>
              <a:rPr sz="2400" b="0" i="0" u="none" dirty="0">
                <a:solidFill>
                  <a:srgbClr val="334155"/>
                </a:solidFill>
                <a:latin typeface="+mj-lt"/>
              </a:rPr>
              <a:t> </a:t>
            </a:r>
            <a:r>
              <a:rPr sz="2400" b="0" i="0" u="none" dirty="0" err="1">
                <a:solidFill>
                  <a:srgbClr val="334155"/>
                </a:solidFill>
                <a:latin typeface="+mj-lt"/>
              </a:rPr>
              <a:t>nhu</a:t>
            </a:r>
            <a:r>
              <a:rPr sz="2400" b="0" i="0" u="none" dirty="0">
                <a:solidFill>
                  <a:srgbClr val="334155"/>
                </a:solidFill>
                <a:latin typeface="+mj-lt"/>
              </a:rPr>
              <a:t> </a:t>
            </a:r>
            <a:r>
              <a:rPr sz="2400" b="0" i="0" u="none" dirty="0" err="1">
                <a:solidFill>
                  <a:srgbClr val="334155"/>
                </a:solidFill>
                <a:latin typeface="+mj-lt"/>
              </a:rPr>
              <a:t>cầu</a:t>
            </a:r>
            <a:r>
              <a:rPr sz="2400" b="0" i="0" u="none" dirty="0">
                <a:solidFill>
                  <a:srgbClr val="334155"/>
                </a:solidFill>
                <a:latin typeface="+mj-lt"/>
              </a:rPr>
              <a:t> </a:t>
            </a:r>
            <a:r>
              <a:rPr sz="2400" b="0" i="0" u="none" dirty="0" err="1">
                <a:solidFill>
                  <a:srgbClr val="334155"/>
                </a:solidFill>
                <a:latin typeface="+mj-lt"/>
              </a:rPr>
              <a:t>lưu</a:t>
            </a:r>
            <a:r>
              <a:rPr sz="2400" b="0" i="0" u="none" dirty="0">
                <a:solidFill>
                  <a:srgbClr val="334155"/>
                </a:solidFill>
                <a:latin typeface="+mj-lt"/>
              </a:rPr>
              <a:t> </a:t>
            </a:r>
            <a:r>
              <a:rPr sz="2400" b="0" i="0" u="none" dirty="0" err="1">
                <a:solidFill>
                  <a:srgbClr val="334155"/>
                </a:solidFill>
                <a:latin typeface="+mj-lt"/>
              </a:rPr>
              <a:t>và</a:t>
            </a:r>
            <a:r>
              <a:rPr sz="2400" b="0" i="0" u="none" dirty="0">
                <a:solidFill>
                  <a:srgbClr val="334155"/>
                </a:solidFill>
                <a:latin typeface="+mj-lt"/>
              </a:rPr>
              <a:t> </a:t>
            </a:r>
            <a:r>
              <a:rPr sz="2400" b="0" i="0" u="none" dirty="0" err="1">
                <a:solidFill>
                  <a:srgbClr val="334155"/>
                </a:solidFill>
                <a:latin typeface="+mj-lt"/>
              </a:rPr>
              <a:t>đọc</a:t>
            </a:r>
            <a:r>
              <a:rPr sz="2400" b="0" i="0" u="none" dirty="0">
                <a:solidFill>
                  <a:srgbClr val="334155"/>
                </a:solidFill>
                <a:latin typeface="+mj-lt"/>
              </a:rPr>
              <a:t> </a:t>
            </a:r>
            <a:r>
              <a:rPr sz="2400" b="0" i="0" u="none" dirty="0" err="1">
                <a:solidFill>
                  <a:srgbClr val="334155"/>
                </a:solidFill>
                <a:latin typeface="+mj-lt"/>
              </a:rPr>
              <a:t>lại</a:t>
            </a:r>
            <a:r>
              <a:rPr sz="2400" b="0" i="0" u="none" dirty="0">
                <a:solidFill>
                  <a:srgbClr val="334155"/>
                </a:solidFill>
                <a:latin typeface="+mj-lt"/>
              </a:rPr>
              <a:t> </a:t>
            </a:r>
            <a:r>
              <a:rPr sz="2400" b="0" i="0" u="none" dirty="0" err="1">
                <a:solidFill>
                  <a:srgbClr val="334155"/>
                </a:solidFill>
                <a:latin typeface="+mj-lt"/>
              </a:rPr>
              <a:t>toàn</a:t>
            </a:r>
            <a:r>
              <a:rPr sz="2400" b="0" i="0" u="none" dirty="0">
                <a:solidFill>
                  <a:srgbClr val="334155"/>
                </a:solidFill>
                <a:latin typeface="+mj-lt"/>
              </a:rPr>
              <a:t> </a:t>
            </a:r>
            <a:r>
              <a:rPr sz="2400" b="0" i="0" u="none" dirty="0" err="1">
                <a:solidFill>
                  <a:srgbClr val="334155"/>
                </a:solidFill>
                <a:latin typeface="+mj-lt"/>
              </a:rPr>
              <a:t>bộ</a:t>
            </a:r>
            <a:r>
              <a:rPr sz="2400" b="0" i="0" u="none" dirty="0">
                <a:solidFill>
                  <a:srgbClr val="334155"/>
                </a:solidFill>
                <a:latin typeface="+mj-lt"/>
              </a:rPr>
              <a:t> </a:t>
            </a:r>
            <a:r>
              <a:rPr sz="2400" b="0" i="0" u="none" dirty="0" err="1">
                <a:solidFill>
                  <a:srgbClr val="334155"/>
                </a:solidFill>
                <a:latin typeface="+mj-lt"/>
              </a:rPr>
              <a:t>mảng</a:t>
            </a:r>
            <a:r>
              <a:rPr sz="2400" b="0" i="0" u="none" dirty="0">
                <a:solidFill>
                  <a:srgbClr val="334155"/>
                </a:solidFill>
                <a:latin typeface="+mj-lt"/>
              </a:rPr>
              <a:t> attention-score vector.</a:t>
            </a:r>
            <a:r>
              <a:rPr lang="vi-VN" sz="2400" b="0" i="0" u="none" dirty="0">
                <a:solidFill>
                  <a:srgbClr val="334155"/>
                </a:solidFill>
                <a:latin typeface="+mj-lt"/>
              </a:rPr>
              <a:t> Mỗi </a:t>
            </a:r>
            <a:endParaRPr sz="2400" b="0" i="0" u="none" dirty="0">
              <a:solidFill>
                <a:srgbClr val="334155"/>
              </a:solidFill>
              <a:latin typeface="+mj-lt"/>
            </a:endParaRPr>
          </a:p>
        </p:txBody>
      </p:sp>
      <p:pic>
        <p:nvPicPr>
          <p:cNvPr id="56" name="Picture 55" descr="image.png">
            <a:extLst>
              <a:ext uri="{FF2B5EF4-FFF2-40B4-BE49-F238E27FC236}">
                <a16:creationId xmlns:a16="http://schemas.microsoft.com/office/drawing/2014/main" id="{1FFF958F-33BF-7782-764A-47E644A985D1}"/>
              </a:ext>
            </a:extLst>
          </p:cNvPr>
          <p:cNvPicPr>
            <a:picLocks noChangeAspect="1"/>
          </p:cNvPicPr>
          <p:nvPr/>
        </p:nvPicPr>
        <p:blipFill>
          <a:blip r:embed="rId10"/>
          <a:stretch>
            <a:fillRect/>
          </a:stretch>
        </p:blipFill>
        <p:spPr>
          <a:xfrm>
            <a:off x="1196799" y="2905679"/>
            <a:ext cx="507518" cy="580021"/>
          </a:xfrm>
          <a:prstGeom prst="rect">
            <a:avLst/>
          </a:prstGeom>
        </p:spPr>
      </p:pic>
      <p:pic>
        <p:nvPicPr>
          <p:cNvPr id="58" name="Picture 57" descr="image.png">
            <a:extLst>
              <a:ext uri="{FF2B5EF4-FFF2-40B4-BE49-F238E27FC236}">
                <a16:creationId xmlns:a16="http://schemas.microsoft.com/office/drawing/2014/main" id="{FC3FB3A5-C9C7-8BC3-7064-2A1032C2F338}"/>
              </a:ext>
            </a:extLst>
          </p:cNvPr>
          <p:cNvPicPr>
            <a:picLocks noChangeAspect="1"/>
          </p:cNvPicPr>
          <p:nvPr/>
        </p:nvPicPr>
        <p:blipFill>
          <a:blip r:embed="rId11"/>
          <a:stretch>
            <a:fillRect/>
          </a:stretch>
        </p:blipFill>
        <p:spPr>
          <a:xfrm>
            <a:off x="6591975" y="2902452"/>
            <a:ext cx="791367" cy="575527"/>
          </a:xfrm>
          <a:prstGeom prst="rect">
            <a:avLst/>
          </a:prstGeom>
        </p:spPr>
      </p:pic>
      <p:pic>
        <p:nvPicPr>
          <p:cNvPr id="60" name="Picture 59" descr="image.png">
            <a:extLst>
              <a:ext uri="{FF2B5EF4-FFF2-40B4-BE49-F238E27FC236}">
                <a16:creationId xmlns:a16="http://schemas.microsoft.com/office/drawing/2014/main" id="{5224A087-5384-704A-59EF-D143FC478ED8}"/>
              </a:ext>
            </a:extLst>
          </p:cNvPr>
          <p:cNvPicPr>
            <a:picLocks noChangeAspect="1"/>
          </p:cNvPicPr>
          <p:nvPr/>
        </p:nvPicPr>
        <p:blipFill>
          <a:blip r:embed="rId12"/>
          <a:stretch>
            <a:fillRect/>
          </a:stretch>
        </p:blipFill>
        <p:spPr>
          <a:xfrm>
            <a:off x="12801600" y="2896850"/>
            <a:ext cx="545681" cy="62363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91440" y="-2287991"/>
            <a:ext cx="18105120" cy="527771"/>
          </a:xfrm>
          <a:prstGeom prst="rect">
            <a:avLst/>
          </a:prstGeom>
        </p:spPr>
        <p:txBody>
          <a:bodyPr lIns="0" tIns="0" rIns="0" bIns="0" rtlCol="0" anchor="t">
            <a:spAutoFit/>
          </a:bodyPr>
          <a:lstStyle/>
          <a:p>
            <a:pPr algn="ctr">
              <a:lnSpc>
                <a:spcPts val="3600"/>
              </a:lnSpc>
            </a:pPr>
            <a:r>
              <a:rPr lang="en-US" sz="3000">
                <a:solidFill>
                  <a:srgbClr val="C3C3C3"/>
                </a:solidFill>
                <a:latin typeface="Arial"/>
                <a:ea typeface="Arial"/>
                <a:cs typeface="Arial"/>
                <a:sym typeface="Arial"/>
              </a:rPr>
              <a:t>www.9slide.vn</a:t>
            </a:r>
          </a:p>
        </p:txBody>
      </p:sp>
      <p:grpSp>
        <p:nvGrpSpPr>
          <p:cNvPr id="3" name="Group 3"/>
          <p:cNvGrpSpPr/>
          <p:nvPr/>
        </p:nvGrpSpPr>
        <p:grpSpPr>
          <a:xfrm>
            <a:off x="0" y="2124"/>
            <a:ext cx="18291715" cy="10295487"/>
            <a:chOff x="0" y="0"/>
            <a:chExt cx="24388953" cy="13727316"/>
          </a:xfrm>
        </p:grpSpPr>
        <p:sp>
          <p:nvSpPr>
            <p:cNvPr id="4" name="Freeform 4"/>
            <p:cNvSpPr/>
            <p:nvPr/>
          </p:nvSpPr>
          <p:spPr>
            <a:xfrm>
              <a:off x="0" y="0"/>
              <a:ext cx="24388953" cy="13727303"/>
            </a:xfrm>
            <a:custGeom>
              <a:avLst/>
              <a:gdLst/>
              <a:ahLst/>
              <a:cxnLst/>
              <a:rect l="l" t="t" r="r" b="b"/>
              <a:pathLst>
                <a:path w="24388953" h="1372730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txBody>
            <a:bodyPr/>
            <a:lstStyle/>
            <a:p>
              <a:endParaRPr lang="vi-VN"/>
            </a:p>
          </p:txBody>
        </p:sp>
      </p:grpSp>
      <p:grpSp>
        <p:nvGrpSpPr>
          <p:cNvPr id="5" name="Group 5"/>
          <p:cNvGrpSpPr/>
          <p:nvPr/>
        </p:nvGrpSpPr>
        <p:grpSpPr>
          <a:xfrm>
            <a:off x="-36214" y="0"/>
            <a:ext cx="6084589" cy="10287000"/>
            <a:chOff x="0" y="0"/>
            <a:chExt cx="8112785" cy="13716000"/>
          </a:xfrm>
        </p:grpSpPr>
        <p:sp>
          <p:nvSpPr>
            <p:cNvPr id="6" name="Freeform 6"/>
            <p:cNvSpPr/>
            <p:nvPr/>
          </p:nvSpPr>
          <p:spPr>
            <a:xfrm>
              <a:off x="0" y="0"/>
              <a:ext cx="8112760" cy="13716000"/>
            </a:xfrm>
            <a:custGeom>
              <a:avLst/>
              <a:gdLst/>
              <a:ahLst/>
              <a:cxnLst/>
              <a:rect l="l" t="t" r="r" b="b"/>
              <a:pathLst>
                <a:path w="8112760" h="13716000">
                  <a:moveTo>
                    <a:pt x="0" y="0"/>
                  </a:moveTo>
                  <a:lnTo>
                    <a:pt x="8112760" y="0"/>
                  </a:lnTo>
                  <a:lnTo>
                    <a:pt x="8112760" y="13716000"/>
                  </a:lnTo>
                  <a:lnTo>
                    <a:pt x="0" y="13716000"/>
                  </a:lnTo>
                  <a:close/>
                </a:path>
              </a:pathLst>
            </a:custGeom>
            <a:gradFill rotWithShape="1">
              <a:gsLst>
                <a:gs pos="0">
                  <a:srgbClr val="38EF7D">
                    <a:alpha val="100000"/>
                  </a:srgbClr>
                </a:gs>
                <a:gs pos="100000">
                  <a:srgbClr val="11998E">
                    <a:alpha val="100000"/>
                  </a:srgbClr>
                </a:gs>
              </a:gsLst>
              <a:lin ang="5400000"/>
            </a:gradFill>
          </p:spPr>
          <p:txBody>
            <a:bodyPr/>
            <a:lstStyle/>
            <a:p>
              <a:endParaRPr lang="vi-VN"/>
            </a:p>
          </p:txBody>
        </p:sp>
      </p:grpSp>
      <p:grpSp>
        <p:nvGrpSpPr>
          <p:cNvPr id="7" name="Group 7"/>
          <p:cNvGrpSpPr/>
          <p:nvPr/>
        </p:nvGrpSpPr>
        <p:grpSpPr>
          <a:xfrm>
            <a:off x="-46873" y="0"/>
            <a:ext cx="2707176" cy="10287000"/>
            <a:chOff x="0" y="0"/>
            <a:chExt cx="3609569" cy="13716000"/>
          </a:xfrm>
        </p:grpSpPr>
        <p:sp>
          <p:nvSpPr>
            <p:cNvPr id="8" name="Freeform 8"/>
            <p:cNvSpPr/>
            <p:nvPr/>
          </p:nvSpPr>
          <p:spPr>
            <a:xfrm flipV="1">
              <a:off x="0" y="0"/>
              <a:ext cx="3609594" cy="13716000"/>
            </a:xfrm>
            <a:custGeom>
              <a:avLst/>
              <a:gdLst/>
              <a:ahLst/>
              <a:cxnLst/>
              <a:rect l="l" t="t" r="r" b="b"/>
              <a:pathLst>
                <a:path w="3609594" h="13716000">
                  <a:moveTo>
                    <a:pt x="0" y="0"/>
                  </a:moveTo>
                  <a:lnTo>
                    <a:pt x="3609594" y="0"/>
                  </a:lnTo>
                  <a:lnTo>
                    <a:pt x="3609594" y="13716000"/>
                  </a:lnTo>
                  <a:lnTo>
                    <a:pt x="0" y="13716000"/>
                  </a:lnTo>
                  <a:close/>
                </a:path>
              </a:pathLst>
            </a:custGeom>
            <a:blipFill>
              <a:blip r:embed="rId2"/>
              <a:stretch>
                <a:fillRect l="-2907" r="-2906"/>
              </a:stretch>
            </a:blipFill>
          </p:spPr>
          <p:txBody>
            <a:bodyPr/>
            <a:lstStyle/>
            <a:p>
              <a:endParaRPr lang="vi-VN"/>
            </a:p>
          </p:txBody>
        </p:sp>
      </p:grpSp>
      <p:sp>
        <p:nvSpPr>
          <p:cNvPr id="9" name="TextBox 9"/>
          <p:cNvSpPr txBox="1"/>
          <p:nvPr/>
        </p:nvSpPr>
        <p:spPr>
          <a:xfrm rot="-5400000">
            <a:off x="-2614688" y="6739452"/>
            <a:ext cx="6076721" cy="425920"/>
          </a:xfrm>
          <a:prstGeom prst="rect">
            <a:avLst/>
          </a:prstGeom>
        </p:spPr>
        <p:txBody>
          <a:bodyPr lIns="0" tIns="0" rIns="0" bIns="0" rtlCol="0" anchor="t">
            <a:spAutoFit/>
          </a:bodyPr>
          <a:lstStyle/>
          <a:p>
            <a:pPr algn="l">
              <a:lnSpc>
                <a:spcPts val="2879"/>
              </a:lnSpc>
            </a:pPr>
            <a:r>
              <a:rPr lang="en-US" sz="2400" b="1">
                <a:solidFill>
                  <a:srgbClr val="FFFFFF"/>
                </a:solidFill>
                <a:latin typeface="Arial Bold"/>
                <a:ea typeface="Arial Bold"/>
                <a:cs typeface="Arial Bold"/>
                <a:sym typeface="Arial Bold"/>
              </a:rPr>
              <a:t>FACULTY OF COMPUTER ENGINEERING</a:t>
            </a:r>
          </a:p>
        </p:txBody>
      </p:sp>
      <p:grpSp>
        <p:nvGrpSpPr>
          <p:cNvPr id="10" name="Group 10"/>
          <p:cNvGrpSpPr/>
          <p:nvPr/>
        </p:nvGrpSpPr>
        <p:grpSpPr>
          <a:xfrm>
            <a:off x="6719973" y="293294"/>
            <a:ext cx="4848044" cy="957948"/>
            <a:chOff x="0" y="0"/>
            <a:chExt cx="6464059" cy="1277264"/>
          </a:xfrm>
        </p:grpSpPr>
        <p:sp>
          <p:nvSpPr>
            <p:cNvPr id="11" name="Freeform 11"/>
            <p:cNvSpPr/>
            <p:nvPr/>
          </p:nvSpPr>
          <p:spPr>
            <a:xfrm>
              <a:off x="0" y="0"/>
              <a:ext cx="6464173" cy="1277366"/>
            </a:xfrm>
            <a:custGeom>
              <a:avLst/>
              <a:gdLst/>
              <a:ahLst/>
              <a:cxnLst/>
              <a:rect l="l" t="t" r="r" b="b"/>
              <a:pathLst>
                <a:path w="6464173" h="1277366">
                  <a:moveTo>
                    <a:pt x="0" y="638683"/>
                  </a:moveTo>
                  <a:cubicBezTo>
                    <a:pt x="0" y="285877"/>
                    <a:pt x="285877" y="0"/>
                    <a:pt x="638683" y="0"/>
                  </a:cubicBezTo>
                  <a:lnTo>
                    <a:pt x="5825490" y="0"/>
                  </a:lnTo>
                  <a:cubicBezTo>
                    <a:pt x="6178169" y="0"/>
                    <a:pt x="6464173" y="285877"/>
                    <a:pt x="6464173" y="638683"/>
                  </a:cubicBezTo>
                  <a:cubicBezTo>
                    <a:pt x="6464173" y="991489"/>
                    <a:pt x="6178296" y="1277366"/>
                    <a:pt x="5825490" y="1277366"/>
                  </a:cubicBezTo>
                  <a:lnTo>
                    <a:pt x="638683" y="1277366"/>
                  </a:lnTo>
                  <a:cubicBezTo>
                    <a:pt x="285877" y="1277239"/>
                    <a:pt x="0" y="991362"/>
                    <a:pt x="0" y="638683"/>
                  </a:cubicBezTo>
                  <a:close/>
                </a:path>
              </a:pathLst>
            </a:custGeom>
            <a:gradFill rotWithShape="1">
              <a:gsLst>
                <a:gs pos="0">
                  <a:srgbClr val="38EF7D">
                    <a:alpha val="100000"/>
                  </a:srgbClr>
                </a:gs>
                <a:gs pos="100000">
                  <a:srgbClr val="752AFF">
                    <a:alpha val="100000"/>
                  </a:srgbClr>
                </a:gs>
              </a:gsLst>
              <a:lin ang="4729360"/>
            </a:gradFill>
          </p:spPr>
          <p:txBody>
            <a:bodyPr/>
            <a:lstStyle/>
            <a:p>
              <a:endParaRPr lang="vi-VN"/>
            </a:p>
          </p:txBody>
        </p:sp>
      </p:grpSp>
      <p:grpSp>
        <p:nvGrpSpPr>
          <p:cNvPr id="12" name="Group 12"/>
          <p:cNvGrpSpPr/>
          <p:nvPr/>
        </p:nvGrpSpPr>
        <p:grpSpPr>
          <a:xfrm>
            <a:off x="6807460" y="371332"/>
            <a:ext cx="4673079" cy="801872"/>
            <a:chOff x="0" y="0"/>
            <a:chExt cx="6230772" cy="1069162"/>
          </a:xfrm>
        </p:grpSpPr>
        <p:sp>
          <p:nvSpPr>
            <p:cNvPr id="13" name="Freeform 13"/>
            <p:cNvSpPr/>
            <p:nvPr/>
          </p:nvSpPr>
          <p:spPr>
            <a:xfrm>
              <a:off x="0" y="0"/>
              <a:ext cx="6230747" cy="1069086"/>
            </a:xfrm>
            <a:custGeom>
              <a:avLst/>
              <a:gdLst/>
              <a:ahLst/>
              <a:cxnLst/>
              <a:rect l="l" t="t" r="r" b="b"/>
              <a:pathLst>
                <a:path w="6230747" h="1069086">
                  <a:moveTo>
                    <a:pt x="0" y="534543"/>
                  </a:moveTo>
                  <a:cubicBezTo>
                    <a:pt x="0" y="239395"/>
                    <a:pt x="239395" y="0"/>
                    <a:pt x="534543" y="0"/>
                  </a:cubicBezTo>
                  <a:lnTo>
                    <a:pt x="5696204" y="0"/>
                  </a:lnTo>
                  <a:cubicBezTo>
                    <a:pt x="5991479" y="0"/>
                    <a:pt x="6230747" y="239395"/>
                    <a:pt x="6230747" y="534543"/>
                  </a:cubicBezTo>
                  <a:cubicBezTo>
                    <a:pt x="6230747" y="829691"/>
                    <a:pt x="5991352" y="1069086"/>
                    <a:pt x="5696204" y="1069086"/>
                  </a:cubicBezTo>
                  <a:lnTo>
                    <a:pt x="534543" y="1069086"/>
                  </a:lnTo>
                  <a:cubicBezTo>
                    <a:pt x="239395" y="1069213"/>
                    <a:pt x="0" y="829818"/>
                    <a:pt x="0" y="534543"/>
                  </a:cubicBezTo>
                  <a:close/>
                </a:path>
              </a:pathLst>
            </a:custGeom>
            <a:solidFill>
              <a:srgbClr val="FFFFFF"/>
            </a:solidFill>
          </p:spPr>
          <p:txBody>
            <a:bodyPr/>
            <a:lstStyle/>
            <a:p>
              <a:endParaRPr lang="vi-VN"/>
            </a:p>
          </p:txBody>
        </p:sp>
      </p:grpSp>
      <p:grpSp>
        <p:nvGrpSpPr>
          <p:cNvPr id="14" name="Group 14"/>
          <p:cNvGrpSpPr/>
          <p:nvPr/>
        </p:nvGrpSpPr>
        <p:grpSpPr>
          <a:xfrm>
            <a:off x="9436446" y="197910"/>
            <a:ext cx="1163307" cy="1152592"/>
            <a:chOff x="0" y="0"/>
            <a:chExt cx="1551076" cy="1536789"/>
          </a:xfrm>
        </p:grpSpPr>
        <p:sp>
          <p:nvSpPr>
            <p:cNvPr id="15" name="Freeform 15" descr="Icon  Description automatically generated with medium confidence"/>
            <p:cNvSpPr/>
            <p:nvPr/>
          </p:nvSpPr>
          <p:spPr>
            <a:xfrm>
              <a:off x="0" y="0"/>
              <a:ext cx="1551051" cy="1536827"/>
            </a:xfrm>
            <a:custGeom>
              <a:avLst/>
              <a:gdLst/>
              <a:ahLst/>
              <a:cxnLst/>
              <a:rect l="l" t="t" r="r" b="b"/>
              <a:pathLst>
                <a:path w="1551051" h="1536827">
                  <a:moveTo>
                    <a:pt x="0" y="0"/>
                  </a:moveTo>
                  <a:lnTo>
                    <a:pt x="1551051" y="0"/>
                  </a:lnTo>
                  <a:lnTo>
                    <a:pt x="1551051" y="1536827"/>
                  </a:lnTo>
                  <a:lnTo>
                    <a:pt x="0" y="1536827"/>
                  </a:lnTo>
                  <a:lnTo>
                    <a:pt x="0" y="0"/>
                  </a:lnTo>
                  <a:close/>
                </a:path>
              </a:pathLst>
            </a:custGeom>
            <a:blipFill>
              <a:blip r:embed="rId3"/>
              <a:stretch>
                <a:fillRect l="-75" r="-76" b="2"/>
              </a:stretch>
            </a:blipFill>
          </p:spPr>
          <p:txBody>
            <a:bodyPr/>
            <a:lstStyle/>
            <a:p>
              <a:endParaRPr lang="vi-VN"/>
            </a:p>
          </p:txBody>
        </p:sp>
      </p:grpSp>
      <p:grpSp>
        <p:nvGrpSpPr>
          <p:cNvPr id="16" name="Group 16"/>
          <p:cNvGrpSpPr/>
          <p:nvPr/>
        </p:nvGrpSpPr>
        <p:grpSpPr>
          <a:xfrm>
            <a:off x="7688247" y="233439"/>
            <a:ext cx="1307516" cy="1081516"/>
            <a:chOff x="0" y="0"/>
            <a:chExt cx="1743354" cy="1442022"/>
          </a:xfrm>
        </p:grpSpPr>
        <p:sp>
          <p:nvSpPr>
            <p:cNvPr id="17" name="Freeform 17" descr="A picture containing clipart, vector graphics  Description automatically generated"/>
            <p:cNvSpPr/>
            <p:nvPr/>
          </p:nvSpPr>
          <p:spPr>
            <a:xfrm>
              <a:off x="0" y="0"/>
              <a:ext cx="1743329" cy="1442085"/>
            </a:xfrm>
            <a:custGeom>
              <a:avLst/>
              <a:gdLst/>
              <a:ahLst/>
              <a:cxnLst/>
              <a:rect l="l" t="t" r="r" b="b"/>
              <a:pathLst>
                <a:path w="1743329" h="1442085">
                  <a:moveTo>
                    <a:pt x="0" y="0"/>
                  </a:moveTo>
                  <a:lnTo>
                    <a:pt x="1743329" y="0"/>
                  </a:lnTo>
                  <a:lnTo>
                    <a:pt x="1743329" y="1442085"/>
                  </a:lnTo>
                  <a:lnTo>
                    <a:pt x="0" y="1442085"/>
                  </a:lnTo>
                  <a:lnTo>
                    <a:pt x="0" y="0"/>
                  </a:lnTo>
                  <a:close/>
                </a:path>
              </a:pathLst>
            </a:custGeom>
            <a:blipFill>
              <a:blip r:embed="rId4"/>
              <a:stretch>
                <a:fillRect t="-74" r="-1" b="-71"/>
              </a:stretch>
            </a:blipFill>
          </p:spPr>
          <p:txBody>
            <a:bodyPr/>
            <a:lstStyle/>
            <a:p>
              <a:endParaRPr lang="vi-VN"/>
            </a:p>
          </p:txBody>
        </p:sp>
      </p:grpSp>
      <p:sp>
        <p:nvSpPr>
          <p:cNvPr id="18" name="Freeform 18"/>
          <p:cNvSpPr/>
          <p:nvPr/>
        </p:nvSpPr>
        <p:spPr>
          <a:xfrm>
            <a:off x="17262338" y="364607"/>
            <a:ext cx="819198" cy="819198"/>
          </a:xfrm>
          <a:custGeom>
            <a:avLst/>
            <a:gdLst/>
            <a:ahLst/>
            <a:cxnLst/>
            <a:rect l="l" t="t" r="r" b="b"/>
            <a:pathLst>
              <a:path w="819198" h="819198">
                <a:moveTo>
                  <a:pt x="0" y="0"/>
                </a:moveTo>
                <a:lnTo>
                  <a:pt x="819198" y="0"/>
                </a:lnTo>
                <a:lnTo>
                  <a:pt x="819198" y="819198"/>
                </a:lnTo>
                <a:lnTo>
                  <a:pt x="0" y="81919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vi-VN"/>
          </a:p>
        </p:txBody>
      </p:sp>
      <p:grpSp>
        <p:nvGrpSpPr>
          <p:cNvPr id="19" name="Group 19"/>
          <p:cNvGrpSpPr/>
          <p:nvPr/>
        </p:nvGrpSpPr>
        <p:grpSpPr>
          <a:xfrm>
            <a:off x="1705232" y="2175643"/>
            <a:ext cx="15315943" cy="6434480"/>
            <a:chOff x="0" y="0"/>
            <a:chExt cx="20421257" cy="8579307"/>
          </a:xfrm>
        </p:grpSpPr>
        <p:sp>
          <p:nvSpPr>
            <p:cNvPr id="20" name="Freeform 20"/>
            <p:cNvSpPr/>
            <p:nvPr/>
          </p:nvSpPr>
          <p:spPr>
            <a:xfrm>
              <a:off x="0" y="0"/>
              <a:ext cx="20421346" cy="8579358"/>
            </a:xfrm>
            <a:custGeom>
              <a:avLst/>
              <a:gdLst/>
              <a:ahLst/>
              <a:cxnLst/>
              <a:rect l="l" t="t" r="r" b="b"/>
              <a:pathLst>
                <a:path w="20421346" h="8579358">
                  <a:moveTo>
                    <a:pt x="0" y="231775"/>
                  </a:moveTo>
                  <a:cubicBezTo>
                    <a:pt x="0" y="103759"/>
                    <a:pt x="103759" y="0"/>
                    <a:pt x="231775" y="0"/>
                  </a:cubicBezTo>
                  <a:lnTo>
                    <a:pt x="20189571" y="0"/>
                  </a:lnTo>
                  <a:cubicBezTo>
                    <a:pt x="20317586" y="0"/>
                    <a:pt x="20421346" y="103759"/>
                    <a:pt x="20421346" y="231775"/>
                  </a:cubicBezTo>
                  <a:lnTo>
                    <a:pt x="20421346" y="8347583"/>
                  </a:lnTo>
                  <a:cubicBezTo>
                    <a:pt x="20421346" y="8475599"/>
                    <a:pt x="20317586" y="8579358"/>
                    <a:pt x="20189571" y="8579358"/>
                  </a:cubicBezTo>
                  <a:lnTo>
                    <a:pt x="231775" y="8579358"/>
                  </a:lnTo>
                  <a:cubicBezTo>
                    <a:pt x="103759" y="8579358"/>
                    <a:pt x="0" y="8475599"/>
                    <a:pt x="0" y="8347583"/>
                  </a:cubicBezTo>
                  <a:close/>
                </a:path>
              </a:pathLst>
            </a:custGeom>
            <a:blipFill>
              <a:blip r:embed="rId6"/>
              <a:stretch>
                <a:fillRect l="-189" r="-189"/>
              </a:stretch>
            </a:blipFill>
          </p:spPr>
          <p:txBody>
            <a:bodyPr/>
            <a:lstStyle/>
            <a:p>
              <a:endParaRPr lang="vi-VN"/>
            </a:p>
          </p:txBody>
        </p:sp>
      </p:grpSp>
      <p:grpSp>
        <p:nvGrpSpPr>
          <p:cNvPr id="21" name="Group 21"/>
          <p:cNvGrpSpPr/>
          <p:nvPr/>
        </p:nvGrpSpPr>
        <p:grpSpPr>
          <a:xfrm>
            <a:off x="1705232" y="2175643"/>
            <a:ext cx="15315943" cy="6434480"/>
            <a:chOff x="0" y="0"/>
            <a:chExt cx="20421257" cy="8579307"/>
          </a:xfrm>
        </p:grpSpPr>
        <p:sp>
          <p:nvSpPr>
            <p:cNvPr id="22" name="Freeform 22"/>
            <p:cNvSpPr/>
            <p:nvPr/>
          </p:nvSpPr>
          <p:spPr>
            <a:xfrm>
              <a:off x="0" y="0"/>
              <a:ext cx="20421346" cy="8579358"/>
            </a:xfrm>
            <a:custGeom>
              <a:avLst/>
              <a:gdLst/>
              <a:ahLst/>
              <a:cxnLst/>
              <a:rect l="l" t="t" r="r" b="b"/>
              <a:pathLst>
                <a:path w="20421346" h="8579358">
                  <a:moveTo>
                    <a:pt x="0" y="231775"/>
                  </a:moveTo>
                  <a:cubicBezTo>
                    <a:pt x="0" y="103759"/>
                    <a:pt x="103759" y="0"/>
                    <a:pt x="231775" y="0"/>
                  </a:cubicBezTo>
                  <a:lnTo>
                    <a:pt x="20189571" y="0"/>
                  </a:lnTo>
                  <a:cubicBezTo>
                    <a:pt x="20317586" y="0"/>
                    <a:pt x="20421346" y="103759"/>
                    <a:pt x="20421346" y="231775"/>
                  </a:cubicBezTo>
                  <a:lnTo>
                    <a:pt x="20421346" y="8347583"/>
                  </a:lnTo>
                  <a:cubicBezTo>
                    <a:pt x="20421346" y="8475599"/>
                    <a:pt x="20317586" y="8579358"/>
                    <a:pt x="20189571" y="8579358"/>
                  </a:cubicBezTo>
                  <a:lnTo>
                    <a:pt x="231775" y="8579358"/>
                  </a:lnTo>
                  <a:cubicBezTo>
                    <a:pt x="103759" y="8579358"/>
                    <a:pt x="0" y="8475599"/>
                    <a:pt x="0" y="8347583"/>
                  </a:cubicBezTo>
                  <a:close/>
                </a:path>
              </a:pathLst>
            </a:custGeom>
            <a:gradFill rotWithShape="1">
              <a:gsLst>
                <a:gs pos="0">
                  <a:srgbClr val="38EF7D">
                    <a:alpha val="40000"/>
                  </a:srgbClr>
                </a:gs>
                <a:gs pos="100000">
                  <a:srgbClr val="11998E">
                    <a:alpha val="40000"/>
                  </a:srgbClr>
                </a:gs>
              </a:gsLst>
              <a:lin ang="4032715"/>
            </a:gradFill>
          </p:spPr>
          <p:txBody>
            <a:bodyPr/>
            <a:lstStyle/>
            <a:p>
              <a:endParaRPr lang="vi-VN"/>
            </a:p>
          </p:txBody>
        </p:sp>
      </p:grpSp>
      <p:grpSp>
        <p:nvGrpSpPr>
          <p:cNvPr id="23" name="Group 23"/>
          <p:cNvGrpSpPr/>
          <p:nvPr/>
        </p:nvGrpSpPr>
        <p:grpSpPr>
          <a:xfrm>
            <a:off x="0" y="2124"/>
            <a:ext cx="18291715" cy="10295487"/>
            <a:chOff x="0" y="0"/>
            <a:chExt cx="24388953" cy="13727316"/>
          </a:xfrm>
        </p:grpSpPr>
        <p:sp>
          <p:nvSpPr>
            <p:cNvPr id="24" name="Freeform 24"/>
            <p:cNvSpPr/>
            <p:nvPr/>
          </p:nvSpPr>
          <p:spPr>
            <a:xfrm>
              <a:off x="0" y="0"/>
              <a:ext cx="24388953" cy="13727303"/>
            </a:xfrm>
            <a:custGeom>
              <a:avLst/>
              <a:gdLst/>
              <a:ahLst/>
              <a:cxnLst/>
              <a:rect l="l" t="t" r="r" b="b"/>
              <a:pathLst>
                <a:path w="24388953" h="1372730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txBody>
            <a:bodyPr/>
            <a:lstStyle/>
            <a:p>
              <a:endParaRPr lang="vi-VN"/>
            </a:p>
          </p:txBody>
        </p:sp>
      </p:grpSp>
      <p:grpSp>
        <p:nvGrpSpPr>
          <p:cNvPr id="25" name="Group 25"/>
          <p:cNvGrpSpPr/>
          <p:nvPr/>
        </p:nvGrpSpPr>
        <p:grpSpPr>
          <a:xfrm>
            <a:off x="10848975" y="9534525"/>
            <a:ext cx="6172200" cy="547688"/>
            <a:chOff x="0" y="0"/>
            <a:chExt cx="8229600" cy="730250"/>
          </a:xfrm>
        </p:grpSpPr>
        <p:sp>
          <p:nvSpPr>
            <p:cNvPr id="26" name="Freeform 26"/>
            <p:cNvSpPr/>
            <p:nvPr/>
          </p:nvSpPr>
          <p:spPr>
            <a:xfrm>
              <a:off x="0" y="0"/>
              <a:ext cx="8229600" cy="730250"/>
            </a:xfrm>
            <a:custGeom>
              <a:avLst/>
              <a:gdLst/>
              <a:ahLst/>
              <a:cxnLst/>
              <a:rect l="l" t="t" r="r" b="b"/>
              <a:pathLst>
                <a:path w="8229600" h="730250">
                  <a:moveTo>
                    <a:pt x="0" y="0"/>
                  </a:moveTo>
                  <a:lnTo>
                    <a:pt x="8229600" y="0"/>
                  </a:lnTo>
                  <a:lnTo>
                    <a:pt x="8229600" y="730250"/>
                  </a:lnTo>
                  <a:lnTo>
                    <a:pt x="0" y="730250"/>
                  </a:lnTo>
                  <a:close/>
                </a:path>
              </a:pathLst>
            </a:custGeom>
            <a:blipFill>
              <a:blip r:embed="rId7">
                <a:alphaModFix amt="0"/>
              </a:blip>
              <a:stretch>
                <a:fillRect t="-169587" b="-169587"/>
              </a:stretch>
            </a:blipFill>
          </p:spPr>
          <p:txBody>
            <a:bodyPr/>
            <a:lstStyle/>
            <a:p>
              <a:endParaRPr lang="vi-VN"/>
            </a:p>
          </p:txBody>
        </p:sp>
        <p:sp>
          <p:nvSpPr>
            <p:cNvPr id="27" name="TextBox 27"/>
            <p:cNvSpPr txBox="1"/>
            <p:nvPr/>
          </p:nvSpPr>
          <p:spPr>
            <a:xfrm>
              <a:off x="0" y="-19050"/>
              <a:ext cx="8229600" cy="749300"/>
            </a:xfrm>
            <a:prstGeom prst="rect">
              <a:avLst/>
            </a:prstGeom>
          </p:spPr>
          <p:txBody>
            <a:bodyPr lIns="0" tIns="0" rIns="0" bIns="0" rtlCol="0" anchor="ctr"/>
            <a:lstStyle/>
            <a:p>
              <a:pPr algn="ctr">
                <a:lnSpc>
                  <a:spcPts val="2160"/>
                </a:lnSpc>
              </a:pPr>
              <a:r>
                <a:rPr lang="en-US" sz="1800">
                  <a:solidFill>
                    <a:srgbClr val="898989"/>
                  </a:solidFill>
                  <a:latin typeface="Arial"/>
                  <a:ea typeface="Arial"/>
                  <a:cs typeface="Arial"/>
                  <a:sym typeface="Arial"/>
                </a:rPr>
                <a:t>Copyrights 2024 CE-UIT. All Rights Reserved.</a:t>
              </a:r>
            </a:p>
          </p:txBody>
        </p:sp>
      </p:grpSp>
      <p:grpSp>
        <p:nvGrpSpPr>
          <p:cNvPr id="28" name="Group 28"/>
          <p:cNvGrpSpPr/>
          <p:nvPr/>
        </p:nvGrpSpPr>
        <p:grpSpPr>
          <a:xfrm>
            <a:off x="15614542" y="498424"/>
            <a:ext cx="4114800" cy="547688"/>
            <a:chOff x="0" y="0"/>
            <a:chExt cx="5486400" cy="730250"/>
          </a:xfrm>
        </p:grpSpPr>
        <p:sp>
          <p:nvSpPr>
            <p:cNvPr id="29" name="Freeform 29"/>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blipFill>
              <a:blip r:embed="rId7">
                <a:alphaModFix amt="0"/>
              </a:blip>
              <a:stretch>
                <a:fillRect t="-96391" b="-96391"/>
              </a:stretch>
            </a:blipFill>
          </p:spPr>
          <p:txBody>
            <a:bodyPr/>
            <a:lstStyle/>
            <a:p>
              <a:endParaRPr lang="vi-VN"/>
            </a:p>
          </p:txBody>
        </p:sp>
        <p:sp>
          <p:nvSpPr>
            <p:cNvPr id="30" name="TextBox 30"/>
            <p:cNvSpPr txBox="1"/>
            <p:nvPr/>
          </p:nvSpPr>
          <p:spPr>
            <a:xfrm>
              <a:off x="0" y="-19050"/>
              <a:ext cx="5486400" cy="749300"/>
            </a:xfrm>
            <a:prstGeom prst="rect">
              <a:avLst/>
            </a:prstGeom>
          </p:spPr>
          <p:txBody>
            <a:bodyPr lIns="0" tIns="0" rIns="0" bIns="0" rtlCol="0" anchor="ctr"/>
            <a:lstStyle/>
            <a:p>
              <a:pPr algn="ctr">
                <a:lnSpc>
                  <a:spcPts val="2160"/>
                </a:lnSpc>
              </a:pPr>
              <a:r>
                <a:rPr lang="en-US" sz="1800">
                  <a:solidFill>
                    <a:srgbClr val="FFFFFF"/>
                  </a:solidFill>
                  <a:latin typeface="Arial"/>
                  <a:ea typeface="Arial"/>
                  <a:cs typeface="Arial"/>
                  <a:sym typeface="Arial"/>
                </a:rPr>
                <a:t>8</a:t>
              </a:r>
            </a:p>
          </p:txBody>
        </p:sp>
      </p:grpSp>
      <p:grpSp>
        <p:nvGrpSpPr>
          <p:cNvPr id="31" name="Group 31"/>
          <p:cNvGrpSpPr/>
          <p:nvPr/>
        </p:nvGrpSpPr>
        <p:grpSpPr>
          <a:xfrm>
            <a:off x="2480042" y="3638074"/>
            <a:ext cx="13766324" cy="2258930"/>
            <a:chOff x="-1" y="0"/>
            <a:chExt cx="18355098" cy="3011907"/>
          </a:xfrm>
        </p:grpSpPr>
        <p:sp>
          <p:nvSpPr>
            <p:cNvPr id="32" name="Freeform 32"/>
            <p:cNvSpPr/>
            <p:nvPr/>
          </p:nvSpPr>
          <p:spPr>
            <a:xfrm>
              <a:off x="0" y="0"/>
              <a:ext cx="18355097" cy="3011906"/>
            </a:xfrm>
            <a:custGeom>
              <a:avLst/>
              <a:gdLst/>
              <a:ahLst/>
              <a:cxnLst/>
              <a:rect l="l" t="t" r="r" b="b"/>
              <a:pathLst>
                <a:path w="18355097" h="3011906">
                  <a:moveTo>
                    <a:pt x="0" y="0"/>
                  </a:moveTo>
                  <a:lnTo>
                    <a:pt x="18355097" y="0"/>
                  </a:lnTo>
                  <a:lnTo>
                    <a:pt x="18355097" y="3011906"/>
                  </a:lnTo>
                  <a:lnTo>
                    <a:pt x="0" y="3011906"/>
                  </a:lnTo>
                  <a:close/>
                </a:path>
              </a:pathLst>
            </a:custGeom>
            <a:blipFill>
              <a:blip r:embed="rId7">
                <a:alphaModFix amt="0"/>
              </a:blip>
              <a:stretch>
                <a:fillRect t="-68745" b="-68745"/>
              </a:stretch>
            </a:blipFill>
          </p:spPr>
          <p:txBody>
            <a:bodyPr/>
            <a:lstStyle/>
            <a:p>
              <a:endParaRPr lang="vi-VN"/>
            </a:p>
          </p:txBody>
        </p:sp>
        <p:sp>
          <p:nvSpPr>
            <p:cNvPr id="33" name="TextBox 33"/>
            <p:cNvSpPr txBox="1"/>
            <p:nvPr/>
          </p:nvSpPr>
          <p:spPr>
            <a:xfrm>
              <a:off x="-1" y="38100"/>
              <a:ext cx="16708476" cy="2973807"/>
            </a:xfrm>
            <a:prstGeom prst="rect">
              <a:avLst/>
            </a:prstGeom>
          </p:spPr>
          <p:txBody>
            <a:bodyPr lIns="0" tIns="0" rIns="0" bIns="0" rtlCol="0" anchor="ctr"/>
            <a:lstStyle/>
            <a:p>
              <a:pPr>
                <a:lnSpc>
                  <a:spcPts val="7873"/>
                </a:lnSpc>
              </a:pPr>
              <a:r>
                <a:rPr lang="en-US" sz="7290" b="1" dirty="0">
                  <a:solidFill>
                    <a:srgbClr val="FFFFFF"/>
                  </a:solidFill>
                  <a:latin typeface="Times New Roman Bold"/>
                  <a:ea typeface="Times New Roman Bold"/>
                  <a:cs typeface="Times New Roman Bold"/>
                  <a:sym typeface="Times New Roman Bold"/>
                </a:rPr>
                <a:t>KIẾN TRÚC VÀ GIẢI PHÁP ĐỀ XUẤT </a:t>
              </a:r>
            </a:p>
          </p:txBody>
        </p:sp>
      </p:grpSp>
      <p:sp>
        <p:nvSpPr>
          <p:cNvPr id="34" name="TextBox 34"/>
          <p:cNvSpPr txBox="1"/>
          <p:nvPr/>
        </p:nvSpPr>
        <p:spPr>
          <a:xfrm>
            <a:off x="2571483" y="1020985"/>
            <a:ext cx="2896076" cy="2454116"/>
          </a:xfrm>
          <a:prstGeom prst="rect">
            <a:avLst/>
          </a:prstGeom>
        </p:spPr>
        <p:txBody>
          <a:bodyPr lIns="0" tIns="0" rIns="0" bIns="0" rtlCol="0" anchor="t">
            <a:spAutoFit/>
          </a:bodyPr>
          <a:lstStyle/>
          <a:p>
            <a:pPr algn="l">
              <a:lnSpc>
                <a:spcPts val="18630"/>
              </a:lnSpc>
            </a:pPr>
            <a:r>
              <a:rPr lang="en-US" sz="17250" b="1" dirty="0">
                <a:solidFill>
                  <a:schemeClr val="bg1">
                    <a:alpha val="65098"/>
                  </a:schemeClr>
                </a:solidFill>
                <a:latin typeface="Arial Bold"/>
                <a:ea typeface="Arial Bold"/>
                <a:cs typeface="Arial Bold"/>
                <a:sym typeface="Arial Bold"/>
              </a:rPr>
              <a:t>02</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91440" y="-2287991"/>
            <a:ext cx="18105120" cy="527771"/>
          </a:xfrm>
          <a:prstGeom prst="rect">
            <a:avLst/>
          </a:prstGeom>
        </p:spPr>
        <p:txBody>
          <a:bodyPr lIns="0" tIns="0" rIns="0" bIns="0" rtlCol="0" anchor="t">
            <a:spAutoFit/>
          </a:bodyPr>
          <a:lstStyle/>
          <a:p>
            <a:pPr algn="ctr">
              <a:lnSpc>
                <a:spcPts val="3600"/>
              </a:lnSpc>
            </a:pPr>
            <a:r>
              <a:rPr lang="en-US" sz="3000">
                <a:solidFill>
                  <a:srgbClr val="C3C3C3"/>
                </a:solidFill>
                <a:latin typeface="Arial"/>
                <a:ea typeface="Arial"/>
                <a:cs typeface="Arial"/>
                <a:sym typeface="Arial"/>
              </a:rPr>
              <a:t>www.9slide.vn</a:t>
            </a:r>
          </a:p>
        </p:txBody>
      </p:sp>
      <p:grpSp>
        <p:nvGrpSpPr>
          <p:cNvPr id="3" name="Group 3"/>
          <p:cNvGrpSpPr/>
          <p:nvPr/>
        </p:nvGrpSpPr>
        <p:grpSpPr>
          <a:xfrm>
            <a:off x="0" y="2124"/>
            <a:ext cx="18291715" cy="10295487"/>
            <a:chOff x="0" y="0"/>
            <a:chExt cx="24388953" cy="13727316"/>
          </a:xfrm>
        </p:grpSpPr>
        <p:sp>
          <p:nvSpPr>
            <p:cNvPr id="4" name="Freeform 4"/>
            <p:cNvSpPr/>
            <p:nvPr/>
          </p:nvSpPr>
          <p:spPr>
            <a:xfrm>
              <a:off x="0" y="0"/>
              <a:ext cx="24388953" cy="13727303"/>
            </a:xfrm>
            <a:custGeom>
              <a:avLst/>
              <a:gdLst/>
              <a:ahLst/>
              <a:cxnLst/>
              <a:rect l="l" t="t" r="r" b="b"/>
              <a:pathLst>
                <a:path w="24388953" h="1372730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txBody>
            <a:bodyPr/>
            <a:lstStyle/>
            <a:p>
              <a:endParaRPr lang="vi-VN"/>
            </a:p>
          </p:txBody>
        </p:sp>
      </p:grpSp>
      <p:grpSp>
        <p:nvGrpSpPr>
          <p:cNvPr id="5" name="Group 5"/>
          <p:cNvGrpSpPr/>
          <p:nvPr/>
        </p:nvGrpSpPr>
        <p:grpSpPr>
          <a:xfrm rot="5400000">
            <a:off x="8668474" y="-8670065"/>
            <a:ext cx="947328" cy="18291715"/>
            <a:chOff x="0" y="0"/>
            <a:chExt cx="1263104" cy="24388953"/>
          </a:xfrm>
        </p:grpSpPr>
        <p:sp>
          <p:nvSpPr>
            <p:cNvPr id="6" name="Freeform 6"/>
            <p:cNvSpPr/>
            <p:nvPr/>
          </p:nvSpPr>
          <p:spPr>
            <a:xfrm>
              <a:off x="0" y="0"/>
              <a:ext cx="1263142" cy="24388953"/>
            </a:xfrm>
            <a:custGeom>
              <a:avLst/>
              <a:gdLst/>
              <a:ahLst/>
              <a:cxnLst/>
              <a:rect l="l" t="t" r="r" b="b"/>
              <a:pathLst>
                <a:path w="1263142" h="24388953">
                  <a:moveTo>
                    <a:pt x="0" y="0"/>
                  </a:moveTo>
                  <a:lnTo>
                    <a:pt x="1263142" y="0"/>
                  </a:lnTo>
                  <a:lnTo>
                    <a:pt x="1263142" y="24388953"/>
                  </a:lnTo>
                  <a:lnTo>
                    <a:pt x="0" y="24388953"/>
                  </a:lnTo>
                  <a:close/>
                </a:path>
              </a:pathLst>
            </a:custGeom>
            <a:gradFill rotWithShape="1">
              <a:gsLst>
                <a:gs pos="0">
                  <a:srgbClr val="10CD57">
                    <a:alpha val="100000"/>
                  </a:srgbClr>
                </a:gs>
                <a:gs pos="100000">
                  <a:srgbClr val="027159">
                    <a:alpha val="100000"/>
                  </a:srgbClr>
                </a:gs>
              </a:gsLst>
              <a:lin ang="0"/>
            </a:gradFill>
          </p:spPr>
          <p:txBody>
            <a:bodyPr/>
            <a:lstStyle/>
            <a:p>
              <a:endParaRPr lang="vi-VN"/>
            </a:p>
          </p:txBody>
        </p:sp>
      </p:grpSp>
      <p:grpSp>
        <p:nvGrpSpPr>
          <p:cNvPr id="7" name="Group 7"/>
          <p:cNvGrpSpPr/>
          <p:nvPr/>
        </p:nvGrpSpPr>
        <p:grpSpPr>
          <a:xfrm rot="5400000">
            <a:off x="8670331" y="-8672198"/>
            <a:ext cx="947328" cy="18291715"/>
            <a:chOff x="0" y="0"/>
            <a:chExt cx="1263104" cy="24388953"/>
          </a:xfrm>
        </p:grpSpPr>
        <p:sp>
          <p:nvSpPr>
            <p:cNvPr id="8" name="Freeform 8"/>
            <p:cNvSpPr/>
            <p:nvPr/>
          </p:nvSpPr>
          <p:spPr>
            <a:xfrm flipV="1">
              <a:off x="0" y="0"/>
              <a:ext cx="1263142" cy="24388953"/>
            </a:xfrm>
            <a:custGeom>
              <a:avLst/>
              <a:gdLst/>
              <a:ahLst/>
              <a:cxnLst/>
              <a:rect l="l" t="t" r="r" b="b"/>
              <a:pathLst>
                <a:path w="1263142" h="24388953">
                  <a:moveTo>
                    <a:pt x="0" y="0"/>
                  </a:moveTo>
                  <a:lnTo>
                    <a:pt x="1263142" y="0"/>
                  </a:lnTo>
                  <a:lnTo>
                    <a:pt x="1263142" y="24388953"/>
                  </a:lnTo>
                  <a:lnTo>
                    <a:pt x="0" y="24388953"/>
                  </a:lnTo>
                  <a:close/>
                </a:path>
              </a:pathLst>
            </a:custGeom>
            <a:blipFill>
              <a:blip r:embed="rId2"/>
              <a:stretch>
                <a:fillRect l="-35093" r="-35090"/>
              </a:stretch>
            </a:blipFill>
          </p:spPr>
          <p:txBody>
            <a:bodyPr/>
            <a:lstStyle/>
            <a:p>
              <a:endParaRPr lang="vi-VN"/>
            </a:p>
          </p:txBody>
        </p:sp>
      </p:grpSp>
      <p:sp>
        <p:nvSpPr>
          <p:cNvPr id="9" name="TextBox 9"/>
          <p:cNvSpPr txBox="1"/>
          <p:nvPr/>
        </p:nvSpPr>
        <p:spPr>
          <a:xfrm>
            <a:off x="451866" y="248326"/>
            <a:ext cx="10947559" cy="424158"/>
          </a:xfrm>
          <a:prstGeom prst="rect">
            <a:avLst/>
          </a:prstGeom>
        </p:spPr>
        <p:txBody>
          <a:bodyPr lIns="0" tIns="0" rIns="0" bIns="0" rtlCol="0" anchor="t">
            <a:spAutoFit/>
          </a:bodyPr>
          <a:lstStyle/>
          <a:p>
            <a:pPr algn="l">
              <a:lnSpc>
                <a:spcPts val="2879"/>
              </a:lnSpc>
            </a:pPr>
            <a:r>
              <a:rPr lang="en-US" sz="2400" b="1">
                <a:solidFill>
                  <a:srgbClr val="FFFFFF"/>
                </a:solidFill>
                <a:latin typeface="Arial Bold"/>
                <a:ea typeface="Arial Bold"/>
                <a:cs typeface="Arial Bold"/>
                <a:sym typeface="Arial Bold"/>
              </a:rPr>
              <a:t>FACULTY OF COMPUTER ENGINEERING</a:t>
            </a:r>
          </a:p>
        </p:txBody>
      </p:sp>
      <p:grpSp>
        <p:nvGrpSpPr>
          <p:cNvPr id="10" name="Group 10"/>
          <p:cNvGrpSpPr/>
          <p:nvPr/>
        </p:nvGrpSpPr>
        <p:grpSpPr>
          <a:xfrm>
            <a:off x="6719973" y="457933"/>
            <a:ext cx="4848044" cy="957948"/>
            <a:chOff x="0" y="0"/>
            <a:chExt cx="6464059" cy="1277264"/>
          </a:xfrm>
        </p:grpSpPr>
        <p:sp>
          <p:nvSpPr>
            <p:cNvPr id="11" name="Freeform 11"/>
            <p:cNvSpPr/>
            <p:nvPr/>
          </p:nvSpPr>
          <p:spPr>
            <a:xfrm>
              <a:off x="0" y="0"/>
              <a:ext cx="6464173" cy="1277366"/>
            </a:xfrm>
            <a:custGeom>
              <a:avLst/>
              <a:gdLst/>
              <a:ahLst/>
              <a:cxnLst/>
              <a:rect l="l" t="t" r="r" b="b"/>
              <a:pathLst>
                <a:path w="6464173" h="1277366">
                  <a:moveTo>
                    <a:pt x="0" y="638683"/>
                  </a:moveTo>
                  <a:cubicBezTo>
                    <a:pt x="0" y="285877"/>
                    <a:pt x="285877" y="0"/>
                    <a:pt x="638683" y="0"/>
                  </a:cubicBezTo>
                  <a:lnTo>
                    <a:pt x="5825490" y="0"/>
                  </a:lnTo>
                  <a:cubicBezTo>
                    <a:pt x="6178169" y="0"/>
                    <a:pt x="6464173" y="285877"/>
                    <a:pt x="6464173" y="638683"/>
                  </a:cubicBezTo>
                  <a:cubicBezTo>
                    <a:pt x="6464173" y="991489"/>
                    <a:pt x="6178296" y="1277366"/>
                    <a:pt x="5825490" y="1277366"/>
                  </a:cubicBezTo>
                  <a:lnTo>
                    <a:pt x="638683" y="1277366"/>
                  </a:lnTo>
                  <a:cubicBezTo>
                    <a:pt x="285877" y="1277239"/>
                    <a:pt x="0" y="991362"/>
                    <a:pt x="0" y="638683"/>
                  </a:cubicBezTo>
                  <a:close/>
                </a:path>
              </a:pathLst>
            </a:custGeom>
            <a:gradFill rotWithShape="1">
              <a:gsLst>
                <a:gs pos="0">
                  <a:srgbClr val="38EF7D">
                    <a:alpha val="100000"/>
                  </a:srgbClr>
                </a:gs>
                <a:gs pos="100000">
                  <a:srgbClr val="752AFF">
                    <a:alpha val="100000"/>
                  </a:srgbClr>
                </a:gs>
              </a:gsLst>
              <a:lin ang="4729360"/>
            </a:gradFill>
          </p:spPr>
          <p:txBody>
            <a:bodyPr/>
            <a:lstStyle/>
            <a:p>
              <a:endParaRPr lang="vi-VN"/>
            </a:p>
          </p:txBody>
        </p:sp>
      </p:grpSp>
      <p:grpSp>
        <p:nvGrpSpPr>
          <p:cNvPr id="12" name="Group 12"/>
          <p:cNvGrpSpPr/>
          <p:nvPr/>
        </p:nvGrpSpPr>
        <p:grpSpPr>
          <a:xfrm>
            <a:off x="6807460" y="535962"/>
            <a:ext cx="4673079" cy="801872"/>
            <a:chOff x="0" y="0"/>
            <a:chExt cx="6230772" cy="1069162"/>
          </a:xfrm>
        </p:grpSpPr>
        <p:sp>
          <p:nvSpPr>
            <p:cNvPr id="13" name="Freeform 13"/>
            <p:cNvSpPr/>
            <p:nvPr/>
          </p:nvSpPr>
          <p:spPr>
            <a:xfrm>
              <a:off x="0" y="0"/>
              <a:ext cx="6230747" cy="1069086"/>
            </a:xfrm>
            <a:custGeom>
              <a:avLst/>
              <a:gdLst/>
              <a:ahLst/>
              <a:cxnLst/>
              <a:rect l="l" t="t" r="r" b="b"/>
              <a:pathLst>
                <a:path w="6230747" h="1069086">
                  <a:moveTo>
                    <a:pt x="0" y="534543"/>
                  </a:moveTo>
                  <a:cubicBezTo>
                    <a:pt x="0" y="239395"/>
                    <a:pt x="239395" y="0"/>
                    <a:pt x="534543" y="0"/>
                  </a:cubicBezTo>
                  <a:lnTo>
                    <a:pt x="5696204" y="0"/>
                  </a:lnTo>
                  <a:cubicBezTo>
                    <a:pt x="5991479" y="0"/>
                    <a:pt x="6230747" y="239395"/>
                    <a:pt x="6230747" y="534543"/>
                  </a:cubicBezTo>
                  <a:cubicBezTo>
                    <a:pt x="6230747" y="829691"/>
                    <a:pt x="5991352" y="1069086"/>
                    <a:pt x="5696204" y="1069086"/>
                  </a:cubicBezTo>
                  <a:lnTo>
                    <a:pt x="534543" y="1069086"/>
                  </a:lnTo>
                  <a:cubicBezTo>
                    <a:pt x="239395" y="1069213"/>
                    <a:pt x="0" y="829818"/>
                    <a:pt x="0" y="534543"/>
                  </a:cubicBezTo>
                  <a:close/>
                </a:path>
              </a:pathLst>
            </a:custGeom>
            <a:solidFill>
              <a:srgbClr val="FFFFFF"/>
            </a:solidFill>
          </p:spPr>
          <p:txBody>
            <a:bodyPr/>
            <a:lstStyle/>
            <a:p>
              <a:endParaRPr lang="vi-VN"/>
            </a:p>
          </p:txBody>
        </p:sp>
      </p:grpSp>
      <p:grpSp>
        <p:nvGrpSpPr>
          <p:cNvPr id="14" name="Group 14"/>
          <p:cNvGrpSpPr/>
          <p:nvPr/>
        </p:nvGrpSpPr>
        <p:grpSpPr>
          <a:xfrm>
            <a:off x="9436446" y="362541"/>
            <a:ext cx="1163307" cy="1152592"/>
            <a:chOff x="0" y="0"/>
            <a:chExt cx="1551076" cy="1536789"/>
          </a:xfrm>
        </p:grpSpPr>
        <p:sp>
          <p:nvSpPr>
            <p:cNvPr id="15" name="Freeform 15" descr="Icon  Description automatically generated with medium confidence"/>
            <p:cNvSpPr/>
            <p:nvPr/>
          </p:nvSpPr>
          <p:spPr>
            <a:xfrm>
              <a:off x="0" y="0"/>
              <a:ext cx="1551051" cy="1536827"/>
            </a:xfrm>
            <a:custGeom>
              <a:avLst/>
              <a:gdLst/>
              <a:ahLst/>
              <a:cxnLst/>
              <a:rect l="l" t="t" r="r" b="b"/>
              <a:pathLst>
                <a:path w="1551051" h="1536827">
                  <a:moveTo>
                    <a:pt x="0" y="0"/>
                  </a:moveTo>
                  <a:lnTo>
                    <a:pt x="1551051" y="0"/>
                  </a:lnTo>
                  <a:lnTo>
                    <a:pt x="1551051" y="1536827"/>
                  </a:lnTo>
                  <a:lnTo>
                    <a:pt x="0" y="1536827"/>
                  </a:lnTo>
                  <a:lnTo>
                    <a:pt x="0" y="0"/>
                  </a:lnTo>
                  <a:close/>
                </a:path>
              </a:pathLst>
            </a:custGeom>
            <a:blipFill>
              <a:blip r:embed="rId3"/>
              <a:stretch>
                <a:fillRect l="-75" r="-76" b="2"/>
              </a:stretch>
            </a:blipFill>
          </p:spPr>
          <p:txBody>
            <a:bodyPr/>
            <a:lstStyle/>
            <a:p>
              <a:endParaRPr lang="vi-VN"/>
            </a:p>
          </p:txBody>
        </p:sp>
      </p:grpSp>
      <p:grpSp>
        <p:nvGrpSpPr>
          <p:cNvPr id="16" name="Group 16"/>
          <p:cNvGrpSpPr/>
          <p:nvPr/>
        </p:nvGrpSpPr>
        <p:grpSpPr>
          <a:xfrm>
            <a:off x="7688247" y="398078"/>
            <a:ext cx="1307516" cy="1081516"/>
            <a:chOff x="0" y="0"/>
            <a:chExt cx="1743354" cy="1442022"/>
          </a:xfrm>
        </p:grpSpPr>
        <p:sp>
          <p:nvSpPr>
            <p:cNvPr id="17" name="Freeform 17" descr="A picture containing clipart, vector graphics  Description automatically generated"/>
            <p:cNvSpPr/>
            <p:nvPr/>
          </p:nvSpPr>
          <p:spPr>
            <a:xfrm>
              <a:off x="0" y="0"/>
              <a:ext cx="1743329" cy="1442085"/>
            </a:xfrm>
            <a:custGeom>
              <a:avLst/>
              <a:gdLst/>
              <a:ahLst/>
              <a:cxnLst/>
              <a:rect l="l" t="t" r="r" b="b"/>
              <a:pathLst>
                <a:path w="1743329" h="1442085">
                  <a:moveTo>
                    <a:pt x="0" y="0"/>
                  </a:moveTo>
                  <a:lnTo>
                    <a:pt x="1743329" y="0"/>
                  </a:lnTo>
                  <a:lnTo>
                    <a:pt x="1743329" y="1442085"/>
                  </a:lnTo>
                  <a:lnTo>
                    <a:pt x="0" y="1442085"/>
                  </a:lnTo>
                  <a:lnTo>
                    <a:pt x="0" y="0"/>
                  </a:lnTo>
                  <a:close/>
                </a:path>
              </a:pathLst>
            </a:custGeom>
            <a:blipFill>
              <a:blip r:embed="rId4"/>
              <a:stretch>
                <a:fillRect t="-74" r="-1" b="-71"/>
              </a:stretch>
            </a:blipFill>
          </p:spPr>
          <p:txBody>
            <a:bodyPr/>
            <a:lstStyle/>
            <a:p>
              <a:endParaRPr lang="vi-VN"/>
            </a:p>
          </p:txBody>
        </p:sp>
      </p:grpSp>
      <p:sp>
        <p:nvSpPr>
          <p:cNvPr id="18" name="Freeform 18"/>
          <p:cNvSpPr/>
          <p:nvPr/>
        </p:nvSpPr>
        <p:spPr>
          <a:xfrm>
            <a:off x="17262338" y="9405385"/>
            <a:ext cx="819198" cy="819198"/>
          </a:xfrm>
          <a:custGeom>
            <a:avLst/>
            <a:gdLst/>
            <a:ahLst/>
            <a:cxnLst/>
            <a:rect l="l" t="t" r="r" b="b"/>
            <a:pathLst>
              <a:path w="819198" h="819198">
                <a:moveTo>
                  <a:pt x="0" y="0"/>
                </a:moveTo>
                <a:lnTo>
                  <a:pt x="819198" y="0"/>
                </a:lnTo>
                <a:lnTo>
                  <a:pt x="819198" y="819198"/>
                </a:lnTo>
                <a:lnTo>
                  <a:pt x="0" y="81919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vi-VN"/>
          </a:p>
        </p:txBody>
      </p:sp>
      <p:grpSp>
        <p:nvGrpSpPr>
          <p:cNvPr id="19" name="Group 19"/>
          <p:cNvGrpSpPr/>
          <p:nvPr/>
        </p:nvGrpSpPr>
        <p:grpSpPr>
          <a:xfrm>
            <a:off x="0" y="2124"/>
            <a:ext cx="18291715" cy="10295487"/>
            <a:chOff x="0" y="0"/>
            <a:chExt cx="24388953" cy="13727316"/>
          </a:xfrm>
        </p:grpSpPr>
        <p:sp>
          <p:nvSpPr>
            <p:cNvPr id="20" name="Freeform 20"/>
            <p:cNvSpPr/>
            <p:nvPr/>
          </p:nvSpPr>
          <p:spPr>
            <a:xfrm>
              <a:off x="0" y="0"/>
              <a:ext cx="24388953" cy="13727303"/>
            </a:xfrm>
            <a:custGeom>
              <a:avLst/>
              <a:gdLst/>
              <a:ahLst/>
              <a:cxnLst/>
              <a:rect l="l" t="t" r="r" b="b"/>
              <a:pathLst>
                <a:path w="24388953" h="1372730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txBody>
            <a:bodyPr/>
            <a:lstStyle/>
            <a:p>
              <a:endParaRPr lang="vi-VN"/>
            </a:p>
          </p:txBody>
        </p:sp>
      </p:grpSp>
      <p:sp>
        <p:nvSpPr>
          <p:cNvPr id="23" name="TextBox 23"/>
          <p:cNvSpPr txBox="1"/>
          <p:nvPr/>
        </p:nvSpPr>
        <p:spPr>
          <a:xfrm>
            <a:off x="914400" y="1716905"/>
            <a:ext cx="13873801" cy="1307420"/>
          </a:xfrm>
          <a:prstGeom prst="rect">
            <a:avLst/>
          </a:prstGeom>
        </p:spPr>
        <p:txBody>
          <a:bodyPr lIns="0" tIns="0" rIns="0" bIns="0" rtlCol="0" anchor="ctr"/>
          <a:lstStyle/>
          <a:p>
            <a:pPr>
              <a:lnSpc>
                <a:spcPts val="7128"/>
              </a:lnSpc>
            </a:pPr>
            <a:r>
              <a:rPr lang="en-US" sz="6000" b="1" dirty="0" err="1">
                <a:gradFill>
                  <a:gsLst>
                    <a:gs pos="0">
                      <a:srgbClr val="027159">
                        <a:alpha val="100000"/>
                      </a:srgbClr>
                    </a:gs>
                    <a:gs pos="100000">
                      <a:srgbClr val="10CD57">
                        <a:alpha val="100000"/>
                      </a:srgbClr>
                    </a:gs>
                  </a:gsLst>
                  <a:lin ang="16200000"/>
                </a:gradFill>
                <a:latin typeface="Times New Roman Bold"/>
                <a:ea typeface="Times New Roman Bold"/>
                <a:cs typeface="Times New Roman Bold"/>
                <a:sym typeface="Times New Roman Bold"/>
              </a:rPr>
              <a:t>Kiến</a:t>
            </a:r>
            <a:r>
              <a:rPr lang="en-US" sz="6000" b="1" dirty="0">
                <a:gradFill>
                  <a:gsLst>
                    <a:gs pos="0">
                      <a:srgbClr val="027159">
                        <a:alpha val="100000"/>
                      </a:srgbClr>
                    </a:gs>
                    <a:gs pos="100000">
                      <a:srgbClr val="10CD57">
                        <a:alpha val="100000"/>
                      </a:srgbClr>
                    </a:gs>
                  </a:gsLst>
                  <a:lin ang="16200000"/>
                </a:gradFill>
                <a:latin typeface="Times New Roman Bold"/>
                <a:ea typeface="Times New Roman Bold"/>
                <a:cs typeface="Times New Roman Bold"/>
                <a:sym typeface="Times New Roman Bold"/>
              </a:rPr>
              <a:t> </a:t>
            </a:r>
            <a:r>
              <a:rPr lang="en-US" sz="6000" b="1" dirty="0" err="1">
                <a:gradFill>
                  <a:gsLst>
                    <a:gs pos="0">
                      <a:srgbClr val="027159">
                        <a:alpha val="100000"/>
                      </a:srgbClr>
                    </a:gs>
                    <a:gs pos="100000">
                      <a:srgbClr val="10CD57">
                        <a:alpha val="100000"/>
                      </a:srgbClr>
                    </a:gs>
                  </a:gsLst>
                  <a:lin ang="16200000"/>
                </a:gradFill>
                <a:latin typeface="Times New Roman Bold"/>
                <a:ea typeface="Times New Roman Bold"/>
                <a:cs typeface="Times New Roman Bold"/>
                <a:sym typeface="Times New Roman Bold"/>
              </a:rPr>
              <a:t>trúc</a:t>
            </a:r>
            <a:r>
              <a:rPr lang="en-US" sz="6000" b="1" dirty="0">
                <a:gradFill>
                  <a:gsLst>
                    <a:gs pos="0">
                      <a:srgbClr val="027159">
                        <a:alpha val="100000"/>
                      </a:srgbClr>
                    </a:gs>
                    <a:gs pos="100000">
                      <a:srgbClr val="10CD57">
                        <a:alpha val="100000"/>
                      </a:srgbClr>
                    </a:gs>
                  </a:gsLst>
                  <a:lin ang="16200000"/>
                </a:gradFill>
                <a:latin typeface="Times New Roman Bold"/>
                <a:ea typeface="Times New Roman Bold"/>
                <a:cs typeface="Times New Roman Bold"/>
                <a:sym typeface="Times New Roman Bold"/>
              </a:rPr>
              <a:t> </a:t>
            </a:r>
            <a:r>
              <a:rPr lang="en-US" sz="6000" b="1" dirty="0" err="1">
                <a:gradFill>
                  <a:gsLst>
                    <a:gs pos="0">
                      <a:srgbClr val="027159">
                        <a:alpha val="100000"/>
                      </a:srgbClr>
                    </a:gs>
                    <a:gs pos="100000">
                      <a:srgbClr val="10CD57">
                        <a:alpha val="100000"/>
                      </a:srgbClr>
                    </a:gs>
                  </a:gsLst>
                  <a:lin ang="16200000"/>
                </a:gradFill>
                <a:latin typeface="Times New Roman Bold"/>
                <a:ea typeface="Times New Roman Bold"/>
                <a:cs typeface="Times New Roman Bold"/>
                <a:sym typeface="Times New Roman Bold"/>
              </a:rPr>
              <a:t>tổng</a:t>
            </a:r>
            <a:r>
              <a:rPr lang="en-US" sz="6000" b="1" dirty="0">
                <a:gradFill>
                  <a:gsLst>
                    <a:gs pos="0">
                      <a:srgbClr val="027159">
                        <a:alpha val="100000"/>
                      </a:srgbClr>
                    </a:gs>
                    <a:gs pos="100000">
                      <a:srgbClr val="10CD57">
                        <a:alpha val="100000"/>
                      </a:srgbClr>
                    </a:gs>
                  </a:gsLst>
                  <a:lin ang="16200000"/>
                </a:gradFill>
                <a:latin typeface="Times New Roman Bold"/>
                <a:ea typeface="Times New Roman Bold"/>
                <a:cs typeface="Times New Roman Bold"/>
                <a:sym typeface="Times New Roman Bold"/>
              </a:rPr>
              <a:t> </a:t>
            </a:r>
            <a:r>
              <a:rPr lang="en-US" sz="6000" b="1" dirty="0" err="1">
                <a:gradFill>
                  <a:gsLst>
                    <a:gs pos="0">
                      <a:srgbClr val="027159">
                        <a:alpha val="100000"/>
                      </a:srgbClr>
                    </a:gs>
                    <a:gs pos="100000">
                      <a:srgbClr val="10CD57">
                        <a:alpha val="100000"/>
                      </a:srgbClr>
                    </a:gs>
                  </a:gsLst>
                  <a:lin ang="16200000"/>
                </a:gradFill>
                <a:latin typeface="Times New Roman Bold"/>
                <a:ea typeface="Times New Roman Bold"/>
                <a:cs typeface="Times New Roman Bold"/>
                <a:sym typeface="Times New Roman Bold"/>
              </a:rPr>
              <a:t>quan</a:t>
            </a:r>
            <a:r>
              <a:rPr lang="en-US" sz="6000" b="1" dirty="0">
                <a:gradFill>
                  <a:gsLst>
                    <a:gs pos="0">
                      <a:srgbClr val="027159">
                        <a:alpha val="100000"/>
                      </a:srgbClr>
                    </a:gs>
                    <a:gs pos="100000">
                      <a:srgbClr val="10CD57">
                        <a:alpha val="100000"/>
                      </a:srgbClr>
                    </a:gs>
                  </a:gsLst>
                  <a:lin ang="16200000"/>
                </a:gradFill>
                <a:latin typeface="Times New Roman Bold"/>
                <a:ea typeface="Times New Roman Bold"/>
                <a:cs typeface="Times New Roman Bold"/>
                <a:sym typeface="Times New Roman Bold"/>
              </a:rPr>
              <a:t> </a:t>
            </a:r>
            <a:r>
              <a:rPr lang="en-US" sz="6000" b="1" dirty="0" err="1">
                <a:gradFill>
                  <a:gsLst>
                    <a:gs pos="0">
                      <a:srgbClr val="027159">
                        <a:alpha val="100000"/>
                      </a:srgbClr>
                    </a:gs>
                    <a:gs pos="100000">
                      <a:srgbClr val="10CD57">
                        <a:alpha val="100000"/>
                      </a:srgbClr>
                    </a:gs>
                  </a:gsLst>
                  <a:lin ang="16200000"/>
                </a:gradFill>
                <a:latin typeface="Times New Roman Bold"/>
                <a:ea typeface="Times New Roman Bold"/>
                <a:cs typeface="Times New Roman Bold"/>
                <a:sym typeface="Times New Roman Bold"/>
              </a:rPr>
              <a:t>và</a:t>
            </a:r>
            <a:r>
              <a:rPr lang="en-US" sz="6000" b="1" dirty="0">
                <a:gradFill>
                  <a:gsLst>
                    <a:gs pos="0">
                      <a:srgbClr val="027159">
                        <a:alpha val="100000"/>
                      </a:srgbClr>
                    </a:gs>
                    <a:gs pos="100000">
                      <a:srgbClr val="10CD57">
                        <a:alpha val="100000"/>
                      </a:srgbClr>
                    </a:gs>
                  </a:gsLst>
                  <a:lin ang="16200000"/>
                </a:gradFill>
                <a:latin typeface="Times New Roman Bold"/>
                <a:ea typeface="Times New Roman Bold"/>
                <a:cs typeface="Times New Roman Bold"/>
                <a:sym typeface="Times New Roman Bold"/>
              </a:rPr>
              <a:t> </a:t>
            </a:r>
            <a:r>
              <a:rPr lang="en-US" sz="6000" b="1" dirty="0" err="1">
                <a:gradFill>
                  <a:gsLst>
                    <a:gs pos="0">
                      <a:srgbClr val="027159">
                        <a:alpha val="100000"/>
                      </a:srgbClr>
                    </a:gs>
                    <a:gs pos="100000">
                      <a:srgbClr val="10CD57">
                        <a:alpha val="100000"/>
                      </a:srgbClr>
                    </a:gs>
                  </a:gsLst>
                  <a:lin ang="16200000"/>
                </a:gradFill>
                <a:latin typeface="Times New Roman Bold"/>
                <a:ea typeface="Times New Roman Bold"/>
                <a:cs typeface="Times New Roman Bold"/>
                <a:sym typeface="Times New Roman Bold"/>
              </a:rPr>
              <a:t>luồng</a:t>
            </a:r>
            <a:r>
              <a:rPr lang="en-US" sz="6000" b="1" dirty="0">
                <a:gradFill>
                  <a:gsLst>
                    <a:gs pos="0">
                      <a:srgbClr val="027159">
                        <a:alpha val="100000"/>
                      </a:srgbClr>
                    </a:gs>
                    <a:gs pos="100000">
                      <a:srgbClr val="10CD57">
                        <a:alpha val="100000"/>
                      </a:srgbClr>
                    </a:gs>
                  </a:gsLst>
                  <a:lin ang="16200000"/>
                </a:gradFill>
                <a:latin typeface="Times New Roman Bold"/>
                <a:ea typeface="Times New Roman Bold"/>
                <a:cs typeface="Times New Roman Bold"/>
                <a:sym typeface="Times New Roman Bold"/>
              </a:rPr>
              <a:t> </a:t>
            </a:r>
            <a:r>
              <a:rPr lang="en-US" sz="6000" b="1" dirty="0" err="1">
                <a:gradFill>
                  <a:gsLst>
                    <a:gs pos="0">
                      <a:srgbClr val="027159">
                        <a:alpha val="100000"/>
                      </a:srgbClr>
                    </a:gs>
                    <a:gs pos="100000">
                      <a:srgbClr val="10CD57">
                        <a:alpha val="100000"/>
                      </a:srgbClr>
                    </a:gs>
                  </a:gsLst>
                  <a:lin ang="16200000"/>
                </a:gradFill>
                <a:latin typeface="Times New Roman Bold"/>
                <a:ea typeface="Times New Roman Bold"/>
                <a:cs typeface="Times New Roman Bold"/>
                <a:sym typeface="Times New Roman Bold"/>
              </a:rPr>
              <a:t>giao</a:t>
            </a:r>
            <a:r>
              <a:rPr lang="en-US" sz="6000" b="1" dirty="0">
                <a:gradFill>
                  <a:gsLst>
                    <a:gs pos="0">
                      <a:srgbClr val="027159">
                        <a:alpha val="100000"/>
                      </a:srgbClr>
                    </a:gs>
                    <a:gs pos="100000">
                      <a:srgbClr val="10CD57">
                        <a:alpha val="100000"/>
                      </a:srgbClr>
                    </a:gs>
                  </a:gsLst>
                  <a:lin ang="16200000"/>
                </a:gradFill>
                <a:latin typeface="Times New Roman Bold"/>
                <a:ea typeface="Times New Roman Bold"/>
                <a:cs typeface="Times New Roman Bold"/>
                <a:sym typeface="Times New Roman Bold"/>
              </a:rPr>
              <a:t> </a:t>
            </a:r>
            <a:r>
              <a:rPr lang="en-US" sz="6000" b="1" dirty="0" err="1">
                <a:gradFill>
                  <a:gsLst>
                    <a:gs pos="0">
                      <a:srgbClr val="027159">
                        <a:alpha val="100000"/>
                      </a:srgbClr>
                    </a:gs>
                    <a:gs pos="100000">
                      <a:srgbClr val="10CD57">
                        <a:alpha val="100000"/>
                      </a:srgbClr>
                    </a:gs>
                  </a:gsLst>
                  <a:lin ang="16200000"/>
                </a:gradFill>
                <a:latin typeface="Times New Roman Bold"/>
                <a:ea typeface="Times New Roman Bold"/>
                <a:cs typeface="Times New Roman Bold"/>
                <a:sym typeface="Times New Roman Bold"/>
              </a:rPr>
              <a:t>tiếp</a:t>
            </a:r>
            <a:r>
              <a:rPr lang="en-US" sz="6000" b="1" dirty="0">
                <a:gradFill>
                  <a:gsLst>
                    <a:gs pos="0">
                      <a:srgbClr val="027159">
                        <a:alpha val="100000"/>
                      </a:srgbClr>
                    </a:gs>
                    <a:gs pos="100000">
                      <a:srgbClr val="10CD57">
                        <a:alpha val="100000"/>
                      </a:srgbClr>
                    </a:gs>
                  </a:gsLst>
                  <a:lin ang="16200000"/>
                </a:gradFill>
                <a:latin typeface="Times New Roman Bold"/>
                <a:ea typeface="Times New Roman Bold"/>
                <a:cs typeface="Times New Roman Bold"/>
                <a:sym typeface="Times New Roman Bold"/>
              </a:rPr>
              <a:t> </a:t>
            </a:r>
            <a:r>
              <a:rPr lang="en-US" sz="6000" b="1" dirty="0" err="1">
                <a:gradFill>
                  <a:gsLst>
                    <a:gs pos="0">
                      <a:srgbClr val="027159">
                        <a:alpha val="100000"/>
                      </a:srgbClr>
                    </a:gs>
                    <a:gs pos="100000">
                      <a:srgbClr val="10CD57">
                        <a:alpha val="100000"/>
                      </a:srgbClr>
                    </a:gs>
                  </a:gsLst>
                  <a:lin ang="16200000"/>
                </a:gradFill>
                <a:latin typeface="Times New Roman Bold"/>
                <a:ea typeface="Times New Roman Bold"/>
                <a:cs typeface="Times New Roman Bold"/>
                <a:sym typeface="Times New Roman Bold"/>
              </a:rPr>
              <a:t>giữa</a:t>
            </a:r>
            <a:r>
              <a:rPr lang="en-US" sz="6000" b="1" dirty="0">
                <a:gradFill>
                  <a:gsLst>
                    <a:gs pos="0">
                      <a:srgbClr val="027159">
                        <a:alpha val="100000"/>
                      </a:srgbClr>
                    </a:gs>
                    <a:gs pos="100000">
                      <a:srgbClr val="10CD57">
                        <a:alpha val="100000"/>
                      </a:srgbClr>
                    </a:gs>
                  </a:gsLst>
                  <a:lin ang="16200000"/>
                </a:gradFill>
                <a:latin typeface="Times New Roman Bold"/>
                <a:ea typeface="Times New Roman Bold"/>
                <a:cs typeface="Times New Roman Bold"/>
                <a:sym typeface="Times New Roman Bold"/>
              </a:rPr>
              <a:t> CPU </a:t>
            </a:r>
            <a:r>
              <a:rPr lang="en-US" sz="6000" b="1" dirty="0" err="1">
                <a:gradFill>
                  <a:gsLst>
                    <a:gs pos="0">
                      <a:srgbClr val="027159">
                        <a:alpha val="100000"/>
                      </a:srgbClr>
                    </a:gs>
                    <a:gs pos="100000">
                      <a:srgbClr val="10CD57">
                        <a:alpha val="100000"/>
                      </a:srgbClr>
                    </a:gs>
                  </a:gsLst>
                  <a:lin ang="16200000"/>
                </a:gradFill>
                <a:latin typeface="Times New Roman Bold"/>
                <a:ea typeface="Times New Roman Bold"/>
                <a:cs typeface="Times New Roman Bold"/>
                <a:sym typeface="Times New Roman Bold"/>
              </a:rPr>
              <a:t>và</a:t>
            </a:r>
            <a:r>
              <a:rPr lang="en-US" sz="6000" b="1" dirty="0">
                <a:gradFill>
                  <a:gsLst>
                    <a:gs pos="0">
                      <a:srgbClr val="027159">
                        <a:alpha val="100000"/>
                      </a:srgbClr>
                    </a:gs>
                    <a:gs pos="100000">
                      <a:srgbClr val="10CD57">
                        <a:alpha val="100000"/>
                      </a:srgbClr>
                    </a:gs>
                  </a:gsLst>
                  <a:lin ang="16200000"/>
                </a:gradFill>
                <a:latin typeface="Times New Roman Bold"/>
                <a:ea typeface="Times New Roman Bold"/>
                <a:cs typeface="Times New Roman Bold"/>
                <a:sym typeface="Times New Roman Bold"/>
              </a:rPr>
              <a:t> FPGA</a:t>
            </a:r>
          </a:p>
        </p:txBody>
      </p:sp>
      <p:grpSp>
        <p:nvGrpSpPr>
          <p:cNvPr id="25" name="Group 25"/>
          <p:cNvGrpSpPr/>
          <p:nvPr/>
        </p:nvGrpSpPr>
        <p:grpSpPr>
          <a:xfrm>
            <a:off x="6350346" y="9534525"/>
            <a:ext cx="6172200" cy="547688"/>
            <a:chOff x="0" y="0"/>
            <a:chExt cx="8229600" cy="730250"/>
          </a:xfrm>
        </p:grpSpPr>
        <p:sp>
          <p:nvSpPr>
            <p:cNvPr id="26" name="Freeform 26"/>
            <p:cNvSpPr/>
            <p:nvPr/>
          </p:nvSpPr>
          <p:spPr>
            <a:xfrm>
              <a:off x="0" y="0"/>
              <a:ext cx="8229600" cy="730250"/>
            </a:xfrm>
            <a:custGeom>
              <a:avLst/>
              <a:gdLst/>
              <a:ahLst/>
              <a:cxnLst/>
              <a:rect l="l" t="t" r="r" b="b"/>
              <a:pathLst>
                <a:path w="8229600" h="730250">
                  <a:moveTo>
                    <a:pt x="0" y="0"/>
                  </a:moveTo>
                  <a:lnTo>
                    <a:pt x="8229600" y="0"/>
                  </a:lnTo>
                  <a:lnTo>
                    <a:pt x="8229600" y="730250"/>
                  </a:lnTo>
                  <a:lnTo>
                    <a:pt x="0" y="730250"/>
                  </a:lnTo>
                  <a:close/>
                </a:path>
              </a:pathLst>
            </a:custGeom>
            <a:blipFill>
              <a:blip r:embed="rId6">
                <a:alphaModFix amt="0"/>
              </a:blip>
              <a:stretch>
                <a:fillRect t="-169587" b="-169587"/>
              </a:stretch>
            </a:blipFill>
          </p:spPr>
          <p:txBody>
            <a:bodyPr/>
            <a:lstStyle/>
            <a:p>
              <a:endParaRPr lang="vi-VN"/>
            </a:p>
          </p:txBody>
        </p:sp>
        <p:sp>
          <p:nvSpPr>
            <p:cNvPr id="27" name="TextBox 27"/>
            <p:cNvSpPr txBox="1"/>
            <p:nvPr/>
          </p:nvSpPr>
          <p:spPr>
            <a:xfrm>
              <a:off x="0" y="-19050"/>
              <a:ext cx="8229600" cy="749300"/>
            </a:xfrm>
            <a:prstGeom prst="rect">
              <a:avLst/>
            </a:prstGeom>
          </p:spPr>
          <p:txBody>
            <a:bodyPr lIns="0" tIns="0" rIns="0" bIns="0" rtlCol="0" anchor="ctr"/>
            <a:lstStyle/>
            <a:p>
              <a:pPr algn="ctr">
                <a:lnSpc>
                  <a:spcPts val="2160"/>
                </a:lnSpc>
              </a:pPr>
              <a:r>
                <a:rPr lang="en-US" sz="1800">
                  <a:solidFill>
                    <a:srgbClr val="898989"/>
                  </a:solidFill>
                  <a:latin typeface="Arial"/>
                  <a:ea typeface="Arial"/>
                  <a:cs typeface="Arial"/>
                  <a:sym typeface="Arial"/>
                </a:rPr>
                <a:t>Copyrights 2024 CE-UIT. All Rights Reserved.</a:t>
              </a:r>
            </a:p>
          </p:txBody>
        </p:sp>
      </p:grpSp>
      <p:grpSp>
        <p:nvGrpSpPr>
          <p:cNvPr id="28" name="Group 28"/>
          <p:cNvGrpSpPr/>
          <p:nvPr/>
        </p:nvGrpSpPr>
        <p:grpSpPr>
          <a:xfrm>
            <a:off x="15634421" y="9534525"/>
            <a:ext cx="4114800" cy="547688"/>
            <a:chOff x="0" y="0"/>
            <a:chExt cx="5486400" cy="730250"/>
          </a:xfrm>
        </p:grpSpPr>
        <p:sp>
          <p:nvSpPr>
            <p:cNvPr id="29" name="Freeform 29"/>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blipFill>
              <a:blip r:embed="rId6">
                <a:alphaModFix amt="0"/>
              </a:blip>
              <a:stretch>
                <a:fillRect t="-96391" b="-96391"/>
              </a:stretch>
            </a:blipFill>
          </p:spPr>
          <p:txBody>
            <a:bodyPr/>
            <a:lstStyle/>
            <a:p>
              <a:endParaRPr lang="vi-VN"/>
            </a:p>
          </p:txBody>
        </p:sp>
        <p:sp>
          <p:nvSpPr>
            <p:cNvPr id="30" name="TextBox 30"/>
            <p:cNvSpPr txBox="1"/>
            <p:nvPr/>
          </p:nvSpPr>
          <p:spPr>
            <a:xfrm>
              <a:off x="0" y="-19050"/>
              <a:ext cx="5486400" cy="749300"/>
            </a:xfrm>
            <a:prstGeom prst="rect">
              <a:avLst/>
            </a:prstGeom>
          </p:spPr>
          <p:txBody>
            <a:bodyPr lIns="0" tIns="0" rIns="0" bIns="0" rtlCol="0" anchor="ctr"/>
            <a:lstStyle/>
            <a:p>
              <a:pPr algn="ctr">
                <a:lnSpc>
                  <a:spcPts val="2160"/>
                </a:lnSpc>
              </a:pPr>
              <a:r>
                <a:rPr lang="en-US" sz="1800">
                  <a:solidFill>
                    <a:srgbClr val="FFFFFF"/>
                  </a:solidFill>
                  <a:latin typeface="Arial"/>
                  <a:ea typeface="Arial"/>
                  <a:cs typeface="Arial"/>
                  <a:sym typeface="Arial"/>
                </a:rPr>
                <a:t>9</a:t>
              </a:r>
            </a:p>
          </p:txBody>
        </p:sp>
      </p:grpSp>
      <p:pic>
        <p:nvPicPr>
          <p:cNvPr id="1027" name="Picture 3">
            <a:extLst>
              <a:ext uri="{FF2B5EF4-FFF2-40B4-BE49-F238E27FC236}">
                <a16:creationId xmlns:a16="http://schemas.microsoft.com/office/drawing/2014/main" id="{2278EAB8-383C-1FC3-9236-ED60BEFEF2A0}"/>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9006426" y="3619500"/>
            <a:ext cx="8099891" cy="4688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58" name="TextBox 1057">
            <a:extLst>
              <a:ext uri="{FF2B5EF4-FFF2-40B4-BE49-F238E27FC236}">
                <a16:creationId xmlns:a16="http://schemas.microsoft.com/office/drawing/2014/main" id="{885CB774-F1FD-E875-37BC-779BFEF29F43}"/>
              </a:ext>
            </a:extLst>
          </p:cNvPr>
          <p:cNvSpPr txBox="1"/>
          <p:nvPr/>
        </p:nvSpPr>
        <p:spPr>
          <a:xfrm>
            <a:off x="685800" y="3634582"/>
            <a:ext cx="8001000" cy="5324535"/>
          </a:xfrm>
          <a:prstGeom prst="rect">
            <a:avLst/>
          </a:prstGeom>
          <a:noFill/>
        </p:spPr>
        <p:txBody>
          <a:bodyPr wrap="square">
            <a:spAutoFit/>
          </a:bodyPr>
          <a:lstStyle/>
          <a:p>
            <a:pPr marL="285750" indent="-285750">
              <a:buFont typeface="Wingdings" panose="05000000000000000000" pitchFamily="2" charset="2"/>
              <a:buChar char="§"/>
            </a:pPr>
            <a:r>
              <a:rPr lang="vi-VN" sz="2000" dirty="0"/>
              <a:t>Điều khiển qua XRT API: Host PC cấp phát bộ nhớ, nạp file .xclbin và quản lý tài nguyên phần cứng.</a:t>
            </a:r>
          </a:p>
          <a:p>
            <a:endParaRPr lang="vi-VN" sz="2000" dirty="0"/>
          </a:p>
          <a:p>
            <a:pPr marL="285750" indent="-285750">
              <a:buFont typeface="Wingdings" panose="05000000000000000000" pitchFamily="2" charset="2"/>
              <a:buChar char="§"/>
            </a:pPr>
            <a:r>
              <a:rPr lang="vi-VN" sz="2000" dirty="0"/>
              <a:t>Phân tách Control Path &amp; Data Path:</a:t>
            </a:r>
          </a:p>
          <a:p>
            <a:pPr marL="742950" lvl="1" indent="-285750">
              <a:buFont typeface="Courier New" panose="02070309020205020404" pitchFamily="49" charset="0"/>
              <a:buChar char="o"/>
            </a:pPr>
            <a:r>
              <a:rPr lang="vi-VN" sz="2000" dirty="0"/>
              <a:t>Control path: Truyền tín hiệu điều khiển (position, start) qua Axi-lite</a:t>
            </a:r>
          </a:p>
          <a:p>
            <a:pPr marL="742950" lvl="1" indent="-285750">
              <a:buFont typeface="Courier New" panose="02070309020205020404" pitchFamily="49" charset="0"/>
              <a:buChar char="o"/>
            </a:pPr>
            <a:r>
              <a:rPr lang="vi-VN" sz="2000" dirty="0"/>
              <a:t>Data path: Truyền dữ liệu lớn (weight, scale) với qua Axi4 DMA </a:t>
            </a:r>
          </a:p>
          <a:p>
            <a:endParaRPr lang="vi-VN" sz="2000" dirty="0"/>
          </a:p>
          <a:p>
            <a:pPr marL="285750" indent="-285750">
              <a:buFont typeface="Wingdings" panose="05000000000000000000" pitchFamily="2" charset="2"/>
              <a:buChar char="§"/>
            </a:pPr>
            <a:r>
              <a:rPr lang="vi-VN" sz="2000" dirty="0"/>
              <a:t>Weights/Scales (dữ liệu tĩnh) chỉ nạp 1 lần vào đầu chu trình. Chỉ truyền Embedding và nhận Logits (dữ liệu động) ở mỗi vòng sinh token.</a:t>
            </a:r>
          </a:p>
          <a:p>
            <a:endParaRPr lang="vi-VN" sz="2000" dirty="0"/>
          </a:p>
          <a:p>
            <a:pPr marL="285750" indent="-285750">
              <a:buFont typeface="Wingdings" panose="05000000000000000000" pitchFamily="2" charset="2"/>
              <a:buChar char="§"/>
            </a:pPr>
            <a:r>
              <a:rPr lang="vi-VN" sz="2000" dirty="0"/>
              <a:t>Khai thác tối đa Global Memory: Kernel (AXI Master) truy xuất song song 4 băng RAM (DDR0 - DDR3) trên card Alveo U250 để lưu trữ Weights, KV Cache và Output, giải quyết nút thắt cổ chai bộ nhớ.</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0DB162-B205-07E0-B273-A0220DE65881}"/>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8B3EF77D-602C-2AC7-2C9C-CCDD503F0B7E}"/>
              </a:ext>
            </a:extLst>
          </p:cNvPr>
          <p:cNvSpPr txBox="1"/>
          <p:nvPr/>
        </p:nvSpPr>
        <p:spPr>
          <a:xfrm>
            <a:off x="91440" y="-2287991"/>
            <a:ext cx="18105120" cy="527771"/>
          </a:xfrm>
          <a:prstGeom prst="rect">
            <a:avLst/>
          </a:prstGeom>
        </p:spPr>
        <p:txBody>
          <a:bodyPr lIns="0" tIns="0" rIns="0" bIns="0" rtlCol="0" anchor="t">
            <a:spAutoFit/>
          </a:bodyPr>
          <a:lstStyle/>
          <a:p>
            <a:pPr algn="ctr">
              <a:lnSpc>
                <a:spcPts val="3600"/>
              </a:lnSpc>
            </a:pPr>
            <a:r>
              <a:rPr lang="en-US" sz="3000">
                <a:solidFill>
                  <a:srgbClr val="C3C3C3"/>
                </a:solidFill>
                <a:latin typeface="Arial"/>
                <a:ea typeface="Arial"/>
                <a:cs typeface="Arial"/>
                <a:sym typeface="Arial"/>
              </a:rPr>
              <a:t>www.9slide.vn</a:t>
            </a:r>
          </a:p>
        </p:txBody>
      </p:sp>
      <p:grpSp>
        <p:nvGrpSpPr>
          <p:cNvPr id="3" name="Group 3">
            <a:extLst>
              <a:ext uri="{FF2B5EF4-FFF2-40B4-BE49-F238E27FC236}">
                <a16:creationId xmlns:a16="http://schemas.microsoft.com/office/drawing/2014/main" id="{9C6F0263-FF89-B4E4-F4B5-9E64BD11A072}"/>
              </a:ext>
            </a:extLst>
          </p:cNvPr>
          <p:cNvGrpSpPr/>
          <p:nvPr/>
        </p:nvGrpSpPr>
        <p:grpSpPr>
          <a:xfrm>
            <a:off x="0" y="2124"/>
            <a:ext cx="18291715" cy="10295487"/>
            <a:chOff x="0" y="0"/>
            <a:chExt cx="24388953" cy="13727316"/>
          </a:xfrm>
        </p:grpSpPr>
        <p:sp>
          <p:nvSpPr>
            <p:cNvPr id="4" name="Freeform 4">
              <a:extLst>
                <a:ext uri="{FF2B5EF4-FFF2-40B4-BE49-F238E27FC236}">
                  <a16:creationId xmlns:a16="http://schemas.microsoft.com/office/drawing/2014/main" id="{99BC5135-D844-032F-3AB3-6639A41C367A}"/>
                </a:ext>
              </a:extLst>
            </p:cNvPr>
            <p:cNvSpPr/>
            <p:nvPr/>
          </p:nvSpPr>
          <p:spPr>
            <a:xfrm>
              <a:off x="0" y="0"/>
              <a:ext cx="24388953" cy="13727303"/>
            </a:xfrm>
            <a:custGeom>
              <a:avLst/>
              <a:gdLst/>
              <a:ahLst/>
              <a:cxnLst/>
              <a:rect l="l" t="t" r="r" b="b"/>
              <a:pathLst>
                <a:path w="24388953" h="1372730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txBody>
            <a:bodyPr/>
            <a:lstStyle/>
            <a:p>
              <a:endParaRPr lang="vi-VN"/>
            </a:p>
          </p:txBody>
        </p:sp>
      </p:grpSp>
      <p:grpSp>
        <p:nvGrpSpPr>
          <p:cNvPr id="5" name="Group 5">
            <a:extLst>
              <a:ext uri="{FF2B5EF4-FFF2-40B4-BE49-F238E27FC236}">
                <a16:creationId xmlns:a16="http://schemas.microsoft.com/office/drawing/2014/main" id="{32FB4951-5A5E-2741-3379-DC944BF068D9}"/>
              </a:ext>
            </a:extLst>
          </p:cNvPr>
          <p:cNvGrpSpPr/>
          <p:nvPr/>
        </p:nvGrpSpPr>
        <p:grpSpPr>
          <a:xfrm rot="5400000">
            <a:off x="8668474" y="-8670065"/>
            <a:ext cx="947328" cy="18291715"/>
            <a:chOff x="0" y="0"/>
            <a:chExt cx="1263104" cy="24388953"/>
          </a:xfrm>
        </p:grpSpPr>
        <p:sp>
          <p:nvSpPr>
            <p:cNvPr id="6" name="Freeform 6">
              <a:extLst>
                <a:ext uri="{FF2B5EF4-FFF2-40B4-BE49-F238E27FC236}">
                  <a16:creationId xmlns:a16="http://schemas.microsoft.com/office/drawing/2014/main" id="{64CF062F-0AEA-5AF0-46F2-486ED3D0C6F7}"/>
                </a:ext>
              </a:extLst>
            </p:cNvPr>
            <p:cNvSpPr/>
            <p:nvPr/>
          </p:nvSpPr>
          <p:spPr>
            <a:xfrm>
              <a:off x="0" y="0"/>
              <a:ext cx="1263142" cy="24388953"/>
            </a:xfrm>
            <a:custGeom>
              <a:avLst/>
              <a:gdLst/>
              <a:ahLst/>
              <a:cxnLst/>
              <a:rect l="l" t="t" r="r" b="b"/>
              <a:pathLst>
                <a:path w="1263142" h="24388953">
                  <a:moveTo>
                    <a:pt x="0" y="0"/>
                  </a:moveTo>
                  <a:lnTo>
                    <a:pt x="1263142" y="0"/>
                  </a:lnTo>
                  <a:lnTo>
                    <a:pt x="1263142" y="24388953"/>
                  </a:lnTo>
                  <a:lnTo>
                    <a:pt x="0" y="24388953"/>
                  </a:lnTo>
                  <a:close/>
                </a:path>
              </a:pathLst>
            </a:custGeom>
            <a:gradFill rotWithShape="1">
              <a:gsLst>
                <a:gs pos="0">
                  <a:srgbClr val="10CD57">
                    <a:alpha val="100000"/>
                  </a:srgbClr>
                </a:gs>
                <a:gs pos="100000">
                  <a:srgbClr val="027159">
                    <a:alpha val="100000"/>
                  </a:srgbClr>
                </a:gs>
              </a:gsLst>
              <a:lin ang="0"/>
            </a:gradFill>
          </p:spPr>
          <p:txBody>
            <a:bodyPr/>
            <a:lstStyle/>
            <a:p>
              <a:endParaRPr lang="vi-VN"/>
            </a:p>
          </p:txBody>
        </p:sp>
      </p:grpSp>
      <p:grpSp>
        <p:nvGrpSpPr>
          <p:cNvPr id="7" name="Group 7">
            <a:extLst>
              <a:ext uri="{FF2B5EF4-FFF2-40B4-BE49-F238E27FC236}">
                <a16:creationId xmlns:a16="http://schemas.microsoft.com/office/drawing/2014/main" id="{EA3350F3-2537-BF7F-1197-BFD20F392C8C}"/>
              </a:ext>
            </a:extLst>
          </p:cNvPr>
          <p:cNvGrpSpPr/>
          <p:nvPr/>
        </p:nvGrpSpPr>
        <p:grpSpPr>
          <a:xfrm rot="5400000">
            <a:off x="8670331" y="-8672198"/>
            <a:ext cx="947328" cy="18291715"/>
            <a:chOff x="0" y="0"/>
            <a:chExt cx="1263104" cy="24388953"/>
          </a:xfrm>
        </p:grpSpPr>
        <p:sp>
          <p:nvSpPr>
            <p:cNvPr id="8" name="Freeform 8">
              <a:extLst>
                <a:ext uri="{FF2B5EF4-FFF2-40B4-BE49-F238E27FC236}">
                  <a16:creationId xmlns:a16="http://schemas.microsoft.com/office/drawing/2014/main" id="{3466BEA1-6460-1B72-49CE-EE777DC2A927}"/>
                </a:ext>
              </a:extLst>
            </p:cNvPr>
            <p:cNvSpPr/>
            <p:nvPr/>
          </p:nvSpPr>
          <p:spPr>
            <a:xfrm flipV="1">
              <a:off x="0" y="0"/>
              <a:ext cx="1263142" cy="24388953"/>
            </a:xfrm>
            <a:custGeom>
              <a:avLst/>
              <a:gdLst/>
              <a:ahLst/>
              <a:cxnLst/>
              <a:rect l="l" t="t" r="r" b="b"/>
              <a:pathLst>
                <a:path w="1263142" h="24388953">
                  <a:moveTo>
                    <a:pt x="0" y="0"/>
                  </a:moveTo>
                  <a:lnTo>
                    <a:pt x="1263142" y="0"/>
                  </a:lnTo>
                  <a:lnTo>
                    <a:pt x="1263142" y="24388953"/>
                  </a:lnTo>
                  <a:lnTo>
                    <a:pt x="0" y="24388953"/>
                  </a:lnTo>
                  <a:close/>
                </a:path>
              </a:pathLst>
            </a:custGeom>
            <a:blipFill>
              <a:blip r:embed="rId2"/>
              <a:stretch>
                <a:fillRect l="-35093" r="-35090"/>
              </a:stretch>
            </a:blipFill>
          </p:spPr>
          <p:txBody>
            <a:bodyPr/>
            <a:lstStyle/>
            <a:p>
              <a:endParaRPr lang="vi-VN"/>
            </a:p>
          </p:txBody>
        </p:sp>
      </p:grpSp>
      <p:sp>
        <p:nvSpPr>
          <p:cNvPr id="9" name="TextBox 9">
            <a:extLst>
              <a:ext uri="{FF2B5EF4-FFF2-40B4-BE49-F238E27FC236}">
                <a16:creationId xmlns:a16="http://schemas.microsoft.com/office/drawing/2014/main" id="{9776D9D2-3691-6C61-49DC-0E1DA49994C6}"/>
              </a:ext>
            </a:extLst>
          </p:cNvPr>
          <p:cNvSpPr txBox="1"/>
          <p:nvPr/>
        </p:nvSpPr>
        <p:spPr>
          <a:xfrm>
            <a:off x="451866" y="248326"/>
            <a:ext cx="10947559" cy="424158"/>
          </a:xfrm>
          <a:prstGeom prst="rect">
            <a:avLst/>
          </a:prstGeom>
        </p:spPr>
        <p:txBody>
          <a:bodyPr lIns="0" tIns="0" rIns="0" bIns="0" rtlCol="0" anchor="t">
            <a:spAutoFit/>
          </a:bodyPr>
          <a:lstStyle/>
          <a:p>
            <a:pPr algn="l">
              <a:lnSpc>
                <a:spcPts val="2879"/>
              </a:lnSpc>
            </a:pPr>
            <a:r>
              <a:rPr lang="en-US" sz="2400" b="1">
                <a:solidFill>
                  <a:srgbClr val="FFFFFF"/>
                </a:solidFill>
                <a:latin typeface="Arial Bold"/>
                <a:ea typeface="Arial Bold"/>
                <a:cs typeface="Arial Bold"/>
                <a:sym typeface="Arial Bold"/>
              </a:rPr>
              <a:t>FACULTY OF COMPUTER ENGINEERING</a:t>
            </a:r>
          </a:p>
        </p:txBody>
      </p:sp>
      <p:grpSp>
        <p:nvGrpSpPr>
          <p:cNvPr id="10" name="Group 10">
            <a:extLst>
              <a:ext uri="{FF2B5EF4-FFF2-40B4-BE49-F238E27FC236}">
                <a16:creationId xmlns:a16="http://schemas.microsoft.com/office/drawing/2014/main" id="{607FB2BE-9AAB-E7EF-2AB1-F46797E3F1EE}"/>
              </a:ext>
            </a:extLst>
          </p:cNvPr>
          <p:cNvGrpSpPr/>
          <p:nvPr/>
        </p:nvGrpSpPr>
        <p:grpSpPr>
          <a:xfrm>
            <a:off x="6719973" y="457933"/>
            <a:ext cx="4848044" cy="957948"/>
            <a:chOff x="0" y="0"/>
            <a:chExt cx="6464059" cy="1277264"/>
          </a:xfrm>
        </p:grpSpPr>
        <p:sp>
          <p:nvSpPr>
            <p:cNvPr id="11" name="Freeform 11">
              <a:extLst>
                <a:ext uri="{FF2B5EF4-FFF2-40B4-BE49-F238E27FC236}">
                  <a16:creationId xmlns:a16="http://schemas.microsoft.com/office/drawing/2014/main" id="{4BFE1304-8C64-25D1-23BA-9FB723231638}"/>
                </a:ext>
              </a:extLst>
            </p:cNvPr>
            <p:cNvSpPr/>
            <p:nvPr/>
          </p:nvSpPr>
          <p:spPr>
            <a:xfrm>
              <a:off x="0" y="0"/>
              <a:ext cx="6464173" cy="1277366"/>
            </a:xfrm>
            <a:custGeom>
              <a:avLst/>
              <a:gdLst/>
              <a:ahLst/>
              <a:cxnLst/>
              <a:rect l="l" t="t" r="r" b="b"/>
              <a:pathLst>
                <a:path w="6464173" h="1277366">
                  <a:moveTo>
                    <a:pt x="0" y="638683"/>
                  </a:moveTo>
                  <a:cubicBezTo>
                    <a:pt x="0" y="285877"/>
                    <a:pt x="285877" y="0"/>
                    <a:pt x="638683" y="0"/>
                  </a:cubicBezTo>
                  <a:lnTo>
                    <a:pt x="5825490" y="0"/>
                  </a:lnTo>
                  <a:cubicBezTo>
                    <a:pt x="6178169" y="0"/>
                    <a:pt x="6464173" y="285877"/>
                    <a:pt x="6464173" y="638683"/>
                  </a:cubicBezTo>
                  <a:cubicBezTo>
                    <a:pt x="6464173" y="991489"/>
                    <a:pt x="6178296" y="1277366"/>
                    <a:pt x="5825490" y="1277366"/>
                  </a:cubicBezTo>
                  <a:lnTo>
                    <a:pt x="638683" y="1277366"/>
                  </a:lnTo>
                  <a:cubicBezTo>
                    <a:pt x="285877" y="1277239"/>
                    <a:pt x="0" y="991362"/>
                    <a:pt x="0" y="638683"/>
                  </a:cubicBezTo>
                  <a:close/>
                </a:path>
              </a:pathLst>
            </a:custGeom>
            <a:gradFill rotWithShape="1">
              <a:gsLst>
                <a:gs pos="0">
                  <a:srgbClr val="38EF7D">
                    <a:alpha val="100000"/>
                  </a:srgbClr>
                </a:gs>
                <a:gs pos="100000">
                  <a:srgbClr val="752AFF">
                    <a:alpha val="100000"/>
                  </a:srgbClr>
                </a:gs>
              </a:gsLst>
              <a:lin ang="4729360"/>
            </a:gradFill>
          </p:spPr>
          <p:txBody>
            <a:bodyPr/>
            <a:lstStyle/>
            <a:p>
              <a:endParaRPr lang="vi-VN"/>
            </a:p>
          </p:txBody>
        </p:sp>
      </p:grpSp>
      <p:grpSp>
        <p:nvGrpSpPr>
          <p:cNvPr id="12" name="Group 12">
            <a:extLst>
              <a:ext uri="{FF2B5EF4-FFF2-40B4-BE49-F238E27FC236}">
                <a16:creationId xmlns:a16="http://schemas.microsoft.com/office/drawing/2014/main" id="{B663ACA5-DAB1-B596-AAAC-CF8FC5E0379B}"/>
              </a:ext>
            </a:extLst>
          </p:cNvPr>
          <p:cNvGrpSpPr/>
          <p:nvPr/>
        </p:nvGrpSpPr>
        <p:grpSpPr>
          <a:xfrm>
            <a:off x="6807460" y="535962"/>
            <a:ext cx="4673079" cy="801872"/>
            <a:chOff x="0" y="0"/>
            <a:chExt cx="6230772" cy="1069162"/>
          </a:xfrm>
        </p:grpSpPr>
        <p:sp>
          <p:nvSpPr>
            <p:cNvPr id="13" name="Freeform 13">
              <a:extLst>
                <a:ext uri="{FF2B5EF4-FFF2-40B4-BE49-F238E27FC236}">
                  <a16:creationId xmlns:a16="http://schemas.microsoft.com/office/drawing/2014/main" id="{06A79215-679C-8ECE-BE9C-F820F4FAA60B}"/>
                </a:ext>
              </a:extLst>
            </p:cNvPr>
            <p:cNvSpPr/>
            <p:nvPr/>
          </p:nvSpPr>
          <p:spPr>
            <a:xfrm>
              <a:off x="0" y="0"/>
              <a:ext cx="6230747" cy="1069086"/>
            </a:xfrm>
            <a:custGeom>
              <a:avLst/>
              <a:gdLst/>
              <a:ahLst/>
              <a:cxnLst/>
              <a:rect l="l" t="t" r="r" b="b"/>
              <a:pathLst>
                <a:path w="6230747" h="1069086">
                  <a:moveTo>
                    <a:pt x="0" y="534543"/>
                  </a:moveTo>
                  <a:cubicBezTo>
                    <a:pt x="0" y="239395"/>
                    <a:pt x="239395" y="0"/>
                    <a:pt x="534543" y="0"/>
                  </a:cubicBezTo>
                  <a:lnTo>
                    <a:pt x="5696204" y="0"/>
                  </a:lnTo>
                  <a:cubicBezTo>
                    <a:pt x="5991479" y="0"/>
                    <a:pt x="6230747" y="239395"/>
                    <a:pt x="6230747" y="534543"/>
                  </a:cubicBezTo>
                  <a:cubicBezTo>
                    <a:pt x="6230747" y="829691"/>
                    <a:pt x="5991352" y="1069086"/>
                    <a:pt x="5696204" y="1069086"/>
                  </a:cubicBezTo>
                  <a:lnTo>
                    <a:pt x="534543" y="1069086"/>
                  </a:lnTo>
                  <a:cubicBezTo>
                    <a:pt x="239395" y="1069213"/>
                    <a:pt x="0" y="829818"/>
                    <a:pt x="0" y="534543"/>
                  </a:cubicBezTo>
                  <a:close/>
                </a:path>
              </a:pathLst>
            </a:custGeom>
            <a:solidFill>
              <a:srgbClr val="FFFFFF"/>
            </a:solidFill>
          </p:spPr>
          <p:txBody>
            <a:bodyPr/>
            <a:lstStyle/>
            <a:p>
              <a:endParaRPr lang="vi-VN"/>
            </a:p>
          </p:txBody>
        </p:sp>
      </p:grpSp>
      <p:grpSp>
        <p:nvGrpSpPr>
          <p:cNvPr id="14" name="Group 14">
            <a:extLst>
              <a:ext uri="{FF2B5EF4-FFF2-40B4-BE49-F238E27FC236}">
                <a16:creationId xmlns:a16="http://schemas.microsoft.com/office/drawing/2014/main" id="{EDA900D1-AD96-FAB3-7AD8-2DBBCD08D710}"/>
              </a:ext>
            </a:extLst>
          </p:cNvPr>
          <p:cNvGrpSpPr/>
          <p:nvPr/>
        </p:nvGrpSpPr>
        <p:grpSpPr>
          <a:xfrm>
            <a:off x="9436446" y="362541"/>
            <a:ext cx="1163307" cy="1152592"/>
            <a:chOff x="0" y="0"/>
            <a:chExt cx="1551076" cy="1536789"/>
          </a:xfrm>
        </p:grpSpPr>
        <p:sp>
          <p:nvSpPr>
            <p:cNvPr id="15" name="Freeform 15" descr="Icon  Description automatically generated with medium confidence">
              <a:extLst>
                <a:ext uri="{FF2B5EF4-FFF2-40B4-BE49-F238E27FC236}">
                  <a16:creationId xmlns:a16="http://schemas.microsoft.com/office/drawing/2014/main" id="{E64B8FE7-C2F8-7BB4-3191-42EFF585851D}"/>
                </a:ext>
              </a:extLst>
            </p:cNvPr>
            <p:cNvSpPr/>
            <p:nvPr/>
          </p:nvSpPr>
          <p:spPr>
            <a:xfrm>
              <a:off x="0" y="0"/>
              <a:ext cx="1551051" cy="1536827"/>
            </a:xfrm>
            <a:custGeom>
              <a:avLst/>
              <a:gdLst/>
              <a:ahLst/>
              <a:cxnLst/>
              <a:rect l="l" t="t" r="r" b="b"/>
              <a:pathLst>
                <a:path w="1551051" h="1536827">
                  <a:moveTo>
                    <a:pt x="0" y="0"/>
                  </a:moveTo>
                  <a:lnTo>
                    <a:pt x="1551051" y="0"/>
                  </a:lnTo>
                  <a:lnTo>
                    <a:pt x="1551051" y="1536827"/>
                  </a:lnTo>
                  <a:lnTo>
                    <a:pt x="0" y="1536827"/>
                  </a:lnTo>
                  <a:lnTo>
                    <a:pt x="0" y="0"/>
                  </a:lnTo>
                  <a:close/>
                </a:path>
              </a:pathLst>
            </a:custGeom>
            <a:blipFill>
              <a:blip r:embed="rId3"/>
              <a:stretch>
                <a:fillRect l="-75" r="-76" b="2"/>
              </a:stretch>
            </a:blipFill>
          </p:spPr>
          <p:txBody>
            <a:bodyPr/>
            <a:lstStyle/>
            <a:p>
              <a:endParaRPr lang="vi-VN"/>
            </a:p>
          </p:txBody>
        </p:sp>
      </p:grpSp>
      <p:grpSp>
        <p:nvGrpSpPr>
          <p:cNvPr id="16" name="Group 16">
            <a:extLst>
              <a:ext uri="{FF2B5EF4-FFF2-40B4-BE49-F238E27FC236}">
                <a16:creationId xmlns:a16="http://schemas.microsoft.com/office/drawing/2014/main" id="{969B4C48-40A7-DC82-F097-1338B8C07529}"/>
              </a:ext>
            </a:extLst>
          </p:cNvPr>
          <p:cNvGrpSpPr/>
          <p:nvPr/>
        </p:nvGrpSpPr>
        <p:grpSpPr>
          <a:xfrm>
            <a:off x="7688247" y="398078"/>
            <a:ext cx="1307516" cy="1081516"/>
            <a:chOff x="0" y="0"/>
            <a:chExt cx="1743354" cy="1442022"/>
          </a:xfrm>
        </p:grpSpPr>
        <p:sp>
          <p:nvSpPr>
            <p:cNvPr id="17" name="Freeform 17" descr="A picture containing clipart, vector graphics  Description automatically generated">
              <a:extLst>
                <a:ext uri="{FF2B5EF4-FFF2-40B4-BE49-F238E27FC236}">
                  <a16:creationId xmlns:a16="http://schemas.microsoft.com/office/drawing/2014/main" id="{3C9D06D6-FA37-3FF1-F1A8-095525282893}"/>
                </a:ext>
              </a:extLst>
            </p:cNvPr>
            <p:cNvSpPr/>
            <p:nvPr/>
          </p:nvSpPr>
          <p:spPr>
            <a:xfrm>
              <a:off x="0" y="0"/>
              <a:ext cx="1743329" cy="1442085"/>
            </a:xfrm>
            <a:custGeom>
              <a:avLst/>
              <a:gdLst/>
              <a:ahLst/>
              <a:cxnLst/>
              <a:rect l="l" t="t" r="r" b="b"/>
              <a:pathLst>
                <a:path w="1743329" h="1442085">
                  <a:moveTo>
                    <a:pt x="0" y="0"/>
                  </a:moveTo>
                  <a:lnTo>
                    <a:pt x="1743329" y="0"/>
                  </a:lnTo>
                  <a:lnTo>
                    <a:pt x="1743329" y="1442085"/>
                  </a:lnTo>
                  <a:lnTo>
                    <a:pt x="0" y="1442085"/>
                  </a:lnTo>
                  <a:lnTo>
                    <a:pt x="0" y="0"/>
                  </a:lnTo>
                  <a:close/>
                </a:path>
              </a:pathLst>
            </a:custGeom>
            <a:blipFill>
              <a:blip r:embed="rId4"/>
              <a:stretch>
                <a:fillRect t="-74" r="-1" b="-71"/>
              </a:stretch>
            </a:blipFill>
          </p:spPr>
          <p:txBody>
            <a:bodyPr/>
            <a:lstStyle/>
            <a:p>
              <a:endParaRPr lang="vi-VN"/>
            </a:p>
          </p:txBody>
        </p:sp>
      </p:grpSp>
      <p:sp>
        <p:nvSpPr>
          <p:cNvPr id="18" name="Freeform 18">
            <a:extLst>
              <a:ext uri="{FF2B5EF4-FFF2-40B4-BE49-F238E27FC236}">
                <a16:creationId xmlns:a16="http://schemas.microsoft.com/office/drawing/2014/main" id="{625E609D-9F89-6FAA-BB3E-D7CBE0E35C90}"/>
              </a:ext>
            </a:extLst>
          </p:cNvPr>
          <p:cNvSpPr/>
          <p:nvPr/>
        </p:nvSpPr>
        <p:spPr>
          <a:xfrm>
            <a:off x="17262338" y="9405385"/>
            <a:ext cx="819198" cy="819198"/>
          </a:xfrm>
          <a:custGeom>
            <a:avLst/>
            <a:gdLst/>
            <a:ahLst/>
            <a:cxnLst/>
            <a:rect l="l" t="t" r="r" b="b"/>
            <a:pathLst>
              <a:path w="819198" h="819198">
                <a:moveTo>
                  <a:pt x="0" y="0"/>
                </a:moveTo>
                <a:lnTo>
                  <a:pt x="819198" y="0"/>
                </a:lnTo>
                <a:lnTo>
                  <a:pt x="819198" y="819198"/>
                </a:lnTo>
                <a:lnTo>
                  <a:pt x="0" y="81919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vi-VN"/>
          </a:p>
        </p:txBody>
      </p:sp>
      <p:grpSp>
        <p:nvGrpSpPr>
          <p:cNvPr id="19" name="Group 19">
            <a:extLst>
              <a:ext uri="{FF2B5EF4-FFF2-40B4-BE49-F238E27FC236}">
                <a16:creationId xmlns:a16="http://schemas.microsoft.com/office/drawing/2014/main" id="{8C28DF37-4765-6C61-7278-E2BB1B121691}"/>
              </a:ext>
            </a:extLst>
          </p:cNvPr>
          <p:cNvGrpSpPr/>
          <p:nvPr/>
        </p:nvGrpSpPr>
        <p:grpSpPr>
          <a:xfrm>
            <a:off x="0" y="2124"/>
            <a:ext cx="18291715" cy="10295487"/>
            <a:chOff x="0" y="0"/>
            <a:chExt cx="24388953" cy="13727316"/>
          </a:xfrm>
        </p:grpSpPr>
        <p:sp>
          <p:nvSpPr>
            <p:cNvPr id="20" name="Freeform 20">
              <a:extLst>
                <a:ext uri="{FF2B5EF4-FFF2-40B4-BE49-F238E27FC236}">
                  <a16:creationId xmlns:a16="http://schemas.microsoft.com/office/drawing/2014/main" id="{4C524BF0-8E89-56A4-1507-2F016E826DA1}"/>
                </a:ext>
              </a:extLst>
            </p:cNvPr>
            <p:cNvSpPr/>
            <p:nvPr/>
          </p:nvSpPr>
          <p:spPr>
            <a:xfrm>
              <a:off x="0" y="0"/>
              <a:ext cx="24388953" cy="13727303"/>
            </a:xfrm>
            <a:custGeom>
              <a:avLst/>
              <a:gdLst/>
              <a:ahLst/>
              <a:cxnLst/>
              <a:rect l="l" t="t" r="r" b="b"/>
              <a:pathLst>
                <a:path w="24388953" h="1372730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txBody>
            <a:bodyPr/>
            <a:lstStyle/>
            <a:p>
              <a:endParaRPr lang="vi-VN"/>
            </a:p>
          </p:txBody>
        </p:sp>
      </p:grpSp>
      <p:grpSp>
        <p:nvGrpSpPr>
          <p:cNvPr id="25" name="Group 25">
            <a:extLst>
              <a:ext uri="{FF2B5EF4-FFF2-40B4-BE49-F238E27FC236}">
                <a16:creationId xmlns:a16="http://schemas.microsoft.com/office/drawing/2014/main" id="{1989BC3C-839F-401F-05C8-DD0E2D4BB1E3}"/>
              </a:ext>
            </a:extLst>
          </p:cNvPr>
          <p:cNvGrpSpPr/>
          <p:nvPr/>
        </p:nvGrpSpPr>
        <p:grpSpPr>
          <a:xfrm>
            <a:off x="6350346" y="9534525"/>
            <a:ext cx="6172200" cy="547688"/>
            <a:chOff x="0" y="0"/>
            <a:chExt cx="8229600" cy="730250"/>
          </a:xfrm>
        </p:grpSpPr>
        <p:sp>
          <p:nvSpPr>
            <p:cNvPr id="26" name="Freeform 26">
              <a:extLst>
                <a:ext uri="{FF2B5EF4-FFF2-40B4-BE49-F238E27FC236}">
                  <a16:creationId xmlns:a16="http://schemas.microsoft.com/office/drawing/2014/main" id="{F877C49D-1211-B951-44A6-8A4A1B083563}"/>
                </a:ext>
              </a:extLst>
            </p:cNvPr>
            <p:cNvSpPr/>
            <p:nvPr/>
          </p:nvSpPr>
          <p:spPr>
            <a:xfrm>
              <a:off x="0" y="0"/>
              <a:ext cx="8229600" cy="730250"/>
            </a:xfrm>
            <a:custGeom>
              <a:avLst/>
              <a:gdLst/>
              <a:ahLst/>
              <a:cxnLst/>
              <a:rect l="l" t="t" r="r" b="b"/>
              <a:pathLst>
                <a:path w="8229600" h="730250">
                  <a:moveTo>
                    <a:pt x="0" y="0"/>
                  </a:moveTo>
                  <a:lnTo>
                    <a:pt x="8229600" y="0"/>
                  </a:lnTo>
                  <a:lnTo>
                    <a:pt x="8229600" y="730250"/>
                  </a:lnTo>
                  <a:lnTo>
                    <a:pt x="0" y="730250"/>
                  </a:lnTo>
                  <a:close/>
                </a:path>
              </a:pathLst>
            </a:custGeom>
            <a:blipFill>
              <a:blip r:embed="rId6">
                <a:alphaModFix amt="0"/>
              </a:blip>
              <a:stretch>
                <a:fillRect t="-169587" b="-169587"/>
              </a:stretch>
            </a:blipFill>
          </p:spPr>
          <p:txBody>
            <a:bodyPr/>
            <a:lstStyle/>
            <a:p>
              <a:endParaRPr lang="vi-VN"/>
            </a:p>
          </p:txBody>
        </p:sp>
        <p:sp>
          <p:nvSpPr>
            <p:cNvPr id="27" name="TextBox 27">
              <a:extLst>
                <a:ext uri="{FF2B5EF4-FFF2-40B4-BE49-F238E27FC236}">
                  <a16:creationId xmlns:a16="http://schemas.microsoft.com/office/drawing/2014/main" id="{C3A2E57E-1D23-2FA0-7196-D717A06AD5A4}"/>
                </a:ext>
              </a:extLst>
            </p:cNvPr>
            <p:cNvSpPr txBox="1"/>
            <p:nvPr/>
          </p:nvSpPr>
          <p:spPr>
            <a:xfrm>
              <a:off x="0" y="-19050"/>
              <a:ext cx="8229600" cy="749300"/>
            </a:xfrm>
            <a:prstGeom prst="rect">
              <a:avLst/>
            </a:prstGeom>
          </p:spPr>
          <p:txBody>
            <a:bodyPr lIns="0" tIns="0" rIns="0" bIns="0" rtlCol="0" anchor="ctr"/>
            <a:lstStyle/>
            <a:p>
              <a:pPr algn="ctr">
                <a:lnSpc>
                  <a:spcPts val="2160"/>
                </a:lnSpc>
              </a:pPr>
              <a:r>
                <a:rPr lang="en-US" sz="1800">
                  <a:solidFill>
                    <a:srgbClr val="898989"/>
                  </a:solidFill>
                  <a:latin typeface="Arial"/>
                  <a:ea typeface="Arial"/>
                  <a:cs typeface="Arial"/>
                  <a:sym typeface="Arial"/>
                </a:rPr>
                <a:t>Copyrights 2024 CE-UIT. All Rights Reserved.</a:t>
              </a:r>
            </a:p>
          </p:txBody>
        </p:sp>
      </p:grpSp>
      <p:grpSp>
        <p:nvGrpSpPr>
          <p:cNvPr id="28" name="Group 28">
            <a:extLst>
              <a:ext uri="{FF2B5EF4-FFF2-40B4-BE49-F238E27FC236}">
                <a16:creationId xmlns:a16="http://schemas.microsoft.com/office/drawing/2014/main" id="{5F0942A3-901A-BCCD-CC8F-BCD108F07C94}"/>
              </a:ext>
            </a:extLst>
          </p:cNvPr>
          <p:cNvGrpSpPr/>
          <p:nvPr/>
        </p:nvGrpSpPr>
        <p:grpSpPr>
          <a:xfrm>
            <a:off x="15634421" y="9534525"/>
            <a:ext cx="4114800" cy="547688"/>
            <a:chOff x="0" y="0"/>
            <a:chExt cx="5486400" cy="730250"/>
          </a:xfrm>
        </p:grpSpPr>
        <p:sp>
          <p:nvSpPr>
            <p:cNvPr id="29" name="Freeform 29">
              <a:extLst>
                <a:ext uri="{FF2B5EF4-FFF2-40B4-BE49-F238E27FC236}">
                  <a16:creationId xmlns:a16="http://schemas.microsoft.com/office/drawing/2014/main" id="{5D16BFE9-4616-289E-E9F7-C30F912C327F}"/>
                </a:ext>
              </a:extLst>
            </p:cNvPr>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blipFill>
              <a:blip r:embed="rId6">
                <a:alphaModFix amt="0"/>
              </a:blip>
              <a:stretch>
                <a:fillRect t="-96391" b="-96391"/>
              </a:stretch>
            </a:blipFill>
          </p:spPr>
          <p:txBody>
            <a:bodyPr/>
            <a:lstStyle/>
            <a:p>
              <a:endParaRPr lang="vi-VN"/>
            </a:p>
          </p:txBody>
        </p:sp>
        <p:sp>
          <p:nvSpPr>
            <p:cNvPr id="30" name="TextBox 30">
              <a:extLst>
                <a:ext uri="{FF2B5EF4-FFF2-40B4-BE49-F238E27FC236}">
                  <a16:creationId xmlns:a16="http://schemas.microsoft.com/office/drawing/2014/main" id="{F81B59C0-02F9-1E7D-0C63-93662CE37172}"/>
                </a:ext>
              </a:extLst>
            </p:cNvPr>
            <p:cNvSpPr txBox="1"/>
            <p:nvPr/>
          </p:nvSpPr>
          <p:spPr>
            <a:xfrm>
              <a:off x="0" y="-19050"/>
              <a:ext cx="5486400" cy="749300"/>
            </a:xfrm>
            <a:prstGeom prst="rect">
              <a:avLst/>
            </a:prstGeom>
          </p:spPr>
          <p:txBody>
            <a:bodyPr lIns="0" tIns="0" rIns="0" bIns="0" rtlCol="0" anchor="ctr"/>
            <a:lstStyle/>
            <a:p>
              <a:pPr algn="ctr">
                <a:lnSpc>
                  <a:spcPts val="2160"/>
                </a:lnSpc>
              </a:pPr>
              <a:r>
                <a:rPr lang="en-US" sz="1800">
                  <a:solidFill>
                    <a:srgbClr val="FFFFFF"/>
                  </a:solidFill>
                  <a:latin typeface="Arial"/>
                  <a:ea typeface="Arial"/>
                  <a:cs typeface="Arial"/>
                  <a:sym typeface="Arial"/>
                </a:rPr>
                <a:t>6</a:t>
              </a:r>
            </a:p>
          </p:txBody>
        </p:sp>
      </p:grpSp>
      <p:pic>
        <p:nvPicPr>
          <p:cNvPr id="32" name="Picture 31" descr="image.png">
            <a:extLst>
              <a:ext uri="{FF2B5EF4-FFF2-40B4-BE49-F238E27FC236}">
                <a16:creationId xmlns:a16="http://schemas.microsoft.com/office/drawing/2014/main" id="{2B721E9E-4978-D067-E3BF-88413601C4D3}"/>
              </a:ext>
            </a:extLst>
          </p:cNvPr>
          <p:cNvPicPr>
            <a:picLocks noChangeAspect="1"/>
          </p:cNvPicPr>
          <p:nvPr/>
        </p:nvPicPr>
        <p:blipFill>
          <a:blip r:embed="rId7"/>
          <a:stretch>
            <a:fillRect/>
          </a:stretch>
        </p:blipFill>
        <p:spPr>
          <a:xfrm>
            <a:off x="760262" y="2155876"/>
            <a:ext cx="5184872" cy="6264223"/>
          </a:xfrm>
          <a:prstGeom prst="rect">
            <a:avLst/>
          </a:prstGeom>
        </p:spPr>
      </p:pic>
      <p:pic>
        <p:nvPicPr>
          <p:cNvPr id="34" name="Picture 33" descr="image.png">
            <a:extLst>
              <a:ext uri="{FF2B5EF4-FFF2-40B4-BE49-F238E27FC236}">
                <a16:creationId xmlns:a16="http://schemas.microsoft.com/office/drawing/2014/main" id="{089EEF00-7F75-6332-16B4-CF0E93A5C3DF}"/>
              </a:ext>
            </a:extLst>
          </p:cNvPr>
          <p:cNvPicPr>
            <a:picLocks noChangeAspect="1"/>
          </p:cNvPicPr>
          <p:nvPr/>
        </p:nvPicPr>
        <p:blipFill>
          <a:blip r:embed="rId8"/>
          <a:stretch>
            <a:fillRect/>
          </a:stretch>
        </p:blipFill>
        <p:spPr>
          <a:xfrm>
            <a:off x="6303149" y="2155875"/>
            <a:ext cx="5736451" cy="6307701"/>
          </a:xfrm>
          <a:prstGeom prst="rect">
            <a:avLst/>
          </a:prstGeom>
        </p:spPr>
      </p:pic>
      <p:pic>
        <p:nvPicPr>
          <p:cNvPr id="36" name="Picture 35" descr="image.png">
            <a:extLst>
              <a:ext uri="{FF2B5EF4-FFF2-40B4-BE49-F238E27FC236}">
                <a16:creationId xmlns:a16="http://schemas.microsoft.com/office/drawing/2014/main" id="{A28C094E-609B-72E1-AA6F-D07D4EBD18F4}"/>
              </a:ext>
            </a:extLst>
          </p:cNvPr>
          <p:cNvPicPr>
            <a:picLocks noChangeAspect="1"/>
          </p:cNvPicPr>
          <p:nvPr/>
        </p:nvPicPr>
        <p:blipFill>
          <a:blip r:embed="rId9"/>
          <a:stretch>
            <a:fillRect/>
          </a:stretch>
        </p:blipFill>
        <p:spPr>
          <a:xfrm>
            <a:off x="12342868" y="2144916"/>
            <a:ext cx="5335532" cy="6286139"/>
          </a:xfrm>
          <a:prstGeom prst="rect">
            <a:avLst/>
          </a:prstGeom>
        </p:spPr>
      </p:pic>
      <p:sp>
        <p:nvSpPr>
          <p:cNvPr id="40" name="TextBox 39">
            <a:extLst>
              <a:ext uri="{FF2B5EF4-FFF2-40B4-BE49-F238E27FC236}">
                <a16:creationId xmlns:a16="http://schemas.microsoft.com/office/drawing/2014/main" id="{258BC709-34FF-A0B7-A507-A98CCFCB6B03}"/>
              </a:ext>
            </a:extLst>
          </p:cNvPr>
          <p:cNvSpPr txBox="1"/>
          <p:nvPr/>
        </p:nvSpPr>
        <p:spPr>
          <a:xfrm>
            <a:off x="1206769" y="3871178"/>
            <a:ext cx="3412971" cy="369332"/>
          </a:xfrm>
          <a:prstGeom prst="rect">
            <a:avLst/>
          </a:prstGeom>
          <a:noFill/>
        </p:spPr>
        <p:txBody>
          <a:bodyPr wrap="square" lIns="0" tIns="0" rIns="0" bIns="0" anchor="t">
            <a:spAutoFit/>
          </a:bodyPr>
          <a:lstStyle/>
          <a:p>
            <a:pPr algn="l"/>
            <a:r>
              <a:rPr sz="2400" b="1" i="0" u="none" dirty="0">
                <a:solidFill>
                  <a:srgbClr val="064E3B"/>
                </a:solidFill>
                <a:latin typeface="Times New Roman" panose="02020603050405020304" pitchFamily="18" charset="0"/>
                <a:cs typeface="Times New Roman" panose="02020603050405020304" pitchFamily="18" charset="0"/>
              </a:rPr>
              <a:t>Linear Engine W4A15</a:t>
            </a:r>
          </a:p>
        </p:txBody>
      </p:sp>
      <p:sp>
        <p:nvSpPr>
          <p:cNvPr id="42" name="TextBox 41">
            <a:extLst>
              <a:ext uri="{FF2B5EF4-FFF2-40B4-BE49-F238E27FC236}">
                <a16:creationId xmlns:a16="http://schemas.microsoft.com/office/drawing/2014/main" id="{364AB8B2-BC35-56F2-F5D9-1C59CD0F515B}"/>
              </a:ext>
            </a:extLst>
          </p:cNvPr>
          <p:cNvSpPr txBox="1"/>
          <p:nvPr/>
        </p:nvSpPr>
        <p:spPr>
          <a:xfrm>
            <a:off x="1185405" y="4799390"/>
            <a:ext cx="4759728" cy="2585323"/>
          </a:xfrm>
          <a:prstGeom prst="rect">
            <a:avLst/>
          </a:prstGeom>
          <a:noFill/>
        </p:spPr>
        <p:txBody>
          <a:bodyPr wrap="square" lIns="0" tIns="0" rIns="0" bIns="0" anchor="t">
            <a:spAutoFit/>
          </a:bodyPr>
          <a:lstStyle/>
          <a:p>
            <a:pPr algn="l"/>
            <a:r>
              <a:rPr sz="2400" b="0" i="0" u="none" dirty="0" err="1">
                <a:solidFill>
                  <a:srgbClr val="334155"/>
                </a:solidFill>
                <a:latin typeface="Times New Roman" panose="02020603050405020304" pitchFamily="18" charset="0"/>
                <a:cs typeface="Times New Roman" panose="02020603050405020304" pitchFamily="18" charset="0"/>
              </a:rPr>
              <a:t>Tối</a:t>
            </a:r>
            <a:r>
              <a:rPr sz="2400" b="0" i="0" u="none" dirty="0">
                <a:solidFill>
                  <a:srgbClr val="334155"/>
                </a:solidFill>
                <a:latin typeface="Times New Roman" panose="02020603050405020304" pitchFamily="18" charset="0"/>
                <a:cs typeface="Times New Roman" panose="02020603050405020304" pitchFamily="18" charset="0"/>
              </a:rPr>
              <a:t> </a:t>
            </a:r>
            <a:r>
              <a:rPr sz="2400" b="0" i="0" u="none" dirty="0" err="1">
                <a:solidFill>
                  <a:srgbClr val="334155"/>
                </a:solidFill>
                <a:latin typeface="Times New Roman" panose="02020603050405020304" pitchFamily="18" charset="0"/>
                <a:cs typeface="Times New Roman" panose="02020603050405020304" pitchFamily="18" charset="0"/>
              </a:rPr>
              <a:t>ưu</a:t>
            </a:r>
            <a:r>
              <a:rPr sz="2400" b="0" i="0" u="none" dirty="0">
                <a:solidFill>
                  <a:srgbClr val="334155"/>
                </a:solidFill>
                <a:latin typeface="Times New Roman" panose="02020603050405020304" pitchFamily="18" charset="0"/>
                <a:cs typeface="Times New Roman" panose="02020603050405020304" pitchFamily="18" charset="0"/>
              </a:rPr>
              <a:t> </a:t>
            </a:r>
            <a:r>
              <a:rPr sz="2400" b="0" i="0" u="none" dirty="0" err="1">
                <a:solidFill>
                  <a:srgbClr val="334155"/>
                </a:solidFill>
                <a:latin typeface="Times New Roman" panose="02020603050405020304" pitchFamily="18" charset="0"/>
                <a:cs typeface="Times New Roman" panose="02020603050405020304" pitchFamily="18" charset="0"/>
              </a:rPr>
              <a:t>cho</a:t>
            </a:r>
            <a:r>
              <a:rPr sz="2400" b="0" i="0" u="none" dirty="0">
                <a:solidFill>
                  <a:srgbClr val="334155"/>
                </a:solidFill>
                <a:latin typeface="Times New Roman" panose="02020603050405020304" pitchFamily="18" charset="0"/>
                <a:cs typeface="Times New Roman" panose="02020603050405020304" pitchFamily="18" charset="0"/>
              </a:rPr>
              <a:t> DSP48E2: </a:t>
            </a:r>
            <a:r>
              <a:rPr sz="2400" b="0" i="0" u="none" dirty="0" err="1">
                <a:solidFill>
                  <a:srgbClr val="334155"/>
                </a:solidFill>
                <a:latin typeface="Times New Roman" panose="02020603050405020304" pitchFamily="18" charset="0"/>
                <a:cs typeface="Times New Roman" panose="02020603050405020304" pitchFamily="18" charset="0"/>
              </a:rPr>
              <a:t>Đóng</a:t>
            </a:r>
            <a:r>
              <a:rPr sz="2400" b="0" i="0" u="none" dirty="0">
                <a:solidFill>
                  <a:srgbClr val="334155"/>
                </a:solidFill>
                <a:latin typeface="Times New Roman" panose="02020603050405020304" pitchFamily="18" charset="0"/>
                <a:cs typeface="Times New Roman" panose="02020603050405020304" pitchFamily="18" charset="0"/>
              </a:rPr>
              <a:t> </a:t>
            </a:r>
            <a:r>
              <a:rPr sz="2400" b="0" i="0" u="none" dirty="0" err="1">
                <a:solidFill>
                  <a:srgbClr val="334155"/>
                </a:solidFill>
                <a:latin typeface="Times New Roman" panose="02020603050405020304" pitchFamily="18" charset="0"/>
                <a:cs typeface="Times New Roman" panose="02020603050405020304" pitchFamily="18" charset="0"/>
              </a:rPr>
              <a:t>gói</a:t>
            </a:r>
            <a:r>
              <a:rPr sz="2400" b="0" i="0" u="none" dirty="0">
                <a:solidFill>
                  <a:srgbClr val="334155"/>
                </a:solidFill>
                <a:latin typeface="Times New Roman" panose="02020603050405020304" pitchFamily="18" charset="0"/>
                <a:cs typeface="Times New Roman" panose="02020603050405020304" pitchFamily="18" charset="0"/>
              </a:rPr>
              <a:t> </a:t>
            </a:r>
            <a:r>
              <a:rPr sz="2400" b="0" i="0" u="none" dirty="0" err="1">
                <a:solidFill>
                  <a:srgbClr val="334155"/>
                </a:solidFill>
                <a:latin typeface="Times New Roman" panose="02020603050405020304" pitchFamily="18" charset="0"/>
                <a:cs typeface="Times New Roman" panose="02020603050405020304" pitchFamily="18" charset="0"/>
              </a:rPr>
              <a:t>hai</a:t>
            </a:r>
            <a:r>
              <a:rPr sz="2400" b="0" i="0" u="none" dirty="0">
                <a:solidFill>
                  <a:srgbClr val="334155"/>
                </a:solidFill>
                <a:latin typeface="Times New Roman" panose="02020603050405020304" pitchFamily="18" charset="0"/>
                <a:cs typeface="Times New Roman" panose="02020603050405020304" pitchFamily="18" charset="0"/>
              </a:rPr>
              <a:t> </a:t>
            </a:r>
            <a:r>
              <a:rPr sz="2400" b="0" i="0" u="none" dirty="0" err="1">
                <a:solidFill>
                  <a:srgbClr val="334155"/>
                </a:solidFill>
                <a:latin typeface="Times New Roman" panose="02020603050405020304" pitchFamily="18" charset="0"/>
                <a:cs typeface="Times New Roman" panose="02020603050405020304" pitchFamily="18" charset="0"/>
              </a:rPr>
              <a:t>trọng</a:t>
            </a:r>
            <a:r>
              <a:rPr sz="2400" b="0" i="0" u="none" dirty="0">
                <a:solidFill>
                  <a:srgbClr val="334155"/>
                </a:solidFill>
                <a:latin typeface="Times New Roman" panose="02020603050405020304" pitchFamily="18" charset="0"/>
                <a:cs typeface="Times New Roman" panose="02020603050405020304" pitchFamily="18" charset="0"/>
              </a:rPr>
              <a:t> </a:t>
            </a:r>
            <a:r>
              <a:rPr sz="2400" b="0" i="0" u="none" dirty="0" err="1">
                <a:solidFill>
                  <a:srgbClr val="334155"/>
                </a:solidFill>
                <a:latin typeface="Times New Roman" panose="02020603050405020304" pitchFamily="18" charset="0"/>
                <a:cs typeface="Times New Roman" panose="02020603050405020304" pitchFamily="18" charset="0"/>
              </a:rPr>
              <a:t>số</a:t>
            </a:r>
            <a:r>
              <a:rPr sz="2400" b="0" i="0" u="none" dirty="0">
                <a:solidFill>
                  <a:srgbClr val="334155"/>
                </a:solidFill>
                <a:latin typeface="Times New Roman" panose="02020603050405020304" pitchFamily="18" charset="0"/>
                <a:cs typeface="Times New Roman" panose="02020603050405020304" pitchFamily="18" charset="0"/>
              </a:rPr>
              <a:t> INT4 </a:t>
            </a:r>
            <a:r>
              <a:rPr sz="2400" b="0" i="0" u="none" dirty="0" err="1">
                <a:solidFill>
                  <a:srgbClr val="334155"/>
                </a:solidFill>
                <a:latin typeface="Times New Roman" panose="02020603050405020304" pitchFamily="18" charset="0"/>
                <a:cs typeface="Times New Roman" panose="02020603050405020304" pitchFamily="18" charset="0"/>
              </a:rPr>
              <a:t>cùng</a:t>
            </a:r>
            <a:r>
              <a:rPr sz="2400" b="0" i="0" u="none" dirty="0">
                <a:solidFill>
                  <a:srgbClr val="334155"/>
                </a:solidFill>
                <a:latin typeface="Times New Roman" panose="02020603050405020304" pitchFamily="18" charset="0"/>
                <a:cs typeface="Times New Roman" panose="02020603050405020304" pitchFamily="18" charset="0"/>
              </a:rPr>
              <a:t> </a:t>
            </a:r>
            <a:r>
              <a:rPr sz="2400" b="0" i="0" u="none" dirty="0" err="1">
                <a:solidFill>
                  <a:srgbClr val="334155"/>
                </a:solidFill>
                <a:latin typeface="Times New Roman" panose="02020603050405020304" pitchFamily="18" charset="0"/>
                <a:cs typeface="Times New Roman" panose="02020603050405020304" pitchFamily="18" charset="0"/>
              </a:rPr>
              <a:t>nhân</a:t>
            </a:r>
            <a:r>
              <a:rPr sz="2400" b="0" i="0" u="none" dirty="0">
                <a:solidFill>
                  <a:srgbClr val="334155"/>
                </a:solidFill>
                <a:latin typeface="Times New Roman" panose="02020603050405020304" pitchFamily="18" charset="0"/>
                <a:cs typeface="Times New Roman" panose="02020603050405020304" pitchFamily="18" charset="0"/>
              </a:rPr>
              <a:t> </a:t>
            </a:r>
            <a:r>
              <a:rPr sz="2400" b="0" i="0" u="none" dirty="0" err="1">
                <a:solidFill>
                  <a:srgbClr val="334155"/>
                </a:solidFill>
                <a:latin typeface="Times New Roman" panose="02020603050405020304" pitchFamily="18" charset="0"/>
                <a:cs typeface="Times New Roman" panose="02020603050405020304" pitchFamily="18" charset="0"/>
              </a:rPr>
              <a:t>với</a:t>
            </a:r>
            <a:r>
              <a:rPr sz="2400" b="0" i="0" u="none" dirty="0">
                <a:solidFill>
                  <a:srgbClr val="334155"/>
                </a:solidFill>
                <a:latin typeface="Times New Roman" panose="02020603050405020304" pitchFamily="18" charset="0"/>
                <a:cs typeface="Times New Roman" panose="02020603050405020304" pitchFamily="18" charset="0"/>
              </a:rPr>
              <a:t> </a:t>
            </a:r>
            <a:r>
              <a:rPr sz="2400" b="0" i="0" u="none" dirty="0" err="1">
                <a:solidFill>
                  <a:srgbClr val="334155"/>
                </a:solidFill>
                <a:latin typeface="Times New Roman" panose="02020603050405020304" pitchFamily="18" charset="0"/>
                <a:cs typeface="Times New Roman" panose="02020603050405020304" pitchFamily="18" charset="0"/>
              </a:rPr>
              <a:t>một</a:t>
            </a:r>
            <a:r>
              <a:rPr sz="2400" b="0" i="0" u="none" dirty="0">
                <a:solidFill>
                  <a:srgbClr val="334155"/>
                </a:solidFill>
                <a:latin typeface="Times New Roman" panose="02020603050405020304" pitchFamily="18" charset="0"/>
                <a:cs typeface="Times New Roman" panose="02020603050405020304" pitchFamily="18" charset="0"/>
              </a:rPr>
              <a:t> activation INT15 </a:t>
            </a:r>
            <a:r>
              <a:rPr sz="2400" b="0" i="0" u="none" dirty="0" err="1">
                <a:solidFill>
                  <a:srgbClr val="334155"/>
                </a:solidFill>
                <a:latin typeface="Times New Roman" panose="02020603050405020304" pitchFamily="18" charset="0"/>
                <a:cs typeface="Times New Roman" panose="02020603050405020304" pitchFamily="18" charset="0"/>
              </a:rPr>
              <a:t>vào</a:t>
            </a:r>
            <a:r>
              <a:rPr sz="2400" b="0" i="0" u="none" dirty="0">
                <a:solidFill>
                  <a:srgbClr val="334155"/>
                </a:solidFill>
                <a:latin typeface="Times New Roman" panose="02020603050405020304" pitchFamily="18" charset="0"/>
                <a:cs typeface="Times New Roman" panose="02020603050405020304" pitchFamily="18" charset="0"/>
              </a:rPr>
              <a:t> </a:t>
            </a:r>
            <a:r>
              <a:rPr sz="2400" b="0" i="0" u="none" dirty="0" err="1">
                <a:solidFill>
                  <a:srgbClr val="334155"/>
                </a:solidFill>
                <a:latin typeface="Times New Roman" panose="02020603050405020304" pitchFamily="18" charset="0"/>
                <a:cs typeface="Times New Roman" panose="02020603050405020304" pitchFamily="18" charset="0"/>
              </a:rPr>
              <a:t>một</a:t>
            </a:r>
            <a:r>
              <a:rPr sz="2400" b="0" i="0" u="none" dirty="0">
                <a:solidFill>
                  <a:srgbClr val="334155"/>
                </a:solidFill>
                <a:latin typeface="Times New Roman" panose="02020603050405020304" pitchFamily="18" charset="0"/>
                <a:cs typeface="Times New Roman" panose="02020603050405020304" pitchFamily="18" charset="0"/>
              </a:rPr>
              <a:t> DSP,</a:t>
            </a:r>
            <a:r>
              <a:rPr lang="vi-VN" sz="2400" b="0" i="0" u="none" dirty="0">
                <a:solidFill>
                  <a:srgbClr val="334155"/>
                </a:solidFill>
                <a:latin typeface="Times New Roman" panose="02020603050405020304" pitchFamily="18" charset="0"/>
                <a:cs typeface="Times New Roman" panose="02020603050405020304" pitchFamily="18" charset="0"/>
              </a:rPr>
              <a:t> tận dụng được cấu tạo của DSP,</a:t>
            </a:r>
            <a:r>
              <a:rPr sz="2400" b="0" i="0" u="none" dirty="0">
                <a:solidFill>
                  <a:srgbClr val="334155"/>
                </a:solidFill>
                <a:latin typeface="Times New Roman" panose="02020603050405020304" pitchFamily="18" charset="0"/>
                <a:cs typeface="Times New Roman" panose="02020603050405020304" pitchFamily="18" charset="0"/>
              </a:rPr>
              <a:t> </a:t>
            </a:r>
            <a:r>
              <a:rPr lang="vi-VN" sz="2400" b="0" i="0" u="none" dirty="0">
                <a:solidFill>
                  <a:srgbClr val="334155"/>
                </a:solidFill>
                <a:latin typeface="Times New Roman" panose="02020603050405020304" pitchFamily="18" charset="0"/>
                <a:cs typeface="Times New Roman" panose="02020603050405020304" pitchFamily="18" charset="0"/>
              </a:rPr>
              <a:t>tiết kiệm được một nửa số DSP nhưng không làm chậm thời gian compute, vẫn overlap được với thời gian load.</a:t>
            </a:r>
            <a:endParaRPr sz="2400" b="0" i="0" u="none" dirty="0">
              <a:solidFill>
                <a:srgbClr val="334155"/>
              </a:solidFill>
              <a:latin typeface="Times New Roman" panose="02020603050405020304" pitchFamily="18" charset="0"/>
              <a:cs typeface="Times New Roman" panose="02020603050405020304" pitchFamily="18" charset="0"/>
            </a:endParaRPr>
          </a:p>
        </p:txBody>
      </p:sp>
      <p:sp>
        <p:nvSpPr>
          <p:cNvPr id="46" name="TextBox 45">
            <a:extLst>
              <a:ext uri="{FF2B5EF4-FFF2-40B4-BE49-F238E27FC236}">
                <a16:creationId xmlns:a16="http://schemas.microsoft.com/office/drawing/2014/main" id="{0BCAE85B-FA3B-0E96-9012-6633EB594F2E}"/>
              </a:ext>
            </a:extLst>
          </p:cNvPr>
          <p:cNvSpPr txBox="1"/>
          <p:nvPr/>
        </p:nvSpPr>
        <p:spPr>
          <a:xfrm>
            <a:off x="6564912" y="3878196"/>
            <a:ext cx="5164641" cy="369332"/>
          </a:xfrm>
          <a:prstGeom prst="rect">
            <a:avLst/>
          </a:prstGeom>
          <a:noFill/>
        </p:spPr>
        <p:txBody>
          <a:bodyPr wrap="square" lIns="0" tIns="0" rIns="0" bIns="0" anchor="t">
            <a:spAutoFit/>
          </a:bodyPr>
          <a:lstStyle/>
          <a:p>
            <a:pPr algn="l"/>
            <a:r>
              <a:rPr sz="2400" b="1" i="0" u="none" dirty="0">
                <a:solidFill>
                  <a:srgbClr val="064E3B"/>
                </a:solidFill>
                <a:latin typeface="Times New Roman" panose="02020603050405020304" pitchFamily="18" charset="0"/>
                <a:cs typeface="Times New Roman" panose="02020603050405020304" pitchFamily="18" charset="0"/>
              </a:rPr>
              <a:t>Giao </a:t>
            </a:r>
            <a:r>
              <a:rPr sz="2400" b="1" i="0" u="none" dirty="0" err="1">
                <a:solidFill>
                  <a:srgbClr val="064E3B"/>
                </a:solidFill>
                <a:latin typeface="Times New Roman" panose="02020603050405020304" pitchFamily="18" charset="0"/>
                <a:cs typeface="Times New Roman" panose="02020603050405020304" pitchFamily="18" charset="0"/>
              </a:rPr>
              <a:t>tiếp</a:t>
            </a:r>
            <a:r>
              <a:rPr sz="2400" b="1" i="0" u="none" dirty="0">
                <a:solidFill>
                  <a:srgbClr val="064E3B"/>
                </a:solidFill>
                <a:latin typeface="Times New Roman" panose="02020603050405020304" pitchFamily="18" charset="0"/>
                <a:cs typeface="Times New Roman" panose="02020603050405020304" pitchFamily="18" charset="0"/>
              </a:rPr>
              <a:t> 4 DDR Banks</a:t>
            </a:r>
            <a:r>
              <a:rPr lang="vi-VN" sz="2400" b="1" i="0" u="none" dirty="0">
                <a:solidFill>
                  <a:srgbClr val="064E3B"/>
                </a:solidFill>
                <a:latin typeface="Times New Roman" panose="02020603050405020304" pitchFamily="18" charset="0"/>
                <a:cs typeface="Times New Roman" panose="02020603050405020304" pitchFamily="18" charset="0"/>
              </a:rPr>
              <a:t> và 4 PE</a:t>
            </a:r>
            <a:endParaRPr sz="2400" b="1" i="0" u="none" dirty="0">
              <a:solidFill>
                <a:srgbClr val="064E3B"/>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7F9BC4F8-81CA-0A7A-3A8E-ADFBE316B0C8}"/>
              </a:ext>
            </a:extLst>
          </p:cNvPr>
          <p:cNvSpPr txBox="1"/>
          <p:nvPr/>
        </p:nvSpPr>
        <p:spPr>
          <a:xfrm>
            <a:off x="6528955" y="4845903"/>
            <a:ext cx="4822144" cy="1850956"/>
          </a:xfrm>
          <a:prstGeom prst="rect">
            <a:avLst/>
          </a:prstGeom>
          <a:noFill/>
        </p:spPr>
        <p:txBody>
          <a:bodyPr wrap="square" lIns="0" tIns="0" rIns="0" bIns="0" anchor="t">
            <a:spAutoFit/>
          </a:bodyPr>
          <a:lstStyle/>
          <a:p>
            <a:pPr algn="l">
              <a:lnSpc>
                <a:spcPts val="2400"/>
              </a:lnSpc>
            </a:pPr>
            <a:r>
              <a:rPr sz="2400" b="0" i="0" u="none" dirty="0" err="1">
                <a:solidFill>
                  <a:srgbClr val="334155"/>
                </a:solidFill>
                <a:latin typeface="Times New Roman" panose="02020603050405020304" pitchFamily="18" charset="0"/>
                <a:cs typeface="Times New Roman" panose="02020603050405020304" pitchFamily="18" charset="0"/>
              </a:rPr>
              <a:t>Phân</a:t>
            </a:r>
            <a:r>
              <a:rPr sz="2400" b="0" i="0" u="none" dirty="0">
                <a:solidFill>
                  <a:srgbClr val="334155"/>
                </a:solidFill>
                <a:latin typeface="Times New Roman" panose="02020603050405020304" pitchFamily="18" charset="0"/>
                <a:cs typeface="Times New Roman" panose="02020603050405020304" pitchFamily="18" charset="0"/>
              </a:rPr>
              <a:t> </a:t>
            </a:r>
            <a:r>
              <a:rPr sz="2400" b="0" i="0" u="none" dirty="0" err="1">
                <a:solidFill>
                  <a:srgbClr val="334155"/>
                </a:solidFill>
                <a:latin typeface="Times New Roman" panose="02020603050405020304" pitchFamily="18" charset="0"/>
                <a:cs typeface="Times New Roman" panose="02020603050405020304" pitchFamily="18" charset="0"/>
              </a:rPr>
              <a:t>mảnh</a:t>
            </a:r>
            <a:r>
              <a:rPr sz="2400" b="0" i="0" u="none" dirty="0">
                <a:solidFill>
                  <a:srgbClr val="334155"/>
                </a:solidFill>
                <a:latin typeface="Times New Roman" panose="02020603050405020304" pitchFamily="18" charset="0"/>
                <a:cs typeface="Times New Roman" panose="02020603050405020304" pitchFamily="18" charset="0"/>
              </a:rPr>
              <a:t> weight</a:t>
            </a:r>
            <a:r>
              <a:rPr lang="vi-VN" sz="2400" b="0" i="0" u="none" dirty="0">
                <a:solidFill>
                  <a:srgbClr val="334155"/>
                </a:solidFill>
                <a:latin typeface="Times New Roman" panose="02020603050405020304" pitchFamily="18" charset="0"/>
                <a:cs typeface="Times New Roman" panose="02020603050405020304" pitchFamily="18" charset="0"/>
              </a:rPr>
              <a:t> và scale</a:t>
            </a:r>
            <a:r>
              <a:rPr sz="2400" b="0" i="0" u="none" dirty="0">
                <a:solidFill>
                  <a:srgbClr val="334155"/>
                </a:solidFill>
                <a:latin typeface="Times New Roman" panose="02020603050405020304" pitchFamily="18" charset="0"/>
                <a:cs typeface="Times New Roman" panose="02020603050405020304" pitchFamily="18" charset="0"/>
              </a:rPr>
              <a:t> </a:t>
            </a:r>
            <a:r>
              <a:rPr sz="2400" b="0" i="0" u="none" dirty="0" err="1">
                <a:solidFill>
                  <a:srgbClr val="334155"/>
                </a:solidFill>
                <a:latin typeface="Times New Roman" panose="02020603050405020304" pitchFamily="18" charset="0"/>
                <a:cs typeface="Times New Roman" panose="02020603050405020304" pitchFamily="18" charset="0"/>
              </a:rPr>
              <a:t>và</a:t>
            </a:r>
            <a:r>
              <a:rPr sz="2400" b="0" i="0" u="none" dirty="0">
                <a:solidFill>
                  <a:srgbClr val="334155"/>
                </a:solidFill>
                <a:latin typeface="Times New Roman" panose="02020603050405020304" pitchFamily="18" charset="0"/>
                <a:cs typeface="Times New Roman" panose="02020603050405020304" pitchFamily="18" charset="0"/>
              </a:rPr>
              <a:t> KV head </a:t>
            </a:r>
            <a:r>
              <a:rPr sz="2400" b="0" i="0" u="none" dirty="0" err="1">
                <a:solidFill>
                  <a:srgbClr val="334155"/>
                </a:solidFill>
                <a:latin typeface="Times New Roman" panose="02020603050405020304" pitchFamily="18" charset="0"/>
                <a:cs typeface="Times New Roman" panose="02020603050405020304" pitchFamily="18" charset="0"/>
              </a:rPr>
              <a:t>vào</a:t>
            </a:r>
            <a:r>
              <a:rPr sz="2400" b="0" i="0" u="none" dirty="0">
                <a:solidFill>
                  <a:srgbClr val="334155"/>
                </a:solidFill>
                <a:latin typeface="Times New Roman" panose="02020603050405020304" pitchFamily="18" charset="0"/>
                <a:cs typeface="Times New Roman" panose="02020603050405020304" pitchFamily="18" charset="0"/>
              </a:rPr>
              <a:t> 4 DDR bank. </a:t>
            </a:r>
            <a:r>
              <a:rPr sz="2400" b="0" i="0" u="none" dirty="0" err="1">
                <a:solidFill>
                  <a:srgbClr val="334155"/>
                </a:solidFill>
                <a:latin typeface="Times New Roman" panose="02020603050405020304" pitchFamily="18" charset="0"/>
                <a:cs typeface="Times New Roman" panose="02020603050405020304" pitchFamily="18" charset="0"/>
              </a:rPr>
              <a:t>Việc</a:t>
            </a:r>
            <a:r>
              <a:rPr sz="2400" b="0" i="0" u="none" dirty="0">
                <a:solidFill>
                  <a:srgbClr val="334155"/>
                </a:solidFill>
                <a:latin typeface="Times New Roman" panose="02020603050405020304" pitchFamily="18" charset="0"/>
                <a:cs typeface="Times New Roman" panose="02020603050405020304" pitchFamily="18" charset="0"/>
              </a:rPr>
              <a:t> </a:t>
            </a:r>
            <a:r>
              <a:rPr sz="2400" b="0" i="0" u="none" dirty="0" err="1">
                <a:solidFill>
                  <a:srgbClr val="334155"/>
                </a:solidFill>
                <a:latin typeface="Times New Roman" panose="02020603050405020304" pitchFamily="18" charset="0"/>
                <a:cs typeface="Times New Roman" panose="02020603050405020304" pitchFamily="18" charset="0"/>
              </a:rPr>
              <a:t>phân</a:t>
            </a:r>
            <a:r>
              <a:rPr sz="2400" b="0" i="0" u="none" dirty="0">
                <a:solidFill>
                  <a:srgbClr val="334155"/>
                </a:solidFill>
                <a:latin typeface="Times New Roman" panose="02020603050405020304" pitchFamily="18" charset="0"/>
                <a:cs typeface="Times New Roman" panose="02020603050405020304" pitchFamily="18" charset="0"/>
              </a:rPr>
              <a:t> </a:t>
            </a:r>
            <a:r>
              <a:rPr sz="2400" b="0" i="0" u="none" dirty="0" err="1">
                <a:solidFill>
                  <a:srgbClr val="334155"/>
                </a:solidFill>
                <a:latin typeface="Times New Roman" panose="02020603050405020304" pitchFamily="18" charset="0"/>
                <a:cs typeface="Times New Roman" panose="02020603050405020304" pitchFamily="18" charset="0"/>
              </a:rPr>
              <a:t>bố</a:t>
            </a:r>
            <a:r>
              <a:rPr sz="2400" b="0" i="0" u="none" dirty="0">
                <a:solidFill>
                  <a:srgbClr val="334155"/>
                </a:solidFill>
                <a:latin typeface="Times New Roman" panose="02020603050405020304" pitchFamily="18" charset="0"/>
                <a:cs typeface="Times New Roman" panose="02020603050405020304" pitchFamily="18" charset="0"/>
              </a:rPr>
              <a:t> </a:t>
            </a:r>
            <a:r>
              <a:rPr sz="2400" b="0" i="0" u="none" dirty="0" err="1">
                <a:solidFill>
                  <a:srgbClr val="334155"/>
                </a:solidFill>
                <a:latin typeface="Times New Roman" panose="02020603050405020304" pitchFamily="18" charset="0"/>
                <a:cs typeface="Times New Roman" panose="02020603050405020304" pitchFamily="18" charset="0"/>
              </a:rPr>
              <a:t>giúp</a:t>
            </a:r>
            <a:r>
              <a:rPr lang="vi-VN" sz="2400" dirty="0">
                <a:solidFill>
                  <a:srgbClr val="334155"/>
                </a:solidFill>
                <a:latin typeface="Times New Roman" panose="02020603050405020304" pitchFamily="18" charset="0"/>
                <a:cs typeface="Times New Roman" panose="02020603050405020304" pitchFamily="18" charset="0"/>
              </a:rPr>
              <a:t> khai thác</a:t>
            </a:r>
            <a:r>
              <a:rPr sz="2400" b="0" i="0" u="none" dirty="0">
                <a:solidFill>
                  <a:srgbClr val="334155"/>
                </a:solidFill>
                <a:latin typeface="Times New Roman" panose="02020603050405020304" pitchFamily="18" charset="0"/>
                <a:cs typeface="Times New Roman" panose="02020603050405020304" pitchFamily="18" charset="0"/>
              </a:rPr>
              <a:t> </a:t>
            </a:r>
            <a:r>
              <a:rPr lang="vi-VN" sz="2400" b="0" i="0" u="none" dirty="0">
                <a:solidFill>
                  <a:srgbClr val="334155"/>
                </a:solidFill>
                <a:latin typeface="Times New Roman" panose="02020603050405020304" pitchFamily="18" charset="0"/>
                <a:cs typeface="Times New Roman" panose="02020603050405020304" pitchFamily="18" charset="0"/>
              </a:rPr>
              <a:t>tối đa</a:t>
            </a:r>
            <a:r>
              <a:rPr sz="2400" b="0" i="0" u="none" dirty="0">
                <a:solidFill>
                  <a:srgbClr val="334155"/>
                </a:solidFill>
                <a:latin typeface="Times New Roman" panose="02020603050405020304" pitchFamily="18" charset="0"/>
                <a:cs typeface="Times New Roman" panose="02020603050405020304" pitchFamily="18" charset="0"/>
              </a:rPr>
              <a:t> </a:t>
            </a:r>
            <a:r>
              <a:rPr sz="2400" b="0" i="0" u="none" dirty="0" err="1">
                <a:solidFill>
                  <a:srgbClr val="334155"/>
                </a:solidFill>
                <a:latin typeface="Times New Roman" panose="02020603050405020304" pitchFamily="18" charset="0"/>
                <a:cs typeface="Times New Roman" panose="02020603050405020304" pitchFamily="18" charset="0"/>
              </a:rPr>
              <a:t>băng</a:t>
            </a:r>
            <a:r>
              <a:rPr sz="2400" b="0" i="0" u="none" dirty="0">
                <a:solidFill>
                  <a:srgbClr val="334155"/>
                </a:solidFill>
                <a:latin typeface="Times New Roman" panose="02020603050405020304" pitchFamily="18" charset="0"/>
                <a:cs typeface="Times New Roman" panose="02020603050405020304" pitchFamily="18" charset="0"/>
              </a:rPr>
              <a:t> </a:t>
            </a:r>
            <a:r>
              <a:rPr sz="2400" b="0" i="0" u="none" dirty="0" err="1">
                <a:solidFill>
                  <a:srgbClr val="334155"/>
                </a:solidFill>
                <a:latin typeface="Times New Roman" panose="02020603050405020304" pitchFamily="18" charset="0"/>
                <a:cs typeface="Times New Roman" panose="02020603050405020304" pitchFamily="18" charset="0"/>
              </a:rPr>
              <a:t>thông</a:t>
            </a:r>
            <a:r>
              <a:rPr lang="vi-VN" sz="2400" b="0" i="0" u="none" dirty="0">
                <a:solidFill>
                  <a:srgbClr val="334155"/>
                </a:solidFill>
                <a:latin typeface="Times New Roman" panose="02020603050405020304" pitchFamily="18" charset="0"/>
                <a:cs typeface="Times New Roman" panose="02020603050405020304" pitchFamily="18" charset="0"/>
              </a:rPr>
              <a:t> truyền weight từ bộ nhớ ngoài vào kernel của FPGA</a:t>
            </a:r>
            <a:r>
              <a:rPr sz="2400" b="0" i="0" u="none" dirty="0">
                <a:solidFill>
                  <a:srgbClr val="334155"/>
                </a:solidFill>
                <a:latin typeface="Times New Roman" panose="02020603050405020304" pitchFamily="18" charset="0"/>
                <a:cs typeface="Times New Roman" panose="02020603050405020304" pitchFamily="18" charset="0"/>
              </a:rPr>
              <a:t>, </a:t>
            </a:r>
            <a:r>
              <a:rPr sz="2400" b="0" i="0" u="none" dirty="0" err="1">
                <a:solidFill>
                  <a:srgbClr val="334155"/>
                </a:solidFill>
                <a:latin typeface="Times New Roman" panose="02020603050405020304" pitchFamily="18" charset="0"/>
                <a:cs typeface="Times New Roman" panose="02020603050405020304" pitchFamily="18" charset="0"/>
              </a:rPr>
              <a:t>hạn</a:t>
            </a:r>
            <a:r>
              <a:rPr sz="2400" b="0" i="0" u="none" dirty="0">
                <a:solidFill>
                  <a:srgbClr val="334155"/>
                </a:solidFill>
                <a:latin typeface="Times New Roman" panose="02020603050405020304" pitchFamily="18" charset="0"/>
                <a:cs typeface="Times New Roman" panose="02020603050405020304" pitchFamily="18" charset="0"/>
              </a:rPr>
              <a:t> </a:t>
            </a:r>
            <a:r>
              <a:rPr sz="2400" b="0" i="0" u="none" dirty="0" err="1">
                <a:solidFill>
                  <a:srgbClr val="334155"/>
                </a:solidFill>
                <a:latin typeface="Times New Roman" panose="02020603050405020304" pitchFamily="18" charset="0"/>
                <a:cs typeface="Times New Roman" panose="02020603050405020304" pitchFamily="18" charset="0"/>
              </a:rPr>
              <a:t>chế</a:t>
            </a:r>
            <a:r>
              <a:rPr sz="2400" b="0" i="0" u="none" dirty="0">
                <a:solidFill>
                  <a:srgbClr val="334155"/>
                </a:solidFill>
                <a:latin typeface="Times New Roman" panose="02020603050405020304" pitchFamily="18" charset="0"/>
                <a:cs typeface="Times New Roman" panose="02020603050405020304" pitchFamily="18" charset="0"/>
              </a:rPr>
              <a:t> </a:t>
            </a:r>
            <a:r>
              <a:rPr sz="2400" b="0" i="0" u="none" dirty="0" err="1">
                <a:solidFill>
                  <a:srgbClr val="334155"/>
                </a:solidFill>
                <a:latin typeface="Times New Roman" panose="02020603050405020304" pitchFamily="18" charset="0"/>
                <a:cs typeface="Times New Roman" panose="02020603050405020304" pitchFamily="18" charset="0"/>
              </a:rPr>
              <a:t>tranh</a:t>
            </a:r>
            <a:r>
              <a:rPr sz="2400" b="0" i="0" u="none" dirty="0">
                <a:solidFill>
                  <a:srgbClr val="334155"/>
                </a:solidFill>
                <a:latin typeface="Times New Roman" panose="02020603050405020304" pitchFamily="18" charset="0"/>
                <a:cs typeface="Times New Roman" panose="02020603050405020304" pitchFamily="18" charset="0"/>
              </a:rPr>
              <a:t> </a:t>
            </a:r>
            <a:r>
              <a:rPr sz="2400" b="0" i="0" u="none" dirty="0" err="1">
                <a:solidFill>
                  <a:srgbClr val="334155"/>
                </a:solidFill>
                <a:latin typeface="Times New Roman" panose="02020603050405020304" pitchFamily="18" charset="0"/>
                <a:cs typeface="Times New Roman" panose="02020603050405020304" pitchFamily="18" charset="0"/>
              </a:rPr>
              <a:t>chấp</a:t>
            </a:r>
            <a:r>
              <a:rPr sz="2400" b="0" i="0" u="none" dirty="0">
                <a:solidFill>
                  <a:srgbClr val="334155"/>
                </a:solidFill>
                <a:latin typeface="Times New Roman" panose="02020603050405020304" pitchFamily="18" charset="0"/>
                <a:cs typeface="Times New Roman" panose="02020603050405020304" pitchFamily="18" charset="0"/>
              </a:rPr>
              <a:t> </a:t>
            </a:r>
            <a:r>
              <a:rPr sz="2400" b="0" i="0" u="none" dirty="0" err="1">
                <a:solidFill>
                  <a:srgbClr val="334155"/>
                </a:solidFill>
                <a:latin typeface="Times New Roman" panose="02020603050405020304" pitchFamily="18" charset="0"/>
                <a:cs typeface="Times New Roman" panose="02020603050405020304" pitchFamily="18" charset="0"/>
              </a:rPr>
              <a:t>cổng</a:t>
            </a:r>
            <a:r>
              <a:rPr sz="2400" b="0" i="0" u="none" dirty="0">
                <a:solidFill>
                  <a:srgbClr val="334155"/>
                </a:solidFill>
                <a:latin typeface="Times New Roman" panose="02020603050405020304" pitchFamily="18" charset="0"/>
                <a:cs typeface="Times New Roman" panose="02020603050405020304" pitchFamily="18" charset="0"/>
              </a:rPr>
              <a:t> </a:t>
            </a:r>
            <a:r>
              <a:rPr lang="vi-VN" sz="2400" b="0" i="0" u="none" dirty="0">
                <a:solidFill>
                  <a:srgbClr val="334155"/>
                </a:solidFill>
                <a:latin typeface="Times New Roman" panose="02020603050405020304" pitchFamily="18" charset="0"/>
                <a:cs typeface="Times New Roman" panose="02020603050405020304" pitchFamily="18" charset="0"/>
              </a:rPr>
              <a:t>nhớ</a:t>
            </a:r>
            <a:r>
              <a:rPr sz="2400" b="0" i="0" u="none" dirty="0">
                <a:solidFill>
                  <a:srgbClr val="334155"/>
                </a:solidFill>
                <a:latin typeface="Times New Roman" panose="02020603050405020304" pitchFamily="18" charset="0"/>
                <a:cs typeface="Times New Roman" panose="02020603050405020304" pitchFamily="18" charset="0"/>
              </a:rPr>
              <a:t> </a:t>
            </a:r>
            <a:r>
              <a:rPr sz="2400" b="0" i="0" u="none" dirty="0" err="1">
                <a:solidFill>
                  <a:srgbClr val="334155"/>
                </a:solidFill>
                <a:latin typeface="Times New Roman" panose="02020603050405020304" pitchFamily="18" charset="0"/>
                <a:cs typeface="Times New Roman" panose="02020603050405020304" pitchFamily="18" charset="0"/>
              </a:rPr>
              <a:t>và</a:t>
            </a:r>
            <a:r>
              <a:rPr sz="2400" b="0" i="0" u="none" dirty="0">
                <a:solidFill>
                  <a:srgbClr val="334155"/>
                </a:solidFill>
                <a:latin typeface="Times New Roman" panose="02020603050405020304" pitchFamily="18" charset="0"/>
                <a:cs typeface="Times New Roman" panose="02020603050405020304" pitchFamily="18" charset="0"/>
              </a:rPr>
              <a:t> </a:t>
            </a:r>
            <a:r>
              <a:rPr sz="2400" b="0" i="0" u="none" dirty="0" err="1">
                <a:solidFill>
                  <a:srgbClr val="334155"/>
                </a:solidFill>
                <a:latin typeface="Times New Roman" panose="02020603050405020304" pitchFamily="18" charset="0"/>
                <a:cs typeface="Times New Roman" panose="02020603050405020304" pitchFamily="18" charset="0"/>
              </a:rPr>
              <a:t>thuận</a:t>
            </a:r>
            <a:r>
              <a:rPr sz="2400" b="0" i="0" u="none" dirty="0">
                <a:solidFill>
                  <a:srgbClr val="334155"/>
                </a:solidFill>
                <a:latin typeface="Times New Roman" panose="02020603050405020304" pitchFamily="18" charset="0"/>
                <a:cs typeface="Times New Roman" panose="02020603050405020304" pitchFamily="18" charset="0"/>
              </a:rPr>
              <a:t> </a:t>
            </a:r>
            <a:r>
              <a:rPr sz="2400" b="0" i="0" u="none" dirty="0" err="1">
                <a:solidFill>
                  <a:srgbClr val="334155"/>
                </a:solidFill>
                <a:latin typeface="Times New Roman" panose="02020603050405020304" pitchFamily="18" charset="0"/>
                <a:cs typeface="Times New Roman" panose="02020603050405020304" pitchFamily="18" charset="0"/>
              </a:rPr>
              <a:t>lợi</a:t>
            </a:r>
            <a:r>
              <a:rPr sz="2400" b="0" i="0" u="none" dirty="0">
                <a:solidFill>
                  <a:srgbClr val="334155"/>
                </a:solidFill>
                <a:latin typeface="Times New Roman" panose="02020603050405020304" pitchFamily="18" charset="0"/>
                <a:cs typeface="Times New Roman" panose="02020603050405020304" pitchFamily="18" charset="0"/>
              </a:rPr>
              <a:t> </a:t>
            </a:r>
            <a:r>
              <a:rPr sz="2400" b="0" i="0" u="none" dirty="0" err="1">
                <a:solidFill>
                  <a:srgbClr val="334155"/>
                </a:solidFill>
                <a:latin typeface="Times New Roman" panose="02020603050405020304" pitchFamily="18" charset="0"/>
                <a:cs typeface="Times New Roman" panose="02020603050405020304" pitchFamily="18" charset="0"/>
              </a:rPr>
              <a:t>cho</a:t>
            </a:r>
            <a:r>
              <a:rPr sz="2400" b="0" i="0" u="none" dirty="0">
                <a:solidFill>
                  <a:srgbClr val="334155"/>
                </a:solidFill>
                <a:latin typeface="Times New Roman" panose="02020603050405020304" pitchFamily="18" charset="0"/>
                <a:cs typeface="Times New Roman" panose="02020603050405020304" pitchFamily="18" charset="0"/>
              </a:rPr>
              <a:t> floorplan </a:t>
            </a:r>
            <a:r>
              <a:rPr sz="2400" b="0" i="0" u="none" dirty="0" err="1">
                <a:solidFill>
                  <a:srgbClr val="334155"/>
                </a:solidFill>
                <a:latin typeface="Times New Roman" panose="02020603050405020304" pitchFamily="18" charset="0"/>
                <a:cs typeface="Times New Roman" panose="02020603050405020304" pitchFamily="18" charset="0"/>
              </a:rPr>
              <a:t>theo</a:t>
            </a:r>
            <a:r>
              <a:rPr sz="2400" b="0" i="0" u="none" dirty="0">
                <a:solidFill>
                  <a:srgbClr val="334155"/>
                </a:solidFill>
                <a:latin typeface="Times New Roman" panose="02020603050405020304" pitchFamily="18" charset="0"/>
                <a:cs typeface="Times New Roman" panose="02020603050405020304" pitchFamily="18" charset="0"/>
              </a:rPr>
              <a:t> SLR.</a:t>
            </a:r>
          </a:p>
        </p:txBody>
      </p:sp>
      <p:sp>
        <p:nvSpPr>
          <p:cNvPr id="52" name="TextBox 51">
            <a:extLst>
              <a:ext uri="{FF2B5EF4-FFF2-40B4-BE49-F238E27FC236}">
                <a16:creationId xmlns:a16="http://schemas.microsoft.com/office/drawing/2014/main" id="{9E3ACD67-1CE4-FD93-9F1F-04D473CC5C3A}"/>
              </a:ext>
            </a:extLst>
          </p:cNvPr>
          <p:cNvSpPr txBox="1"/>
          <p:nvPr/>
        </p:nvSpPr>
        <p:spPr>
          <a:xfrm>
            <a:off x="12693955" y="3871178"/>
            <a:ext cx="4387276" cy="369332"/>
          </a:xfrm>
          <a:prstGeom prst="rect">
            <a:avLst/>
          </a:prstGeom>
          <a:noFill/>
        </p:spPr>
        <p:txBody>
          <a:bodyPr wrap="square" lIns="0" tIns="0" rIns="0" bIns="0" anchor="t">
            <a:spAutoFit/>
          </a:bodyPr>
          <a:lstStyle/>
          <a:p>
            <a:pPr algn="l"/>
            <a:r>
              <a:rPr sz="2400" b="1" i="0" u="none" dirty="0">
                <a:solidFill>
                  <a:srgbClr val="064E3B"/>
                </a:solidFill>
                <a:latin typeface="Times New Roman" panose="02020603050405020304" pitchFamily="18" charset="0"/>
                <a:cs typeface="Times New Roman" panose="02020603050405020304" pitchFamily="18" charset="0"/>
              </a:rPr>
              <a:t>KV8 Online Attention</a:t>
            </a:r>
          </a:p>
        </p:txBody>
      </p:sp>
      <p:sp>
        <p:nvSpPr>
          <p:cNvPr id="54" name="TextBox 53">
            <a:extLst>
              <a:ext uri="{FF2B5EF4-FFF2-40B4-BE49-F238E27FC236}">
                <a16:creationId xmlns:a16="http://schemas.microsoft.com/office/drawing/2014/main" id="{CD6A05A8-7DC6-55A0-9968-FC3CFEDF67ED}"/>
              </a:ext>
            </a:extLst>
          </p:cNvPr>
          <p:cNvSpPr txBox="1"/>
          <p:nvPr/>
        </p:nvSpPr>
        <p:spPr>
          <a:xfrm>
            <a:off x="12533940" y="4849564"/>
            <a:ext cx="4750104" cy="1543179"/>
          </a:xfrm>
          <a:prstGeom prst="rect">
            <a:avLst/>
          </a:prstGeom>
          <a:noFill/>
        </p:spPr>
        <p:txBody>
          <a:bodyPr wrap="square" lIns="0" tIns="0" rIns="0" bIns="0" anchor="t">
            <a:spAutoFit/>
          </a:bodyPr>
          <a:lstStyle/>
          <a:p>
            <a:pPr algn="l">
              <a:lnSpc>
                <a:spcPts val="2400"/>
              </a:lnSpc>
            </a:pPr>
            <a:r>
              <a:rPr sz="2400" b="0" i="0" u="none" dirty="0" err="1">
                <a:solidFill>
                  <a:srgbClr val="334155"/>
                </a:solidFill>
                <a:latin typeface="Times New Roman" panose="02020603050405020304" pitchFamily="18" charset="0"/>
                <a:cs typeface="Times New Roman" panose="02020603050405020304" pitchFamily="18" charset="0"/>
              </a:rPr>
              <a:t>Lượng</a:t>
            </a:r>
            <a:r>
              <a:rPr sz="2400" b="0" i="0" u="none" dirty="0">
                <a:solidFill>
                  <a:srgbClr val="334155"/>
                </a:solidFill>
                <a:latin typeface="Times New Roman" panose="02020603050405020304" pitchFamily="18" charset="0"/>
                <a:cs typeface="Times New Roman" panose="02020603050405020304" pitchFamily="18" charset="0"/>
              </a:rPr>
              <a:t> </a:t>
            </a:r>
            <a:r>
              <a:rPr sz="2400" b="0" i="0" u="none" dirty="0" err="1">
                <a:solidFill>
                  <a:srgbClr val="334155"/>
                </a:solidFill>
                <a:latin typeface="Times New Roman" panose="02020603050405020304" pitchFamily="18" charset="0"/>
                <a:cs typeface="Times New Roman" panose="02020603050405020304" pitchFamily="18" charset="0"/>
              </a:rPr>
              <a:t>tử</a:t>
            </a:r>
            <a:r>
              <a:rPr sz="2400" b="0" i="0" u="none" dirty="0">
                <a:solidFill>
                  <a:srgbClr val="334155"/>
                </a:solidFill>
                <a:latin typeface="Times New Roman" panose="02020603050405020304" pitchFamily="18" charset="0"/>
                <a:cs typeface="Times New Roman" panose="02020603050405020304" pitchFamily="18" charset="0"/>
              </a:rPr>
              <a:t> </a:t>
            </a:r>
            <a:r>
              <a:rPr sz="2400" b="0" i="0" u="none" dirty="0" err="1">
                <a:solidFill>
                  <a:srgbClr val="334155"/>
                </a:solidFill>
                <a:latin typeface="Times New Roman" panose="02020603050405020304" pitchFamily="18" charset="0"/>
                <a:cs typeface="Times New Roman" panose="02020603050405020304" pitchFamily="18" charset="0"/>
              </a:rPr>
              <a:t>hóa</a:t>
            </a:r>
            <a:r>
              <a:rPr sz="2400" b="0" i="0" u="none" dirty="0">
                <a:solidFill>
                  <a:srgbClr val="334155"/>
                </a:solidFill>
                <a:latin typeface="Times New Roman" panose="02020603050405020304" pitchFamily="18" charset="0"/>
                <a:cs typeface="Times New Roman" panose="02020603050405020304" pitchFamily="18" charset="0"/>
              </a:rPr>
              <a:t> K/V </a:t>
            </a:r>
            <a:r>
              <a:rPr sz="2400" b="0" i="0" u="none" dirty="0" err="1">
                <a:solidFill>
                  <a:srgbClr val="334155"/>
                </a:solidFill>
                <a:latin typeface="Times New Roman" panose="02020603050405020304" pitchFamily="18" charset="0"/>
                <a:cs typeface="Times New Roman" panose="02020603050405020304" pitchFamily="18" charset="0"/>
              </a:rPr>
              <a:t>xuống</a:t>
            </a:r>
            <a:r>
              <a:rPr sz="2400" b="0" i="0" u="none" dirty="0">
                <a:solidFill>
                  <a:srgbClr val="334155"/>
                </a:solidFill>
                <a:latin typeface="Times New Roman" panose="02020603050405020304" pitchFamily="18" charset="0"/>
                <a:cs typeface="Times New Roman" panose="02020603050405020304" pitchFamily="18" charset="0"/>
              </a:rPr>
              <a:t> INT8. </a:t>
            </a:r>
            <a:r>
              <a:rPr sz="2400" b="0" i="0" u="none" dirty="0" err="1">
                <a:solidFill>
                  <a:srgbClr val="334155"/>
                </a:solidFill>
                <a:latin typeface="Times New Roman" panose="02020603050405020304" pitchFamily="18" charset="0"/>
                <a:cs typeface="Times New Roman" panose="02020603050405020304" pitchFamily="18" charset="0"/>
              </a:rPr>
              <a:t>Quét</a:t>
            </a:r>
            <a:r>
              <a:rPr sz="2400" b="0" i="0" u="none" dirty="0">
                <a:solidFill>
                  <a:srgbClr val="334155"/>
                </a:solidFill>
                <a:latin typeface="Times New Roman" panose="02020603050405020304" pitchFamily="18" charset="0"/>
                <a:cs typeface="Times New Roman" panose="02020603050405020304" pitchFamily="18" charset="0"/>
              </a:rPr>
              <a:t> KV cache </a:t>
            </a:r>
            <a:r>
              <a:rPr sz="2400" b="0" i="0" u="none" dirty="0" err="1">
                <a:solidFill>
                  <a:srgbClr val="334155"/>
                </a:solidFill>
                <a:latin typeface="Times New Roman" panose="02020603050405020304" pitchFamily="18" charset="0"/>
                <a:cs typeface="Times New Roman" panose="02020603050405020304" pitchFamily="18" charset="0"/>
              </a:rPr>
              <a:t>một</a:t>
            </a:r>
            <a:r>
              <a:rPr sz="2400" b="0" i="0" u="none" dirty="0">
                <a:solidFill>
                  <a:srgbClr val="334155"/>
                </a:solidFill>
                <a:latin typeface="Times New Roman" panose="02020603050405020304" pitchFamily="18" charset="0"/>
                <a:cs typeface="Times New Roman" panose="02020603050405020304" pitchFamily="18" charset="0"/>
              </a:rPr>
              <a:t> </a:t>
            </a:r>
            <a:r>
              <a:rPr sz="2400" b="0" i="0" u="none" dirty="0" err="1">
                <a:solidFill>
                  <a:srgbClr val="334155"/>
                </a:solidFill>
                <a:latin typeface="Times New Roman" panose="02020603050405020304" pitchFamily="18" charset="0"/>
                <a:cs typeface="Times New Roman" panose="02020603050405020304" pitchFamily="18" charset="0"/>
              </a:rPr>
              <a:t>lần</a:t>
            </a:r>
            <a:r>
              <a:rPr sz="2400" b="0" i="0" u="none" dirty="0">
                <a:solidFill>
                  <a:srgbClr val="334155"/>
                </a:solidFill>
                <a:latin typeface="Times New Roman" panose="02020603050405020304" pitchFamily="18" charset="0"/>
                <a:cs typeface="Times New Roman" panose="02020603050405020304" pitchFamily="18" charset="0"/>
              </a:rPr>
              <a:t> </a:t>
            </a:r>
            <a:r>
              <a:rPr sz="2400" b="0" i="0" u="none" dirty="0" err="1">
                <a:solidFill>
                  <a:srgbClr val="334155"/>
                </a:solidFill>
                <a:latin typeface="Times New Roman" panose="02020603050405020304" pitchFamily="18" charset="0"/>
                <a:cs typeface="Times New Roman" panose="02020603050405020304" pitchFamily="18" charset="0"/>
              </a:rPr>
              <a:t>bằng</a:t>
            </a:r>
            <a:r>
              <a:rPr sz="2400" b="0" i="0" u="none" dirty="0">
                <a:solidFill>
                  <a:srgbClr val="334155"/>
                </a:solidFill>
                <a:latin typeface="Times New Roman" panose="02020603050405020304" pitchFamily="18" charset="0"/>
                <a:cs typeface="Times New Roman" panose="02020603050405020304" pitchFamily="18" charset="0"/>
              </a:rPr>
              <a:t> </a:t>
            </a:r>
            <a:r>
              <a:rPr sz="2400" b="0" i="0" u="none" dirty="0" err="1">
                <a:solidFill>
                  <a:srgbClr val="334155"/>
                </a:solidFill>
                <a:latin typeface="Times New Roman" panose="02020603050405020304" pitchFamily="18" charset="0"/>
                <a:cs typeface="Times New Roman" panose="02020603050405020304" pitchFamily="18" charset="0"/>
              </a:rPr>
              <a:t>thuật</a:t>
            </a:r>
            <a:r>
              <a:rPr sz="2400" b="0" i="0" u="none" dirty="0">
                <a:solidFill>
                  <a:srgbClr val="334155"/>
                </a:solidFill>
                <a:latin typeface="Times New Roman" panose="02020603050405020304" pitchFamily="18" charset="0"/>
                <a:cs typeface="Times New Roman" panose="02020603050405020304" pitchFamily="18" charset="0"/>
              </a:rPr>
              <a:t> </a:t>
            </a:r>
            <a:r>
              <a:rPr sz="2400" b="0" i="0" u="none" dirty="0" err="1">
                <a:solidFill>
                  <a:srgbClr val="334155"/>
                </a:solidFill>
                <a:latin typeface="Times New Roman" panose="02020603050405020304" pitchFamily="18" charset="0"/>
                <a:cs typeface="Times New Roman" panose="02020603050405020304" pitchFamily="18" charset="0"/>
              </a:rPr>
              <a:t>toán</a:t>
            </a:r>
            <a:r>
              <a:rPr sz="2400" b="0" i="0" u="none" dirty="0">
                <a:solidFill>
                  <a:srgbClr val="334155"/>
                </a:solidFill>
                <a:latin typeface="Times New Roman" panose="02020603050405020304" pitchFamily="18" charset="0"/>
                <a:cs typeface="Times New Roman" panose="02020603050405020304" pitchFamily="18" charset="0"/>
              </a:rPr>
              <a:t> online </a:t>
            </a:r>
            <a:r>
              <a:rPr sz="2400" b="0" i="0" u="none" dirty="0" err="1">
                <a:solidFill>
                  <a:srgbClr val="334155"/>
                </a:solidFill>
                <a:latin typeface="Times New Roman" panose="02020603050405020304" pitchFamily="18" charset="0"/>
                <a:cs typeface="Times New Roman" panose="02020603050405020304" pitchFamily="18" charset="0"/>
              </a:rPr>
              <a:t>softmax</a:t>
            </a:r>
            <a:r>
              <a:rPr sz="2400" b="0" i="0" u="none" dirty="0">
                <a:solidFill>
                  <a:srgbClr val="334155"/>
                </a:solidFill>
                <a:latin typeface="Times New Roman" panose="02020603050405020304" pitchFamily="18" charset="0"/>
                <a:cs typeface="Times New Roman" panose="02020603050405020304" pitchFamily="18" charset="0"/>
              </a:rPr>
              <a:t>, </a:t>
            </a:r>
            <a:r>
              <a:rPr sz="2400" b="0" i="0" u="none" dirty="0" err="1">
                <a:solidFill>
                  <a:srgbClr val="334155"/>
                </a:solidFill>
                <a:latin typeface="Times New Roman" panose="02020603050405020304" pitchFamily="18" charset="0"/>
                <a:cs typeface="Times New Roman" panose="02020603050405020304" pitchFamily="18" charset="0"/>
              </a:rPr>
              <a:t>loại</a:t>
            </a:r>
            <a:r>
              <a:rPr sz="2400" b="0" i="0" u="none" dirty="0">
                <a:solidFill>
                  <a:srgbClr val="334155"/>
                </a:solidFill>
                <a:latin typeface="Times New Roman" panose="02020603050405020304" pitchFamily="18" charset="0"/>
                <a:cs typeface="Times New Roman" panose="02020603050405020304" pitchFamily="18" charset="0"/>
              </a:rPr>
              <a:t> </a:t>
            </a:r>
            <a:r>
              <a:rPr sz="2400" b="0" i="0" u="none" dirty="0" err="1">
                <a:solidFill>
                  <a:srgbClr val="334155"/>
                </a:solidFill>
                <a:latin typeface="Times New Roman" panose="02020603050405020304" pitchFamily="18" charset="0"/>
                <a:cs typeface="Times New Roman" panose="02020603050405020304" pitchFamily="18" charset="0"/>
              </a:rPr>
              <a:t>bỏ</a:t>
            </a:r>
            <a:r>
              <a:rPr sz="2400" b="0" i="0" u="none" dirty="0">
                <a:solidFill>
                  <a:srgbClr val="334155"/>
                </a:solidFill>
                <a:latin typeface="Times New Roman" panose="02020603050405020304" pitchFamily="18" charset="0"/>
                <a:cs typeface="Times New Roman" panose="02020603050405020304" pitchFamily="18" charset="0"/>
              </a:rPr>
              <a:t> </a:t>
            </a:r>
            <a:r>
              <a:rPr sz="2400" b="0" i="0" u="none" dirty="0" err="1">
                <a:solidFill>
                  <a:srgbClr val="334155"/>
                </a:solidFill>
                <a:latin typeface="Times New Roman" panose="02020603050405020304" pitchFamily="18" charset="0"/>
                <a:cs typeface="Times New Roman" panose="02020603050405020304" pitchFamily="18" charset="0"/>
              </a:rPr>
              <a:t>nhu</a:t>
            </a:r>
            <a:r>
              <a:rPr sz="2400" b="0" i="0" u="none" dirty="0">
                <a:solidFill>
                  <a:srgbClr val="334155"/>
                </a:solidFill>
                <a:latin typeface="Times New Roman" panose="02020603050405020304" pitchFamily="18" charset="0"/>
                <a:cs typeface="Times New Roman" panose="02020603050405020304" pitchFamily="18" charset="0"/>
              </a:rPr>
              <a:t> </a:t>
            </a:r>
            <a:r>
              <a:rPr sz="2400" b="0" i="0" u="none" dirty="0" err="1">
                <a:solidFill>
                  <a:srgbClr val="334155"/>
                </a:solidFill>
                <a:latin typeface="Times New Roman" panose="02020603050405020304" pitchFamily="18" charset="0"/>
                <a:cs typeface="Times New Roman" panose="02020603050405020304" pitchFamily="18" charset="0"/>
              </a:rPr>
              <a:t>cầu</a:t>
            </a:r>
            <a:r>
              <a:rPr sz="2400" b="0" i="0" u="none" dirty="0">
                <a:solidFill>
                  <a:srgbClr val="334155"/>
                </a:solidFill>
                <a:latin typeface="Times New Roman" panose="02020603050405020304" pitchFamily="18" charset="0"/>
                <a:cs typeface="Times New Roman" panose="02020603050405020304" pitchFamily="18" charset="0"/>
              </a:rPr>
              <a:t> </a:t>
            </a:r>
            <a:r>
              <a:rPr sz="2400" b="0" i="0" u="none" dirty="0" err="1">
                <a:solidFill>
                  <a:srgbClr val="334155"/>
                </a:solidFill>
                <a:latin typeface="Times New Roman" panose="02020603050405020304" pitchFamily="18" charset="0"/>
                <a:cs typeface="Times New Roman" panose="02020603050405020304" pitchFamily="18" charset="0"/>
              </a:rPr>
              <a:t>lưu</a:t>
            </a:r>
            <a:r>
              <a:rPr sz="2400" b="0" i="0" u="none" dirty="0">
                <a:solidFill>
                  <a:srgbClr val="334155"/>
                </a:solidFill>
                <a:latin typeface="Times New Roman" panose="02020603050405020304" pitchFamily="18" charset="0"/>
                <a:cs typeface="Times New Roman" panose="02020603050405020304" pitchFamily="18" charset="0"/>
              </a:rPr>
              <a:t> </a:t>
            </a:r>
            <a:r>
              <a:rPr sz="2400" b="0" i="0" u="none" dirty="0" err="1">
                <a:solidFill>
                  <a:srgbClr val="334155"/>
                </a:solidFill>
                <a:latin typeface="Times New Roman" panose="02020603050405020304" pitchFamily="18" charset="0"/>
                <a:cs typeface="Times New Roman" panose="02020603050405020304" pitchFamily="18" charset="0"/>
              </a:rPr>
              <a:t>và</a:t>
            </a:r>
            <a:r>
              <a:rPr sz="2400" b="0" i="0" u="none" dirty="0">
                <a:solidFill>
                  <a:srgbClr val="334155"/>
                </a:solidFill>
                <a:latin typeface="Times New Roman" panose="02020603050405020304" pitchFamily="18" charset="0"/>
                <a:cs typeface="Times New Roman" panose="02020603050405020304" pitchFamily="18" charset="0"/>
              </a:rPr>
              <a:t> </a:t>
            </a:r>
            <a:r>
              <a:rPr sz="2400" b="0" i="0" u="none" dirty="0" err="1">
                <a:solidFill>
                  <a:srgbClr val="334155"/>
                </a:solidFill>
                <a:latin typeface="Times New Roman" panose="02020603050405020304" pitchFamily="18" charset="0"/>
                <a:cs typeface="Times New Roman" panose="02020603050405020304" pitchFamily="18" charset="0"/>
              </a:rPr>
              <a:t>đọc</a:t>
            </a:r>
            <a:r>
              <a:rPr sz="2400" b="0" i="0" u="none" dirty="0">
                <a:solidFill>
                  <a:srgbClr val="334155"/>
                </a:solidFill>
                <a:latin typeface="Times New Roman" panose="02020603050405020304" pitchFamily="18" charset="0"/>
                <a:cs typeface="Times New Roman" panose="02020603050405020304" pitchFamily="18" charset="0"/>
              </a:rPr>
              <a:t> </a:t>
            </a:r>
            <a:r>
              <a:rPr sz="2400" b="0" i="0" u="none" dirty="0" err="1">
                <a:solidFill>
                  <a:srgbClr val="334155"/>
                </a:solidFill>
                <a:latin typeface="Times New Roman" panose="02020603050405020304" pitchFamily="18" charset="0"/>
                <a:cs typeface="Times New Roman" panose="02020603050405020304" pitchFamily="18" charset="0"/>
              </a:rPr>
              <a:t>lại</a:t>
            </a:r>
            <a:r>
              <a:rPr sz="2400" b="0" i="0" u="none" dirty="0">
                <a:solidFill>
                  <a:srgbClr val="334155"/>
                </a:solidFill>
                <a:latin typeface="Times New Roman" panose="02020603050405020304" pitchFamily="18" charset="0"/>
                <a:cs typeface="Times New Roman" panose="02020603050405020304" pitchFamily="18" charset="0"/>
              </a:rPr>
              <a:t> </a:t>
            </a:r>
            <a:r>
              <a:rPr sz="2400" b="0" i="0" u="none" dirty="0" err="1">
                <a:solidFill>
                  <a:srgbClr val="334155"/>
                </a:solidFill>
                <a:latin typeface="Times New Roman" panose="02020603050405020304" pitchFamily="18" charset="0"/>
                <a:cs typeface="Times New Roman" panose="02020603050405020304" pitchFamily="18" charset="0"/>
              </a:rPr>
              <a:t>toàn</a:t>
            </a:r>
            <a:r>
              <a:rPr sz="2400" b="0" i="0" u="none" dirty="0">
                <a:solidFill>
                  <a:srgbClr val="334155"/>
                </a:solidFill>
                <a:latin typeface="Times New Roman" panose="02020603050405020304" pitchFamily="18" charset="0"/>
                <a:cs typeface="Times New Roman" panose="02020603050405020304" pitchFamily="18" charset="0"/>
              </a:rPr>
              <a:t> </a:t>
            </a:r>
            <a:r>
              <a:rPr sz="2400" b="0" i="0" u="none" dirty="0" err="1">
                <a:solidFill>
                  <a:srgbClr val="334155"/>
                </a:solidFill>
                <a:latin typeface="Times New Roman" panose="02020603050405020304" pitchFamily="18" charset="0"/>
                <a:cs typeface="Times New Roman" panose="02020603050405020304" pitchFamily="18" charset="0"/>
              </a:rPr>
              <a:t>bộ</a:t>
            </a:r>
            <a:r>
              <a:rPr sz="2400" b="0" i="0" u="none" dirty="0">
                <a:solidFill>
                  <a:srgbClr val="334155"/>
                </a:solidFill>
                <a:latin typeface="Times New Roman" panose="02020603050405020304" pitchFamily="18" charset="0"/>
                <a:cs typeface="Times New Roman" panose="02020603050405020304" pitchFamily="18" charset="0"/>
              </a:rPr>
              <a:t> </a:t>
            </a:r>
            <a:r>
              <a:rPr sz="2400" b="0" i="0" u="none" dirty="0" err="1">
                <a:solidFill>
                  <a:srgbClr val="334155"/>
                </a:solidFill>
                <a:latin typeface="Times New Roman" panose="02020603050405020304" pitchFamily="18" charset="0"/>
                <a:cs typeface="Times New Roman" panose="02020603050405020304" pitchFamily="18" charset="0"/>
              </a:rPr>
              <a:t>mảng</a:t>
            </a:r>
            <a:r>
              <a:rPr sz="2400" b="0" i="0" u="none" dirty="0">
                <a:solidFill>
                  <a:srgbClr val="334155"/>
                </a:solidFill>
                <a:latin typeface="Times New Roman" panose="02020603050405020304" pitchFamily="18" charset="0"/>
                <a:cs typeface="Times New Roman" panose="02020603050405020304" pitchFamily="18" charset="0"/>
              </a:rPr>
              <a:t> attention-score vector.</a:t>
            </a:r>
            <a:r>
              <a:rPr lang="vi-VN" sz="2400" b="0" i="0" u="none" dirty="0">
                <a:solidFill>
                  <a:srgbClr val="334155"/>
                </a:solidFill>
                <a:latin typeface="Times New Roman" panose="02020603050405020304" pitchFamily="18" charset="0"/>
                <a:cs typeface="Times New Roman" panose="02020603050405020304" pitchFamily="18" charset="0"/>
              </a:rPr>
              <a:t> Mỗi </a:t>
            </a:r>
            <a:endParaRPr sz="2400" b="0" i="0" u="none" dirty="0">
              <a:solidFill>
                <a:srgbClr val="334155"/>
              </a:solidFill>
              <a:latin typeface="Times New Roman" panose="02020603050405020304" pitchFamily="18" charset="0"/>
              <a:cs typeface="Times New Roman" panose="02020603050405020304" pitchFamily="18" charset="0"/>
            </a:endParaRPr>
          </a:p>
        </p:txBody>
      </p:sp>
      <p:pic>
        <p:nvPicPr>
          <p:cNvPr id="56" name="Picture 55" descr="image.png">
            <a:extLst>
              <a:ext uri="{FF2B5EF4-FFF2-40B4-BE49-F238E27FC236}">
                <a16:creationId xmlns:a16="http://schemas.microsoft.com/office/drawing/2014/main" id="{7429C1AA-21C1-ED3B-35A5-AF47251F7374}"/>
              </a:ext>
            </a:extLst>
          </p:cNvPr>
          <p:cNvPicPr>
            <a:picLocks noChangeAspect="1"/>
          </p:cNvPicPr>
          <p:nvPr/>
        </p:nvPicPr>
        <p:blipFill>
          <a:blip r:embed="rId10"/>
          <a:stretch>
            <a:fillRect/>
          </a:stretch>
        </p:blipFill>
        <p:spPr>
          <a:xfrm>
            <a:off x="1196799" y="2905679"/>
            <a:ext cx="507518" cy="580021"/>
          </a:xfrm>
          <a:prstGeom prst="rect">
            <a:avLst/>
          </a:prstGeom>
        </p:spPr>
      </p:pic>
      <p:pic>
        <p:nvPicPr>
          <p:cNvPr id="58" name="Picture 57" descr="image.png">
            <a:extLst>
              <a:ext uri="{FF2B5EF4-FFF2-40B4-BE49-F238E27FC236}">
                <a16:creationId xmlns:a16="http://schemas.microsoft.com/office/drawing/2014/main" id="{C4CDD5C3-5AF6-D51E-2590-DE5DCE826B83}"/>
              </a:ext>
            </a:extLst>
          </p:cNvPr>
          <p:cNvPicPr>
            <a:picLocks noChangeAspect="1"/>
          </p:cNvPicPr>
          <p:nvPr/>
        </p:nvPicPr>
        <p:blipFill>
          <a:blip r:embed="rId11"/>
          <a:stretch>
            <a:fillRect/>
          </a:stretch>
        </p:blipFill>
        <p:spPr>
          <a:xfrm>
            <a:off x="6591975" y="2902452"/>
            <a:ext cx="791367" cy="575527"/>
          </a:xfrm>
          <a:prstGeom prst="rect">
            <a:avLst/>
          </a:prstGeom>
        </p:spPr>
      </p:pic>
      <p:pic>
        <p:nvPicPr>
          <p:cNvPr id="60" name="Picture 59" descr="image.png">
            <a:extLst>
              <a:ext uri="{FF2B5EF4-FFF2-40B4-BE49-F238E27FC236}">
                <a16:creationId xmlns:a16="http://schemas.microsoft.com/office/drawing/2014/main" id="{1545C27C-1B75-9285-0A51-590619257235}"/>
              </a:ext>
            </a:extLst>
          </p:cNvPr>
          <p:cNvPicPr>
            <a:picLocks noChangeAspect="1"/>
          </p:cNvPicPr>
          <p:nvPr/>
        </p:nvPicPr>
        <p:blipFill>
          <a:blip r:embed="rId12"/>
          <a:stretch>
            <a:fillRect/>
          </a:stretch>
        </p:blipFill>
        <p:spPr>
          <a:xfrm>
            <a:off x="12801600" y="2896850"/>
            <a:ext cx="545681" cy="623635"/>
          </a:xfrm>
          <a:prstGeom prst="rect">
            <a:avLst/>
          </a:prstGeom>
        </p:spPr>
      </p:pic>
    </p:spTree>
    <p:extLst>
      <p:ext uri="{BB962C8B-B14F-4D97-AF65-F5344CB8AC3E}">
        <p14:creationId xmlns:p14="http://schemas.microsoft.com/office/powerpoint/2010/main" val="30519019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91440" y="-2287991"/>
            <a:ext cx="18105120" cy="527771"/>
          </a:xfrm>
          <a:prstGeom prst="rect">
            <a:avLst/>
          </a:prstGeom>
        </p:spPr>
        <p:txBody>
          <a:bodyPr lIns="0" tIns="0" rIns="0" bIns="0" rtlCol="0" anchor="t">
            <a:spAutoFit/>
          </a:bodyPr>
          <a:lstStyle/>
          <a:p>
            <a:pPr algn="ctr">
              <a:lnSpc>
                <a:spcPts val="3600"/>
              </a:lnSpc>
            </a:pPr>
            <a:r>
              <a:rPr lang="en-US" sz="3000">
                <a:solidFill>
                  <a:srgbClr val="C3C3C3"/>
                </a:solidFill>
                <a:latin typeface="Arial"/>
                <a:ea typeface="Arial"/>
                <a:cs typeface="Arial"/>
                <a:sym typeface="Arial"/>
              </a:rPr>
              <a:t>www.9slide.vn</a:t>
            </a:r>
          </a:p>
        </p:txBody>
      </p:sp>
      <p:grpSp>
        <p:nvGrpSpPr>
          <p:cNvPr id="3" name="Group 3"/>
          <p:cNvGrpSpPr/>
          <p:nvPr/>
        </p:nvGrpSpPr>
        <p:grpSpPr>
          <a:xfrm>
            <a:off x="0" y="2124"/>
            <a:ext cx="18291715" cy="10295487"/>
            <a:chOff x="0" y="0"/>
            <a:chExt cx="24388953" cy="13727316"/>
          </a:xfrm>
        </p:grpSpPr>
        <p:sp>
          <p:nvSpPr>
            <p:cNvPr id="4" name="Freeform 4"/>
            <p:cNvSpPr/>
            <p:nvPr/>
          </p:nvSpPr>
          <p:spPr>
            <a:xfrm>
              <a:off x="0" y="0"/>
              <a:ext cx="24388953" cy="13727303"/>
            </a:xfrm>
            <a:custGeom>
              <a:avLst/>
              <a:gdLst/>
              <a:ahLst/>
              <a:cxnLst/>
              <a:rect l="l" t="t" r="r" b="b"/>
              <a:pathLst>
                <a:path w="24388953" h="1372730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txBody>
            <a:bodyPr/>
            <a:lstStyle/>
            <a:p>
              <a:endParaRPr lang="vi-VN"/>
            </a:p>
          </p:txBody>
        </p:sp>
      </p:grpSp>
      <p:grpSp>
        <p:nvGrpSpPr>
          <p:cNvPr id="5" name="Group 5"/>
          <p:cNvGrpSpPr/>
          <p:nvPr/>
        </p:nvGrpSpPr>
        <p:grpSpPr>
          <a:xfrm rot="5400000">
            <a:off x="8668474" y="-8670065"/>
            <a:ext cx="947328" cy="18291715"/>
            <a:chOff x="0" y="0"/>
            <a:chExt cx="1263104" cy="24388953"/>
          </a:xfrm>
        </p:grpSpPr>
        <p:sp>
          <p:nvSpPr>
            <p:cNvPr id="6" name="Freeform 6"/>
            <p:cNvSpPr/>
            <p:nvPr/>
          </p:nvSpPr>
          <p:spPr>
            <a:xfrm>
              <a:off x="0" y="0"/>
              <a:ext cx="1263142" cy="24388953"/>
            </a:xfrm>
            <a:custGeom>
              <a:avLst/>
              <a:gdLst/>
              <a:ahLst/>
              <a:cxnLst/>
              <a:rect l="l" t="t" r="r" b="b"/>
              <a:pathLst>
                <a:path w="1263142" h="24388953">
                  <a:moveTo>
                    <a:pt x="0" y="0"/>
                  </a:moveTo>
                  <a:lnTo>
                    <a:pt x="1263142" y="0"/>
                  </a:lnTo>
                  <a:lnTo>
                    <a:pt x="1263142" y="24388953"/>
                  </a:lnTo>
                  <a:lnTo>
                    <a:pt x="0" y="24388953"/>
                  </a:lnTo>
                  <a:close/>
                </a:path>
              </a:pathLst>
            </a:custGeom>
            <a:gradFill rotWithShape="1">
              <a:gsLst>
                <a:gs pos="0">
                  <a:srgbClr val="10CD57">
                    <a:alpha val="100000"/>
                  </a:srgbClr>
                </a:gs>
                <a:gs pos="100000">
                  <a:srgbClr val="027159">
                    <a:alpha val="100000"/>
                  </a:srgbClr>
                </a:gs>
              </a:gsLst>
              <a:lin ang="0"/>
            </a:gradFill>
          </p:spPr>
          <p:txBody>
            <a:bodyPr/>
            <a:lstStyle/>
            <a:p>
              <a:endParaRPr lang="vi-VN"/>
            </a:p>
          </p:txBody>
        </p:sp>
      </p:grpSp>
      <p:grpSp>
        <p:nvGrpSpPr>
          <p:cNvPr id="7" name="Group 7"/>
          <p:cNvGrpSpPr/>
          <p:nvPr/>
        </p:nvGrpSpPr>
        <p:grpSpPr>
          <a:xfrm rot="5400000">
            <a:off x="8670331" y="-8672198"/>
            <a:ext cx="947328" cy="18291715"/>
            <a:chOff x="0" y="0"/>
            <a:chExt cx="1263104" cy="24388953"/>
          </a:xfrm>
        </p:grpSpPr>
        <p:sp>
          <p:nvSpPr>
            <p:cNvPr id="8" name="Freeform 8"/>
            <p:cNvSpPr/>
            <p:nvPr/>
          </p:nvSpPr>
          <p:spPr>
            <a:xfrm flipV="1">
              <a:off x="0" y="0"/>
              <a:ext cx="1263142" cy="24388953"/>
            </a:xfrm>
            <a:custGeom>
              <a:avLst/>
              <a:gdLst/>
              <a:ahLst/>
              <a:cxnLst/>
              <a:rect l="l" t="t" r="r" b="b"/>
              <a:pathLst>
                <a:path w="1263142" h="24388953">
                  <a:moveTo>
                    <a:pt x="0" y="0"/>
                  </a:moveTo>
                  <a:lnTo>
                    <a:pt x="1263142" y="0"/>
                  </a:lnTo>
                  <a:lnTo>
                    <a:pt x="1263142" y="24388953"/>
                  </a:lnTo>
                  <a:lnTo>
                    <a:pt x="0" y="24388953"/>
                  </a:lnTo>
                  <a:close/>
                </a:path>
              </a:pathLst>
            </a:custGeom>
            <a:blipFill>
              <a:blip r:embed="rId2"/>
              <a:stretch>
                <a:fillRect l="-35093" r="-35090"/>
              </a:stretch>
            </a:blipFill>
          </p:spPr>
          <p:txBody>
            <a:bodyPr/>
            <a:lstStyle/>
            <a:p>
              <a:endParaRPr lang="vi-VN"/>
            </a:p>
          </p:txBody>
        </p:sp>
      </p:grpSp>
      <p:sp>
        <p:nvSpPr>
          <p:cNvPr id="9" name="TextBox 9"/>
          <p:cNvSpPr txBox="1"/>
          <p:nvPr/>
        </p:nvSpPr>
        <p:spPr>
          <a:xfrm>
            <a:off x="451866" y="248326"/>
            <a:ext cx="10947559" cy="424158"/>
          </a:xfrm>
          <a:prstGeom prst="rect">
            <a:avLst/>
          </a:prstGeom>
        </p:spPr>
        <p:txBody>
          <a:bodyPr lIns="0" tIns="0" rIns="0" bIns="0" rtlCol="0" anchor="t">
            <a:spAutoFit/>
          </a:bodyPr>
          <a:lstStyle/>
          <a:p>
            <a:pPr algn="l">
              <a:lnSpc>
                <a:spcPts val="2879"/>
              </a:lnSpc>
            </a:pPr>
            <a:r>
              <a:rPr lang="en-US" sz="2400" b="1">
                <a:solidFill>
                  <a:srgbClr val="FFFFFF"/>
                </a:solidFill>
                <a:latin typeface="Arial Bold"/>
                <a:ea typeface="Arial Bold"/>
                <a:cs typeface="Arial Bold"/>
                <a:sym typeface="Arial Bold"/>
              </a:rPr>
              <a:t>FACULTY OF COMPUTER ENGINEERING</a:t>
            </a:r>
          </a:p>
        </p:txBody>
      </p:sp>
      <p:grpSp>
        <p:nvGrpSpPr>
          <p:cNvPr id="10" name="Group 10"/>
          <p:cNvGrpSpPr/>
          <p:nvPr/>
        </p:nvGrpSpPr>
        <p:grpSpPr>
          <a:xfrm>
            <a:off x="6719973" y="457933"/>
            <a:ext cx="4848044" cy="957948"/>
            <a:chOff x="0" y="0"/>
            <a:chExt cx="6464059" cy="1277264"/>
          </a:xfrm>
        </p:grpSpPr>
        <p:sp>
          <p:nvSpPr>
            <p:cNvPr id="11" name="Freeform 11"/>
            <p:cNvSpPr/>
            <p:nvPr/>
          </p:nvSpPr>
          <p:spPr>
            <a:xfrm>
              <a:off x="0" y="0"/>
              <a:ext cx="6464173" cy="1277366"/>
            </a:xfrm>
            <a:custGeom>
              <a:avLst/>
              <a:gdLst/>
              <a:ahLst/>
              <a:cxnLst/>
              <a:rect l="l" t="t" r="r" b="b"/>
              <a:pathLst>
                <a:path w="6464173" h="1277366">
                  <a:moveTo>
                    <a:pt x="0" y="638683"/>
                  </a:moveTo>
                  <a:cubicBezTo>
                    <a:pt x="0" y="285877"/>
                    <a:pt x="285877" y="0"/>
                    <a:pt x="638683" y="0"/>
                  </a:cubicBezTo>
                  <a:lnTo>
                    <a:pt x="5825490" y="0"/>
                  </a:lnTo>
                  <a:cubicBezTo>
                    <a:pt x="6178169" y="0"/>
                    <a:pt x="6464173" y="285877"/>
                    <a:pt x="6464173" y="638683"/>
                  </a:cubicBezTo>
                  <a:cubicBezTo>
                    <a:pt x="6464173" y="991489"/>
                    <a:pt x="6178296" y="1277366"/>
                    <a:pt x="5825490" y="1277366"/>
                  </a:cubicBezTo>
                  <a:lnTo>
                    <a:pt x="638683" y="1277366"/>
                  </a:lnTo>
                  <a:cubicBezTo>
                    <a:pt x="285877" y="1277239"/>
                    <a:pt x="0" y="991362"/>
                    <a:pt x="0" y="638683"/>
                  </a:cubicBezTo>
                  <a:close/>
                </a:path>
              </a:pathLst>
            </a:custGeom>
            <a:gradFill rotWithShape="1">
              <a:gsLst>
                <a:gs pos="0">
                  <a:srgbClr val="38EF7D">
                    <a:alpha val="100000"/>
                  </a:srgbClr>
                </a:gs>
                <a:gs pos="100000">
                  <a:srgbClr val="752AFF">
                    <a:alpha val="100000"/>
                  </a:srgbClr>
                </a:gs>
              </a:gsLst>
              <a:lin ang="4729360"/>
            </a:gradFill>
          </p:spPr>
          <p:txBody>
            <a:bodyPr/>
            <a:lstStyle/>
            <a:p>
              <a:endParaRPr lang="vi-VN"/>
            </a:p>
          </p:txBody>
        </p:sp>
      </p:grpSp>
      <p:grpSp>
        <p:nvGrpSpPr>
          <p:cNvPr id="12" name="Group 12"/>
          <p:cNvGrpSpPr/>
          <p:nvPr/>
        </p:nvGrpSpPr>
        <p:grpSpPr>
          <a:xfrm>
            <a:off x="6807460" y="535962"/>
            <a:ext cx="4673079" cy="801872"/>
            <a:chOff x="0" y="0"/>
            <a:chExt cx="6230772" cy="1069162"/>
          </a:xfrm>
        </p:grpSpPr>
        <p:sp>
          <p:nvSpPr>
            <p:cNvPr id="13" name="Freeform 13"/>
            <p:cNvSpPr/>
            <p:nvPr/>
          </p:nvSpPr>
          <p:spPr>
            <a:xfrm>
              <a:off x="0" y="0"/>
              <a:ext cx="6230747" cy="1069086"/>
            </a:xfrm>
            <a:custGeom>
              <a:avLst/>
              <a:gdLst/>
              <a:ahLst/>
              <a:cxnLst/>
              <a:rect l="l" t="t" r="r" b="b"/>
              <a:pathLst>
                <a:path w="6230747" h="1069086">
                  <a:moveTo>
                    <a:pt x="0" y="534543"/>
                  </a:moveTo>
                  <a:cubicBezTo>
                    <a:pt x="0" y="239395"/>
                    <a:pt x="239395" y="0"/>
                    <a:pt x="534543" y="0"/>
                  </a:cubicBezTo>
                  <a:lnTo>
                    <a:pt x="5696204" y="0"/>
                  </a:lnTo>
                  <a:cubicBezTo>
                    <a:pt x="5991479" y="0"/>
                    <a:pt x="6230747" y="239395"/>
                    <a:pt x="6230747" y="534543"/>
                  </a:cubicBezTo>
                  <a:cubicBezTo>
                    <a:pt x="6230747" y="829691"/>
                    <a:pt x="5991352" y="1069086"/>
                    <a:pt x="5696204" y="1069086"/>
                  </a:cubicBezTo>
                  <a:lnTo>
                    <a:pt x="534543" y="1069086"/>
                  </a:lnTo>
                  <a:cubicBezTo>
                    <a:pt x="239395" y="1069213"/>
                    <a:pt x="0" y="829818"/>
                    <a:pt x="0" y="534543"/>
                  </a:cubicBezTo>
                  <a:close/>
                </a:path>
              </a:pathLst>
            </a:custGeom>
            <a:solidFill>
              <a:srgbClr val="FFFFFF"/>
            </a:solidFill>
          </p:spPr>
          <p:txBody>
            <a:bodyPr/>
            <a:lstStyle/>
            <a:p>
              <a:endParaRPr lang="vi-VN"/>
            </a:p>
          </p:txBody>
        </p:sp>
      </p:grpSp>
      <p:grpSp>
        <p:nvGrpSpPr>
          <p:cNvPr id="14" name="Group 14"/>
          <p:cNvGrpSpPr/>
          <p:nvPr/>
        </p:nvGrpSpPr>
        <p:grpSpPr>
          <a:xfrm>
            <a:off x="9436446" y="362541"/>
            <a:ext cx="1163307" cy="1152592"/>
            <a:chOff x="0" y="0"/>
            <a:chExt cx="1551076" cy="1536789"/>
          </a:xfrm>
        </p:grpSpPr>
        <p:sp>
          <p:nvSpPr>
            <p:cNvPr id="15" name="Freeform 15" descr="Icon  Description automatically generated with medium confidence"/>
            <p:cNvSpPr/>
            <p:nvPr/>
          </p:nvSpPr>
          <p:spPr>
            <a:xfrm>
              <a:off x="0" y="0"/>
              <a:ext cx="1551051" cy="1536827"/>
            </a:xfrm>
            <a:custGeom>
              <a:avLst/>
              <a:gdLst/>
              <a:ahLst/>
              <a:cxnLst/>
              <a:rect l="l" t="t" r="r" b="b"/>
              <a:pathLst>
                <a:path w="1551051" h="1536827">
                  <a:moveTo>
                    <a:pt x="0" y="0"/>
                  </a:moveTo>
                  <a:lnTo>
                    <a:pt x="1551051" y="0"/>
                  </a:lnTo>
                  <a:lnTo>
                    <a:pt x="1551051" y="1536827"/>
                  </a:lnTo>
                  <a:lnTo>
                    <a:pt x="0" y="1536827"/>
                  </a:lnTo>
                  <a:lnTo>
                    <a:pt x="0" y="0"/>
                  </a:lnTo>
                  <a:close/>
                </a:path>
              </a:pathLst>
            </a:custGeom>
            <a:blipFill>
              <a:blip r:embed="rId3"/>
              <a:stretch>
                <a:fillRect l="-75" r="-76" b="2"/>
              </a:stretch>
            </a:blipFill>
          </p:spPr>
          <p:txBody>
            <a:bodyPr/>
            <a:lstStyle/>
            <a:p>
              <a:endParaRPr lang="vi-VN"/>
            </a:p>
          </p:txBody>
        </p:sp>
      </p:grpSp>
      <p:grpSp>
        <p:nvGrpSpPr>
          <p:cNvPr id="16" name="Group 16"/>
          <p:cNvGrpSpPr/>
          <p:nvPr/>
        </p:nvGrpSpPr>
        <p:grpSpPr>
          <a:xfrm>
            <a:off x="7688247" y="398078"/>
            <a:ext cx="1307516" cy="1081516"/>
            <a:chOff x="0" y="0"/>
            <a:chExt cx="1743354" cy="1442022"/>
          </a:xfrm>
        </p:grpSpPr>
        <p:sp>
          <p:nvSpPr>
            <p:cNvPr id="17" name="Freeform 17" descr="A picture containing clipart, vector graphics  Description automatically generated"/>
            <p:cNvSpPr/>
            <p:nvPr/>
          </p:nvSpPr>
          <p:spPr>
            <a:xfrm>
              <a:off x="0" y="0"/>
              <a:ext cx="1743329" cy="1442085"/>
            </a:xfrm>
            <a:custGeom>
              <a:avLst/>
              <a:gdLst/>
              <a:ahLst/>
              <a:cxnLst/>
              <a:rect l="l" t="t" r="r" b="b"/>
              <a:pathLst>
                <a:path w="1743329" h="1442085">
                  <a:moveTo>
                    <a:pt x="0" y="0"/>
                  </a:moveTo>
                  <a:lnTo>
                    <a:pt x="1743329" y="0"/>
                  </a:lnTo>
                  <a:lnTo>
                    <a:pt x="1743329" y="1442085"/>
                  </a:lnTo>
                  <a:lnTo>
                    <a:pt x="0" y="1442085"/>
                  </a:lnTo>
                  <a:lnTo>
                    <a:pt x="0" y="0"/>
                  </a:lnTo>
                  <a:close/>
                </a:path>
              </a:pathLst>
            </a:custGeom>
            <a:blipFill>
              <a:blip r:embed="rId4"/>
              <a:stretch>
                <a:fillRect t="-74" r="-1" b="-71"/>
              </a:stretch>
            </a:blipFill>
          </p:spPr>
          <p:txBody>
            <a:bodyPr/>
            <a:lstStyle/>
            <a:p>
              <a:endParaRPr lang="vi-VN"/>
            </a:p>
          </p:txBody>
        </p:sp>
      </p:grpSp>
      <p:sp>
        <p:nvSpPr>
          <p:cNvPr id="18" name="Freeform 18"/>
          <p:cNvSpPr/>
          <p:nvPr/>
        </p:nvSpPr>
        <p:spPr>
          <a:xfrm>
            <a:off x="17262338" y="9405385"/>
            <a:ext cx="819198" cy="819198"/>
          </a:xfrm>
          <a:custGeom>
            <a:avLst/>
            <a:gdLst/>
            <a:ahLst/>
            <a:cxnLst/>
            <a:rect l="l" t="t" r="r" b="b"/>
            <a:pathLst>
              <a:path w="819198" h="819198">
                <a:moveTo>
                  <a:pt x="0" y="0"/>
                </a:moveTo>
                <a:lnTo>
                  <a:pt x="819198" y="0"/>
                </a:lnTo>
                <a:lnTo>
                  <a:pt x="819198" y="819198"/>
                </a:lnTo>
                <a:lnTo>
                  <a:pt x="0" y="81919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vi-VN"/>
          </a:p>
        </p:txBody>
      </p:sp>
      <p:grpSp>
        <p:nvGrpSpPr>
          <p:cNvPr id="19" name="Group 19"/>
          <p:cNvGrpSpPr/>
          <p:nvPr/>
        </p:nvGrpSpPr>
        <p:grpSpPr>
          <a:xfrm>
            <a:off x="0" y="2124"/>
            <a:ext cx="18291715" cy="10295487"/>
            <a:chOff x="0" y="0"/>
            <a:chExt cx="24388953" cy="13727316"/>
          </a:xfrm>
        </p:grpSpPr>
        <p:sp>
          <p:nvSpPr>
            <p:cNvPr id="20" name="Freeform 20"/>
            <p:cNvSpPr/>
            <p:nvPr/>
          </p:nvSpPr>
          <p:spPr>
            <a:xfrm>
              <a:off x="0" y="0"/>
              <a:ext cx="24388953" cy="13727303"/>
            </a:xfrm>
            <a:custGeom>
              <a:avLst/>
              <a:gdLst/>
              <a:ahLst/>
              <a:cxnLst/>
              <a:rect l="l" t="t" r="r" b="b"/>
              <a:pathLst>
                <a:path w="24388953" h="1372730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txBody>
            <a:bodyPr/>
            <a:lstStyle/>
            <a:p>
              <a:endParaRPr lang="vi-VN"/>
            </a:p>
          </p:txBody>
        </p:sp>
      </p:grpSp>
      <p:grpSp>
        <p:nvGrpSpPr>
          <p:cNvPr id="21" name="Group 21"/>
          <p:cNvGrpSpPr/>
          <p:nvPr/>
        </p:nvGrpSpPr>
        <p:grpSpPr>
          <a:xfrm>
            <a:off x="908999" y="1555147"/>
            <a:ext cx="16470001" cy="1335996"/>
            <a:chOff x="0" y="0"/>
            <a:chExt cx="21960002" cy="1781327"/>
          </a:xfrm>
        </p:grpSpPr>
        <p:sp>
          <p:nvSpPr>
            <p:cNvPr id="22" name="Freeform 22"/>
            <p:cNvSpPr/>
            <p:nvPr/>
          </p:nvSpPr>
          <p:spPr>
            <a:xfrm>
              <a:off x="0" y="0"/>
              <a:ext cx="21960001" cy="1781326"/>
            </a:xfrm>
            <a:custGeom>
              <a:avLst/>
              <a:gdLst/>
              <a:ahLst/>
              <a:cxnLst/>
              <a:rect l="l" t="t" r="r" b="b"/>
              <a:pathLst>
                <a:path w="21960001" h="1781326">
                  <a:moveTo>
                    <a:pt x="0" y="0"/>
                  </a:moveTo>
                  <a:lnTo>
                    <a:pt x="21960001" y="0"/>
                  </a:lnTo>
                  <a:lnTo>
                    <a:pt x="21960001" y="1781326"/>
                  </a:lnTo>
                  <a:lnTo>
                    <a:pt x="0" y="1781326"/>
                  </a:lnTo>
                  <a:close/>
                </a:path>
              </a:pathLst>
            </a:custGeom>
            <a:blipFill>
              <a:blip r:embed="rId6">
                <a:alphaModFix amt="0"/>
              </a:blip>
              <a:stretch>
                <a:fillRect t="-190209" b="-190209"/>
              </a:stretch>
            </a:blipFill>
          </p:spPr>
          <p:txBody>
            <a:bodyPr/>
            <a:lstStyle/>
            <a:p>
              <a:endParaRPr lang="vi-VN"/>
            </a:p>
          </p:txBody>
        </p:sp>
        <p:sp>
          <p:nvSpPr>
            <p:cNvPr id="23" name="TextBox 23"/>
            <p:cNvSpPr txBox="1"/>
            <p:nvPr/>
          </p:nvSpPr>
          <p:spPr>
            <a:xfrm>
              <a:off x="0" y="38100"/>
              <a:ext cx="21960002" cy="1743227"/>
            </a:xfrm>
            <a:prstGeom prst="rect">
              <a:avLst/>
            </a:prstGeom>
          </p:spPr>
          <p:txBody>
            <a:bodyPr lIns="0" tIns="0" rIns="0" bIns="0" rtlCol="0" anchor="ctr"/>
            <a:lstStyle/>
            <a:p>
              <a:pPr>
                <a:lnSpc>
                  <a:spcPts val="7128"/>
                </a:lnSpc>
              </a:pPr>
              <a:r>
                <a:rPr lang="en-US" sz="6600" b="1" dirty="0">
                  <a:gradFill>
                    <a:gsLst>
                      <a:gs pos="0">
                        <a:srgbClr val="027159">
                          <a:alpha val="100000"/>
                        </a:srgbClr>
                      </a:gs>
                      <a:gs pos="100000">
                        <a:srgbClr val="10CD57">
                          <a:alpha val="100000"/>
                        </a:srgbClr>
                      </a:gs>
                    </a:gsLst>
                    <a:lin ang="16200000"/>
                  </a:gradFill>
                  <a:latin typeface="Times New Roman Bold"/>
                  <a:ea typeface="Times New Roman Bold"/>
                  <a:cs typeface="Times New Roman Bold"/>
                  <a:sym typeface="Times New Roman Bold"/>
                </a:rPr>
                <a:t>Linear Engine W4A15</a:t>
              </a:r>
            </a:p>
          </p:txBody>
        </p:sp>
      </p:grpSp>
      <p:grpSp>
        <p:nvGrpSpPr>
          <p:cNvPr id="25" name="Group 25"/>
          <p:cNvGrpSpPr/>
          <p:nvPr/>
        </p:nvGrpSpPr>
        <p:grpSpPr>
          <a:xfrm>
            <a:off x="6350346" y="9534525"/>
            <a:ext cx="6172200" cy="547688"/>
            <a:chOff x="0" y="0"/>
            <a:chExt cx="8229600" cy="730250"/>
          </a:xfrm>
        </p:grpSpPr>
        <p:sp>
          <p:nvSpPr>
            <p:cNvPr id="26" name="Freeform 26"/>
            <p:cNvSpPr/>
            <p:nvPr/>
          </p:nvSpPr>
          <p:spPr>
            <a:xfrm>
              <a:off x="0" y="0"/>
              <a:ext cx="8229600" cy="730250"/>
            </a:xfrm>
            <a:custGeom>
              <a:avLst/>
              <a:gdLst/>
              <a:ahLst/>
              <a:cxnLst/>
              <a:rect l="l" t="t" r="r" b="b"/>
              <a:pathLst>
                <a:path w="8229600" h="730250">
                  <a:moveTo>
                    <a:pt x="0" y="0"/>
                  </a:moveTo>
                  <a:lnTo>
                    <a:pt x="8229600" y="0"/>
                  </a:lnTo>
                  <a:lnTo>
                    <a:pt x="8229600" y="730250"/>
                  </a:lnTo>
                  <a:lnTo>
                    <a:pt x="0" y="730250"/>
                  </a:lnTo>
                  <a:close/>
                </a:path>
              </a:pathLst>
            </a:custGeom>
            <a:blipFill>
              <a:blip r:embed="rId6">
                <a:alphaModFix amt="0"/>
              </a:blip>
              <a:stretch>
                <a:fillRect t="-169587" b="-169587"/>
              </a:stretch>
            </a:blipFill>
          </p:spPr>
          <p:txBody>
            <a:bodyPr/>
            <a:lstStyle/>
            <a:p>
              <a:endParaRPr lang="vi-VN"/>
            </a:p>
          </p:txBody>
        </p:sp>
        <p:sp>
          <p:nvSpPr>
            <p:cNvPr id="27" name="TextBox 27"/>
            <p:cNvSpPr txBox="1"/>
            <p:nvPr/>
          </p:nvSpPr>
          <p:spPr>
            <a:xfrm>
              <a:off x="0" y="-19050"/>
              <a:ext cx="8229600" cy="749300"/>
            </a:xfrm>
            <a:prstGeom prst="rect">
              <a:avLst/>
            </a:prstGeom>
          </p:spPr>
          <p:txBody>
            <a:bodyPr lIns="0" tIns="0" rIns="0" bIns="0" rtlCol="0" anchor="ctr"/>
            <a:lstStyle/>
            <a:p>
              <a:pPr algn="ctr">
                <a:lnSpc>
                  <a:spcPts val="2160"/>
                </a:lnSpc>
              </a:pPr>
              <a:r>
                <a:rPr lang="en-US" sz="1800">
                  <a:solidFill>
                    <a:srgbClr val="898989"/>
                  </a:solidFill>
                  <a:latin typeface="Arial"/>
                  <a:ea typeface="Arial"/>
                  <a:cs typeface="Arial"/>
                  <a:sym typeface="Arial"/>
                </a:rPr>
                <a:t>Copyrights 2024 CE-UIT. All Rights Reserved.</a:t>
              </a:r>
            </a:p>
          </p:txBody>
        </p:sp>
      </p:grpSp>
      <p:grpSp>
        <p:nvGrpSpPr>
          <p:cNvPr id="28" name="Group 28"/>
          <p:cNvGrpSpPr/>
          <p:nvPr/>
        </p:nvGrpSpPr>
        <p:grpSpPr>
          <a:xfrm>
            <a:off x="15634421" y="9534525"/>
            <a:ext cx="4114800" cy="547688"/>
            <a:chOff x="0" y="0"/>
            <a:chExt cx="5486400" cy="730250"/>
          </a:xfrm>
        </p:grpSpPr>
        <p:sp>
          <p:nvSpPr>
            <p:cNvPr id="29" name="Freeform 29"/>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blipFill>
              <a:blip r:embed="rId6">
                <a:alphaModFix amt="0"/>
              </a:blip>
              <a:stretch>
                <a:fillRect t="-96391" b="-96391"/>
              </a:stretch>
            </a:blipFill>
          </p:spPr>
          <p:txBody>
            <a:bodyPr/>
            <a:lstStyle/>
            <a:p>
              <a:endParaRPr lang="vi-VN"/>
            </a:p>
          </p:txBody>
        </p:sp>
        <p:sp>
          <p:nvSpPr>
            <p:cNvPr id="30" name="TextBox 30"/>
            <p:cNvSpPr txBox="1"/>
            <p:nvPr/>
          </p:nvSpPr>
          <p:spPr>
            <a:xfrm>
              <a:off x="0" y="-19050"/>
              <a:ext cx="5486400" cy="749300"/>
            </a:xfrm>
            <a:prstGeom prst="rect">
              <a:avLst/>
            </a:prstGeom>
          </p:spPr>
          <p:txBody>
            <a:bodyPr lIns="0" tIns="0" rIns="0" bIns="0" rtlCol="0" anchor="ctr"/>
            <a:lstStyle/>
            <a:p>
              <a:pPr algn="ctr">
                <a:lnSpc>
                  <a:spcPts val="2160"/>
                </a:lnSpc>
              </a:pPr>
              <a:r>
                <a:rPr lang="en-US" sz="1800">
                  <a:solidFill>
                    <a:srgbClr val="FFFFFF"/>
                  </a:solidFill>
                  <a:latin typeface="Arial"/>
                  <a:ea typeface="Arial"/>
                  <a:cs typeface="Arial"/>
                  <a:sym typeface="Arial"/>
                </a:rPr>
                <a:t>10</a:t>
              </a: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91440" y="-2287991"/>
            <a:ext cx="18105120" cy="527771"/>
          </a:xfrm>
          <a:prstGeom prst="rect">
            <a:avLst/>
          </a:prstGeom>
        </p:spPr>
        <p:txBody>
          <a:bodyPr lIns="0" tIns="0" rIns="0" bIns="0" rtlCol="0" anchor="t">
            <a:spAutoFit/>
          </a:bodyPr>
          <a:lstStyle/>
          <a:p>
            <a:pPr algn="ctr">
              <a:lnSpc>
                <a:spcPts val="3600"/>
              </a:lnSpc>
            </a:pPr>
            <a:r>
              <a:rPr lang="en-US" sz="3000">
                <a:solidFill>
                  <a:srgbClr val="C3C3C3"/>
                </a:solidFill>
                <a:latin typeface="Arial"/>
                <a:ea typeface="Arial"/>
                <a:cs typeface="Arial"/>
                <a:sym typeface="Arial"/>
              </a:rPr>
              <a:t>www.9slide.vn</a:t>
            </a:r>
          </a:p>
        </p:txBody>
      </p:sp>
      <p:grpSp>
        <p:nvGrpSpPr>
          <p:cNvPr id="3" name="Group 3"/>
          <p:cNvGrpSpPr/>
          <p:nvPr/>
        </p:nvGrpSpPr>
        <p:grpSpPr>
          <a:xfrm>
            <a:off x="0" y="2124"/>
            <a:ext cx="18291715" cy="10295487"/>
            <a:chOff x="0" y="0"/>
            <a:chExt cx="24388953" cy="13727316"/>
          </a:xfrm>
        </p:grpSpPr>
        <p:sp>
          <p:nvSpPr>
            <p:cNvPr id="4" name="Freeform 4"/>
            <p:cNvSpPr/>
            <p:nvPr/>
          </p:nvSpPr>
          <p:spPr>
            <a:xfrm>
              <a:off x="0" y="0"/>
              <a:ext cx="24388953" cy="13727303"/>
            </a:xfrm>
            <a:custGeom>
              <a:avLst/>
              <a:gdLst/>
              <a:ahLst/>
              <a:cxnLst/>
              <a:rect l="l" t="t" r="r" b="b"/>
              <a:pathLst>
                <a:path w="24388953" h="1372730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txBody>
            <a:bodyPr/>
            <a:lstStyle/>
            <a:p>
              <a:endParaRPr lang="vi-VN"/>
            </a:p>
          </p:txBody>
        </p:sp>
      </p:grpSp>
      <p:grpSp>
        <p:nvGrpSpPr>
          <p:cNvPr id="5" name="Group 5"/>
          <p:cNvGrpSpPr/>
          <p:nvPr/>
        </p:nvGrpSpPr>
        <p:grpSpPr>
          <a:xfrm>
            <a:off x="-36214" y="0"/>
            <a:ext cx="6084589" cy="10287000"/>
            <a:chOff x="0" y="0"/>
            <a:chExt cx="8112785" cy="13716000"/>
          </a:xfrm>
        </p:grpSpPr>
        <p:sp>
          <p:nvSpPr>
            <p:cNvPr id="6" name="Freeform 6"/>
            <p:cNvSpPr/>
            <p:nvPr/>
          </p:nvSpPr>
          <p:spPr>
            <a:xfrm>
              <a:off x="0" y="0"/>
              <a:ext cx="8112760" cy="13716000"/>
            </a:xfrm>
            <a:custGeom>
              <a:avLst/>
              <a:gdLst/>
              <a:ahLst/>
              <a:cxnLst/>
              <a:rect l="l" t="t" r="r" b="b"/>
              <a:pathLst>
                <a:path w="8112760" h="13716000">
                  <a:moveTo>
                    <a:pt x="0" y="0"/>
                  </a:moveTo>
                  <a:lnTo>
                    <a:pt x="8112760" y="0"/>
                  </a:lnTo>
                  <a:lnTo>
                    <a:pt x="8112760" y="13716000"/>
                  </a:lnTo>
                  <a:lnTo>
                    <a:pt x="0" y="13716000"/>
                  </a:lnTo>
                  <a:close/>
                </a:path>
              </a:pathLst>
            </a:custGeom>
            <a:gradFill rotWithShape="1">
              <a:gsLst>
                <a:gs pos="0">
                  <a:srgbClr val="38EF7D">
                    <a:alpha val="100000"/>
                  </a:srgbClr>
                </a:gs>
                <a:gs pos="100000">
                  <a:srgbClr val="11998E">
                    <a:alpha val="100000"/>
                  </a:srgbClr>
                </a:gs>
              </a:gsLst>
              <a:lin ang="5400000"/>
            </a:gradFill>
          </p:spPr>
          <p:txBody>
            <a:bodyPr/>
            <a:lstStyle/>
            <a:p>
              <a:endParaRPr lang="vi-VN"/>
            </a:p>
          </p:txBody>
        </p:sp>
      </p:grpSp>
      <p:grpSp>
        <p:nvGrpSpPr>
          <p:cNvPr id="7" name="Group 7"/>
          <p:cNvGrpSpPr/>
          <p:nvPr/>
        </p:nvGrpSpPr>
        <p:grpSpPr>
          <a:xfrm>
            <a:off x="-46873" y="0"/>
            <a:ext cx="2707176" cy="10287000"/>
            <a:chOff x="0" y="0"/>
            <a:chExt cx="3609569" cy="13716000"/>
          </a:xfrm>
        </p:grpSpPr>
        <p:sp>
          <p:nvSpPr>
            <p:cNvPr id="8" name="Freeform 8"/>
            <p:cNvSpPr/>
            <p:nvPr/>
          </p:nvSpPr>
          <p:spPr>
            <a:xfrm flipV="1">
              <a:off x="0" y="0"/>
              <a:ext cx="3609594" cy="13716000"/>
            </a:xfrm>
            <a:custGeom>
              <a:avLst/>
              <a:gdLst/>
              <a:ahLst/>
              <a:cxnLst/>
              <a:rect l="l" t="t" r="r" b="b"/>
              <a:pathLst>
                <a:path w="3609594" h="13716000">
                  <a:moveTo>
                    <a:pt x="0" y="0"/>
                  </a:moveTo>
                  <a:lnTo>
                    <a:pt x="3609594" y="0"/>
                  </a:lnTo>
                  <a:lnTo>
                    <a:pt x="3609594" y="13716000"/>
                  </a:lnTo>
                  <a:lnTo>
                    <a:pt x="0" y="13716000"/>
                  </a:lnTo>
                  <a:close/>
                </a:path>
              </a:pathLst>
            </a:custGeom>
            <a:blipFill>
              <a:blip r:embed="rId2"/>
              <a:stretch>
                <a:fillRect l="-2907" r="-2906"/>
              </a:stretch>
            </a:blipFill>
          </p:spPr>
          <p:txBody>
            <a:bodyPr/>
            <a:lstStyle/>
            <a:p>
              <a:endParaRPr lang="vi-VN"/>
            </a:p>
          </p:txBody>
        </p:sp>
      </p:grpSp>
      <p:sp>
        <p:nvSpPr>
          <p:cNvPr id="9" name="TextBox 9"/>
          <p:cNvSpPr txBox="1"/>
          <p:nvPr/>
        </p:nvSpPr>
        <p:spPr>
          <a:xfrm rot="-5400000">
            <a:off x="-2614688" y="6739452"/>
            <a:ext cx="6076721" cy="425920"/>
          </a:xfrm>
          <a:prstGeom prst="rect">
            <a:avLst/>
          </a:prstGeom>
        </p:spPr>
        <p:txBody>
          <a:bodyPr lIns="0" tIns="0" rIns="0" bIns="0" rtlCol="0" anchor="t">
            <a:spAutoFit/>
          </a:bodyPr>
          <a:lstStyle/>
          <a:p>
            <a:pPr algn="l">
              <a:lnSpc>
                <a:spcPts val="2879"/>
              </a:lnSpc>
            </a:pPr>
            <a:r>
              <a:rPr lang="en-US" sz="2400" b="1">
                <a:solidFill>
                  <a:srgbClr val="FFFFFF"/>
                </a:solidFill>
                <a:latin typeface="Arial Bold"/>
                <a:ea typeface="Arial Bold"/>
                <a:cs typeface="Arial Bold"/>
                <a:sym typeface="Arial Bold"/>
              </a:rPr>
              <a:t>FACULTY OF COMPUTER ENGINEERING</a:t>
            </a:r>
          </a:p>
        </p:txBody>
      </p:sp>
      <p:grpSp>
        <p:nvGrpSpPr>
          <p:cNvPr id="10" name="Group 10"/>
          <p:cNvGrpSpPr/>
          <p:nvPr/>
        </p:nvGrpSpPr>
        <p:grpSpPr>
          <a:xfrm>
            <a:off x="6719973" y="293294"/>
            <a:ext cx="4848044" cy="957948"/>
            <a:chOff x="0" y="0"/>
            <a:chExt cx="6464059" cy="1277264"/>
          </a:xfrm>
        </p:grpSpPr>
        <p:sp>
          <p:nvSpPr>
            <p:cNvPr id="11" name="Freeform 11"/>
            <p:cNvSpPr/>
            <p:nvPr/>
          </p:nvSpPr>
          <p:spPr>
            <a:xfrm>
              <a:off x="0" y="0"/>
              <a:ext cx="6464173" cy="1277366"/>
            </a:xfrm>
            <a:custGeom>
              <a:avLst/>
              <a:gdLst/>
              <a:ahLst/>
              <a:cxnLst/>
              <a:rect l="l" t="t" r="r" b="b"/>
              <a:pathLst>
                <a:path w="6464173" h="1277366">
                  <a:moveTo>
                    <a:pt x="0" y="638683"/>
                  </a:moveTo>
                  <a:cubicBezTo>
                    <a:pt x="0" y="285877"/>
                    <a:pt x="285877" y="0"/>
                    <a:pt x="638683" y="0"/>
                  </a:cubicBezTo>
                  <a:lnTo>
                    <a:pt x="5825490" y="0"/>
                  </a:lnTo>
                  <a:cubicBezTo>
                    <a:pt x="6178169" y="0"/>
                    <a:pt x="6464173" y="285877"/>
                    <a:pt x="6464173" y="638683"/>
                  </a:cubicBezTo>
                  <a:cubicBezTo>
                    <a:pt x="6464173" y="991489"/>
                    <a:pt x="6178296" y="1277366"/>
                    <a:pt x="5825490" y="1277366"/>
                  </a:cubicBezTo>
                  <a:lnTo>
                    <a:pt x="638683" y="1277366"/>
                  </a:lnTo>
                  <a:cubicBezTo>
                    <a:pt x="285877" y="1277239"/>
                    <a:pt x="0" y="991362"/>
                    <a:pt x="0" y="638683"/>
                  </a:cubicBezTo>
                  <a:close/>
                </a:path>
              </a:pathLst>
            </a:custGeom>
            <a:gradFill rotWithShape="1">
              <a:gsLst>
                <a:gs pos="0">
                  <a:srgbClr val="38EF7D">
                    <a:alpha val="100000"/>
                  </a:srgbClr>
                </a:gs>
                <a:gs pos="100000">
                  <a:srgbClr val="752AFF">
                    <a:alpha val="100000"/>
                  </a:srgbClr>
                </a:gs>
              </a:gsLst>
              <a:lin ang="4729360"/>
            </a:gradFill>
          </p:spPr>
          <p:txBody>
            <a:bodyPr/>
            <a:lstStyle/>
            <a:p>
              <a:endParaRPr lang="vi-VN"/>
            </a:p>
          </p:txBody>
        </p:sp>
      </p:grpSp>
      <p:grpSp>
        <p:nvGrpSpPr>
          <p:cNvPr id="12" name="Group 12"/>
          <p:cNvGrpSpPr/>
          <p:nvPr/>
        </p:nvGrpSpPr>
        <p:grpSpPr>
          <a:xfrm>
            <a:off x="6807460" y="371332"/>
            <a:ext cx="4673079" cy="801872"/>
            <a:chOff x="0" y="0"/>
            <a:chExt cx="6230772" cy="1069162"/>
          </a:xfrm>
        </p:grpSpPr>
        <p:sp>
          <p:nvSpPr>
            <p:cNvPr id="13" name="Freeform 13"/>
            <p:cNvSpPr/>
            <p:nvPr/>
          </p:nvSpPr>
          <p:spPr>
            <a:xfrm>
              <a:off x="0" y="0"/>
              <a:ext cx="6230747" cy="1069086"/>
            </a:xfrm>
            <a:custGeom>
              <a:avLst/>
              <a:gdLst/>
              <a:ahLst/>
              <a:cxnLst/>
              <a:rect l="l" t="t" r="r" b="b"/>
              <a:pathLst>
                <a:path w="6230747" h="1069086">
                  <a:moveTo>
                    <a:pt x="0" y="534543"/>
                  </a:moveTo>
                  <a:cubicBezTo>
                    <a:pt x="0" y="239395"/>
                    <a:pt x="239395" y="0"/>
                    <a:pt x="534543" y="0"/>
                  </a:cubicBezTo>
                  <a:lnTo>
                    <a:pt x="5696204" y="0"/>
                  </a:lnTo>
                  <a:cubicBezTo>
                    <a:pt x="5991479" y="0"/>
                    <a:pt x="6230747" y="239395"/>
                    <a:pt x="6230747" y="534543"/>
                  </a:cubicBezTo>
                  <a:cubicBezTo>
                    <a:pt x="6230747" y="829691"/>
                    <a:pt x="5991352" y="1069086"/>
                    <a:pt x="5696204" y="1069086"/>
                  </a:cubicBezTo>
                  <a:lnTo>
                    <a:pt x="534543" y="1069086"/>
                  </a:lnTo>
                  <a:cubicBezTo>
                    <a:pt x="239395" y="1069213"/>
                    <a:pt x="0" y="829818"/>
                    <a:pt x="0" y="534543"/>
                  </a:cubicBezTo>
                  <a:close/>
                </a:path>
              </a:pathLst>
            </a:custGeom>
            <a:solidFill>
              <a:srgbClr val="FFFFFF"/>
            </a:solidFill>
          </p:spPr>
          <p:txBody>
            <a:bodyPr/>
            <a:lstStyle/>
            <a:p>
              <a:endParaRPr lang="vi-VN"/>
            </a:p>
          </p:txBody>
        </p:sp>
      </p:grpSp>
      <p:grpSp>
        <p:nvGrpSpPr>
          <p:cNvPr id="14" name="Group 14"/>
          <p:cNvGrpSpPr/>
          <p:nvPr/>
        </p:nvGrpSpPr>
        <p:grpSpPr>
          <a:xfrm>
            <a:off x="9436446" y="197910"/>
            <a:ext cx="1163307" cy="1152592"/>
            <a:chOff x="0" y="0"/>
            <a:chExt cx="1551076" cy="1536789"/>
          </a:xfrm>
        </p:grpSpPr>
        <p:sp>
          <p:nvSpPr>
            <p:cNvPr id="15" name="Freeform 15" descr="Icon  Description automatically generated with medium confidence"/>
            <p:cNvSpPr/>
            <p:nvPr/>
          </p:nvSpPr>
          <p:spPr>
            <a:xfrm>
              <a:off x="0" y="0"/>
              <a:ext cx="1551051" cy="1536827"/>
            </a:xfrm>
            <a:custGeom>
              <a:avLst/>
              <a:gdLst/>
              <a:ahLst/>
              <a:cxnLst/>
              <a:rect l="l" t="t" r="r" b="b"/>
              <a:pathLst>
                <a:path w="1551051" h="1536827">
                  <a:moveTo>
                    <a:pt x="0" y="0"/>
                  </a:moveTo>
                  <a:lnTo>
                    <a:pt x="1551051" y="0"/>
                  </a:lnTo>
                  <a:lnTo>
                    <a:pt x="1551051" y="1536827"/>
                  </a:lnTo>
                  <a:lnTo>
                    <a:pt x="0" y="1536827"/>
                  </a:lnTo>
                  <a:lnTo>
                    <a:pt x="0" y="0"/>
                  </a:lnTo>
                  <a:close/>
                </a:path>
              </a:pathLst>
            </a:custGeom>
            <a:blipFill>
              <a:blip r:embed="rId3"/>
              <a:stretch>
                <a:fillRect l="-75" r="-76" b="2"/>
              </a:stretch>
            </a:blipFill>
          </p:spPr>
          <p:txBody>
            <a:bodyPr/>
            <a:lstStyle/>
            <a:p>
              <a:endParaRPr lang="vi-VN"/>
            </a:p>
          </p:txBody>
        </p:sp>
      </p:grpSp>
      <p:grpSp>
        <p:nvGrpSpPr>
          <p:cNvPr id="16" name="Group 16"/>
          <p:cNvGrpSpPr/>
          <p:nvPr/>
        </p:nvGrpSpPr>
        <p:grpSpPr>
          <a:xfrm>
            <a:off x="7688247" y="233439"/>
            <a:ext cx="1307516" cy="1081516"/>
            <a:chOff x="0" y="0"/>
            <a:chExt cx="1743354" cy="1442022"/>
          </a:xfrm>
        </p:grpSpPr>
        <p:sp>
          <p:nvSpPr>
            <p:cNvPr id="17" name="Freeform 17" descr="A picture containing clipart, vector graphics  Description automatically generated"/>
            <p:cNvSpPr/>
            <p:nvPr/>
          </p:nvSpPr>
          <p:spPr>
            <a:xfrm>
              <a:off x="0" y="0"/>
              <a:ext cx="1743329" cy="1442085"/>
            </a:xfrm>
            <a:custGeom>
              <a:avLst/>
              <a:gdLst/>
              <a:ahLst/>
              <a:cxnLst/>
              <a:rect l="l" t="t" r="r" b="b"/>
              <a:pathLst>
                <a:path w="1743329" h="1442085">
                  <a:moveTo>
                    <a:pt x="0" y="0"/>
                  </a:moveTo>
                  <a:lnTo>
                    <a:pt x="1743329" y="0"/>
                  </a:lnTo>
                  <a:lnTo>
                    <a:pt x="1743329" y="1442085"/>
                  </a:lnTo>
                  <a:lnTo>
                    <a:pt x="0" y="1442085"/>
                  </a:lnTo>
                  <a:lnTo>
                    <a:pt x="0" y="0"/>
                  </a:lnTo>
                  <a:close/>
                </a:path>
              </a:pathLst>
            </a:custGeom>
            <a:blipFill>
              <a:blip r:embed="rId4"/>
              <a:stretch>
                <a:fillRect t="-74" r="-1" b="-71"/>
              </a:stretch>
            </a:blipFill>
          </p:spPr>
          <p:txBody>
            <a:bodyPr/>
            <a:lstStyle/>
            <a:p>
              <a:endParaRPr lang="vi-VN"/>
            </a:p>
          </p:txBody>
        </p:sp>
      </p:grpSp>
      <p:sp>
        <p:nvSpPr>
          <p:cNvPr id="18" name="Freeform 18"/>
          <p:cNvSpPr/>
          <p:nvPr/>
        </p:nvSpPr>
        <p:spPr>
          <a:xfrm>
            <a:off x="17262338" y="364607"/>
            <a:ext cx="819198" cy="819198"/>
          </a:xfrm>
          <a:custGeom>
            <a:avLst/>
            <a:gdLst/>
            <a:ahLst/>
            <a:cxnLst/>
            <a:rect l="l" t="t" r="r" b="b"/>
            <a:pathLst>
              <a:path w="819198" h="819198">
                <a:moveTo>
                  <a:pt x="0" y="0"/>
                </a:moveTo>
                <a:lnTo>
                  <a:pt x="819198" y="0"/>
                </a:lnTo>
                <a:lnTo>
                  <a:pt x="819198" y="819198"/>
                </a:lnTo>
                <a:lnTo>
                  <a:pt x="0" y="81919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vi-VN"/>
          </a:p>
        </p:txBody>
      </p:sp>
      <p:grpSp>
        <p:nvGrpSpPr>
          <p:cNvPr id="19" name="Group 19"/>
          <p:cNvGrpSpPr/>
          <p:nvPr/>
        </p:nvGrpSpPr>
        <p:grpSpPr>
          <a:xfrm>
            <a:off x="1705232" y="2175643"/>
            <a:ext cx="15315943" cy="6434480"/>
            <a:chOff x="0" y="0"/>
            <a:chExt cx="20421257" cy="8579307"/>
          </a:xfrm>
        </p:grpSpPr>
        <p:sp>
          <p:nvSpPr>
            <p:cNvPr id="20" name="Freeform 20"/>
            <p:cNvSpPr/>
            <p:nvPr/>
          </p:nvSpPr>
          <p:spPr>
            <a:xfrm>
              <a:off x="0" y="0"/>
              <a:ext cx="20421346" cy="8579358"/>
            </a:xfrm>
            <a:custGeom>
              <a:avLst/>
              <a:gdLst/>
              <a:ahLst/>
              <a:cxnLst/>
              <a:rect l="l" t="t" r="r" b="b"/>
              <a:pathLst>
                <a:path w="20421346" h="8579358">
                  <a:moveTo>
                    <a:pt x="0" y="231775"/>
                  </a:moveTo>
                  <a:cubicBezTo>
                    <a:pt x="0" y="103759"/>
                    <a:pt x="103759" y="0"/>
                    <a:pt x="231775" y="0"/>
                  </a:cubicBezTo>
                  <a:lnTo>
                    <a:pt x="20189571" y="0"/>
                  </a:lnTo>
                  <a:cubicBezTo>
                    <a:pt x="20317586" y="0"/>
                    <a:pt x="20421346" y="103759"/>
                    <a:pt x="20421346" y="231775"/>
                  </a:cubicBezTo>
                  <a:lnTo>
                    <a:pt x="20421346" y="8347583"/>
                  </a:lnTo>
                  <a:cubicBezTo>
                    <a:pt x="20421346" y="8475599"/>
                    <a:pt x="20317586" y="8579358"/>
                    <a:pt x="20189571" y="8579358"/>
                  </a:cubicBezTo>
                  <a:lnTo>
                    <a:pt x="231775" y="8579358"/>
                  </a:lnTo>
                  <a:cubicBezTo>
                    <a:pt x="103759" y="8579358"/>
                    <a:pt x="0" y="8475599"/>
                    <a:pt x="0" y="8347583"/>
                  </a:cubicBezTo>
                  <a:close/>
                </a:path>
              </a:pathLst>
            </a:custGeom>
            <a:blipFill>
              <a:blip r:embed="rId6"/>
              <a:stretch>
                <a:fillRect l="-189" r="-189"/>
              </a:stretch>
            </a:blipFill>
          </p:spPr>
          <p:txBody>
            <a:bodyPr/>
            <a:lstStyle/>
            <a:p>
              <a:endParaRPr lang="vi-VN"/>
            </a:p>
          </p:txBody>
        </p:sp>
      </p:grpSp>
      <p:grpSp>
        <p:nvGrpSpPr>
          <p:cNvPr id="21" name="Group 21"/>
          <p:cNvGrpSpPr/>
          <p:nvPr/>
        </p:nvGrpSpPr>
        <p:grpSpPr>
          <a:xfrm>
            <a:off x="1705232" y="2175643"/>
            <a:ext cx="15315943" cy="6434480"/>
            <a:chOff x="0" y="0"/>
            <a:chExt cx="20421257" cy="8579307"/>
          </a:xfrm>
        </p:grpSpPr>
        <p:sp>
          <p:nvSpPr>
            <p:cNvPr id="22" name="Freeform 22"/>
            <p:cNvSpPr/>
            <p:nvPr/>
          </p:nvSpPr>
          <p:spPr>
            <a:xfrm>
              <a:off x="0" y="0"/>
              <a:ext cx="20421346" cy="8579358"/>
            </a:xfrm>
            <a:custGeom>
              <a:avLst/>
              <a:gdLst/>
              <a:ahLst/>
              <a:cxnLst/>
              <a:rect l="l" t="t" r="r" b="b"/>
              <a:pathLst>
                <a:path w="20421346" h="8579358">
                  <a:moveTo>
                    <a:pt x="0" y="231775"/>
                  </a:moveTo>
                  <a:cubicBezTo>
                    <a:pt x="0" y="103759"/>
                    <a:pt x="103759" y="0"/>
                    <a:pt x="231775" y="0"/>
                  </a:cubicBezTo>
                  <a:lnTo>
                    <a:pt x="20189571" y="0"/>
                  </a:lnTo>
                  <a:cubicBezTo>
                    <a:pt x="20317586" y="0"/>
                    <a:pt x="20421346" y="103759"/>
                    <a:pt x="20421346" y="231775"/>
                  </a:cubicBezTo>
                  <a:lnTo>
                    <a:pt x="20421346" y="8347583"/>
                  </a:lnTo>
                  <a:cubicBezTo>
                    <a:pt x="20421346" y="8475599"/>
                    <a:pt x="20317586" y="8579358"/>
                    <a:pt x="20189571" y="8579358"/>
                  </a:cubicBezTo>
                  <a:lnTo>
                    <a:pt x="231775" y="8579358"/>
                  </a:lnTo>
                  <a:cubicBezTo>
                    <a:pt x="103759" y="8579358"/>
                    <a:pt x="0" y="8475599"/>
                    <a:pt x="0" y="8347583"/>
                  </a:cubicBezTo>
                  <a:close/>
                </a:path>
              </a:pathLst>
            </a:custGeom>
            <a:gradFill rotWithShape="1">
              <a:gsLst>
                <a:gs pos="0">
                  <a:srgbClr val="38EF7D">
                    <a:alpha val="40000"/>
                  </a:srgbClr>
                </a:gs>
                <a:gs pos="100000">
                  <a:srgbClr val="11998E">
                    <a:alpha val="40000"/>
                  </a:srgbClr>
                </a:gs>
              </a:gsLst>
              <a:lin ang="4032715"/>
            </a:gradFill>
          </p:spPr>
          <p:txBody>
            <a:bodyPr/>
            <a:lstStyle/>
            <a:p>
              <a:endParaRPr lang="vi-VN"/>
            </a:p>
          </p:txBody>
        </p:sp>
      </p:grpSp>
      <p:grpSp>
        <p:nvGrpSpPr>
          <p:cNvPr id="23" name="Group 23"/>
          <p:cNvGrpSpPr/>
          <p:nvPr/>
        </p:nvGrpSpPr>
        <p:grpSpPr>
          <a:xfrm>
            <a:off x="0" y="2124"/>
            <a:ext cx="18291715" cy="10295487"/>
            <a:chOff x="0" y="0"/>
            <a:chExt cx="24388953" cy="13727316"/>
          </a:xfrm>
        </p:grpSpPr>
        <p:sp>
          <p:nvSpPr>
            <p:cNvPr id="24" name="Freeform 24"/>
            <p:cNvSpPr/>
            <p:nvPr/>
          </p:nvSpPr>
          <p:spPr>
            <a:xfrm>
              <a:off x="0" y="0"/>
              <a:ext cx="24388953" cy="13727303"/>
            </a:xfrm>
            <a:custGeom>
              <a:avLst/>
              <a:gdLst/>
              <a:ahLst/>
              <a:cxnLst/>
              <a:rect l="l" t="t" r="r" b="b"/>
              <a:pathLst>
                <a:path w="24388953" h="1372730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txBody>
            <a:bodyPr/>
            <a:lstStyle/>
            <a:p>
              <a:endParaRPr lang="vi-VN"/>
            </a:p>
          </p:txBody>
        </p:sp>
      </p:grpSp>
      <p:grpSp>
        <p:nvGrpSpPr>
          <p:cNvPr id="25" name="Group 25"/>
          <p:cNvGrpSpPr/>
          <p:nvPr/>
        </p:nvGrpSpPr>
        <p:grpSpPr>
          <a:xfrm>
            <a:off x="10848975" y="9534525"/>
            <a:ext cx="6172200" cy="547688"/>
            <a:chOff x="0" y="0"/>
            <a:chExt cx="8229600" cy="730250"/>
          </a:xfrm>
        </p:grpSpPr>
        <p:sp>
          <p:nvSpPr>
            <p:cNvPr id="26" name="Freeform 26"/>
            <p:cNvSpPr/>
            <p:nvPr/>
          </p:nvSpPr>
          <p:spPr>
            <a:xfrm>
              <a:off x="0" y="0"/>
              <a:ext cx="8229600" cy="730250"/>
            </a:xfrm>
            <a:custGeom>
              <a:avLst/>
              <a:gdLst/>
              <a:ahLst/>
              <a:cxnLst/>
              <a:rect l="l" t="t" r="r" b="b"/>
              <a:pathLst>
                <a:path w="8229600" h="730250">
                  <a:moveTo>
                    <a:pt x="0" y="0"/>
                  </a:moveTo>
                  <a:lnTo>
                    <a:pt x="8229600" y="0"/>
                  </a:lnTo>
                  <a:lnTo>
                    <a:pt x="8229600" y="730250"/>
                  </a:lnTo>
                  <a:lnTo>
                    <a:pt x="0" y="730250"/>
                  </a:lnTo>
                  <a:close/>
                </a:path>
              </a:pathLst>
            </a:custGeom>
            <a:blipFill>
              <a:blip r:embed="rId7">
                <a:alphaModFix amt="0"/>
              </a:blip>
              <a:stretch>
                <a:fillRect t="-169587" b="-169587"/>
              </a:stretch>
            </a:blipFill>
          </p:spPr>
          <p:txBody>
            <a:bodyPr/>
            <a:lstStyle/>
            <a:p>
              <a:endParaRPr lang="vi-VN"/>
            </a:p>
          </p:txBody>
        </p:sp>
        <p:sp>
          <p:nvSpPr>
            <p:cNvPr id="27" name="TextBox 27"/>
            <p:cNvSpPr txBox="1"/>
            <p:nvPr/>
          </p:nvSpPr>
          <p:spPr>
            <a:xfrm>
              <a:off x="0" y="-19050"/>
              <a:ext cx="8229600" cy="749300"/>
            </a:xfrm>
            <a:prstGeom prst="rect">
              <a:avLst/>
            </a:prstGeom>
          </p:spPr>
          <p:txBody>
            <a:bodyPr lIns="0" tIns="0" rIns="0" bIns="0" rtlCol="0" anchor="ctr"/>
            <a:lstStyle/>
            <a:p>
              <a:pPr algn="ctr">
                <a:lnSpc>
                  <a:spcPts val="2160"/>
                </a:lnSpc>
              </a:pPr>
              <a:r>
                <a:rPr lang="en-US" sz="1800">
                  <a:solidFill>
                    <a:srgbClr val="898989"/>
                  </a:solidFill>
                  <a:latin typeface="Arial"/>
                  <a:ea typeface="Arial"/>
                  <a:cs typeface="Arial"/>
                  <a:sym typeface="Arial"/>
                </a:rPr>
                <a:t>Copyrights 2024 CE-UIT. All Rights Reserved.</a:t>
              </a:r>
            </a:p>
          </p:txBody>
        </p:sp>
      </p:grpSp>
      <p:grpSp>
        <p:nvGrpSpPr>
          <p:cNvPr id="28" name="Group 28"/>
          <p:cNvGrpSpPr/>
          <p:nvPr/>
        </p:nvGrpSpPr>
        <p:grpSpPr>
          <a:xfrm>
            <a:off x="15614542" y="498424"/>
            <a:ext cx="4114800" cy="547688"/>
            <a:chOff x="0" y="0"/>
            <a:chExt cx="5486400" cy="730250"/>
          </a:xfrm>
        </p:grpSpPr>
        <p:sp>
          <p:nvSpPr>
            <p:cNvPr id="29" name="Freeform 29"/>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blipFill>
              <a:blip r:embed="rId7">
                <a:alphaModFix amt="0"/>
              </a:blip>
              <a:stretch>
                <a:fillRect t="-96391" b="-96391"/>
              </a:stretch>
            </a:blipFill>
          </p:spPr>
          <p:txBody>
            <a:bodyPr/>
            <a:lstStyle/>
            <a:p>
              <a:endParaRPr lang="vi-VN"/>
            </a:p>
          </p:txBody>
        </p:sp>
        <p:sp>
          <p:nvSpPr>
            <p:cNvPr id="30" name="TextBox 30"/>
            <p:cNvSpPr txBox="1"/>
            <p:nvPr/>
          </p:nvSpPr>
          <p:spPr>
            <a:xfrm>
              <a:off x="0" y="-19050"/>
              <a:ext cx="5486400" cy="749300"/>
            </a:xfrm>
            <a:prstGeom prst="rect">
              <a:avLst/>
            </a:prstGeom>
          </p:spPr>
          <p:txBody>
            <a:bodyPr lIns="0" tIns="0" rIns="0" bIns="0" rtlCol="0" anchor="ctr"/>
            <a:lstStyle/>
            <a:p>
              <a:pPr algn="ctr">
                <a:lnSpc>
                  <a:spcPts val="2160"/>
                </a:lnSpc>
              </a:pPr>
              <a:r>
                <a:rPr lang="en-US" sz="1800">
                  <a:solidFill>
                    <a:srgbClr val="FFFFFF"/>
                  </a:solidFill>
                  <a:latin typeface="Arial"/>
                  <a:ea typeface="Arial"/>
                  <a:cs typeface="Arial"/>
                  <a:sym typeface="Arial"/>
                </a:rPr>
                <a:t>11</a:t>
              </a:r>
            </a:p>
          </p:txBody>
        </p:sp>
      </p:grpSp>
      <p:grpSp>
        <p:nvGrpSpPr>
          <p:cNvPr id="31" name="Group 31"/>
          <p:cNvGrpSpPr/>
          <p:nvPr/>
        </p:nvGrpSpPr>
        <p:grpSpPr>
          <a:xfrm>
            <a:off x="2480043" y="3638074"/>
            <a:ext cx="13766321" cy="2258930"/>
            <a:chOff x="0" y="0"/>
            <a:chExt cx="18355094" cy="3011907"/>
          </a:xfrm>
        </p:grpSpPr>
        <p:sp>
          <p:nvSpPr>
            <p:cNvPr id="32" name="Freeform 32"/>
            <p:cNvSpPr/>
            <p:nvPr/>
          </p:nvSpPr>
          <p:spPr>
            <a:xfrm>
              <a:off x="0" y="0"/>
              <a:ext cx="18355097" cy="3011906"/>
            </a:xfrm>
            <a:custGeom>
              <a:avLst/>
              <a:gdLst/>
              <a:ahLst/>
              <a:cxnLst/>
              <a:rect l="l" t="t" r="r" b="b"/>
              <a:pathLst>
                <a:path w="18355097" h="3011906">
                  <a:moveTo>
                    <a:pt x="0" y="0"/>
                  </a:moveTo>
                  <a:lnTo>
                    <a:pt x="18355097" y="0"/>
                  </a:lnTo>
                  <a:lnTo>
                    <a:pt x="18355097" y="3011906"/>
                  </a:lnTo>
                  <a:lnTo>
                    <a:pt x="0" y="3011906"/>
                  </a:lnTo>
                  <a:close/>
                </a:path>
              </a:pathLst>
            </a:custGeom>
            <a:blipFill>
              <a:blip r:embed="rId7">
                <a:alphaModFix amt="0"/>
              </a:blip>
              <a:stretch>
                <a:fillRect t="-68745" b="-68745"/>
              </a:stretch>
            </a:blipFill>
          </p:spPr>
          <p:txBody>
            <a:bodyPr/>
            <a:lstStyle/>
            <a:p>
              <a:endParaRPr lang="vi-VN"/>
            </a:p>
          </p:txBody>
        </p:sp>
        <p:sp>
          <p:nvSpPr>
            <p:cNvPr id="33" name="TextBox 33"/>
            <p:cNvSpPr txBox="1"/>
            <p:nvPr/>
          </p:nvSpPr>
          <p:spPr>
            <a:xfrm>
              <a:off x="0" y="38100"/>
              <a:ext cx="18355094" cy="2973807"/>
            </a:xfrm>
            <a:prstGeom prst="rect">
              <a:avLst/>
            </a:prstGeom>
          </p:spPr>
          <p:txBody>
            <a:bodyPr lIns="0" tIns="0" rIns="0" bIns="0" rtlCol="0" anchor="ctr"/>
            <a:lstStyle/>
            <a:p>
              <a:pPr algn="l">
                <a:lnSpc>
                  <a:spcPts val="7873"/>
                </a:lnSpc>
              </a:pPr>
              <a:r>
                <a:rPr lang="en-US" sz="7290" b="1">
                  <a:solidFill>
                    <a:srgbClr val="FFFFFF"/>
                  </a:solidFill>
                  <a:latin typeface="Times New Roman Bold"/>
                  <a:ea typeface="Times New Roman Bold"/>
                  <a:cs typeface="Times New Roman Bold"/>
                  <a:sym typeface="Times New Roman Bold"/>
                </a:rPr>
                <a:t>KẾT QUẢ CỦA</a:t>
              </a:r>
            </a:p>
            <a:p>
              <a:pPr algn="l">
                <a:lnSpc>
                  <a:spcPts val="7873"/>
                </a:lnSpc>
              </a:pPr>
              <a:r>
                <a:rPr lang="en-US" sz="7290" b="1">
                  <a:solidFill>
                    <a:srgbClr val="FFFFFF"/>
                  </a:solidFill>
                  <a:latin typeface="Times New Roman Bold"/>
                  <a:ea typeface="Times New Roman Bold"/>
                  <a:cs typeface="Times New Roman Bold"/>
                  <a:sym typeface="Times New Roman Bold"/>
                </a:rPr>
                <a:t>GIẢI PHÁP ĐỀ XUẤT</a:t>
              </a:r>
            </a:p>
          </p:txBody>
        </p:sp>
      </p:grpSp>
      <p:sp>
        <p:nvSpPr>
          <p:cNvPr id="34" name="TextBox 34"/>
          <p:cNvSpPr txBox="1"/>
          <p:nvPr/>
        </p:nvSpPr>
        <p:spPr>
          <a:xfrm>
            <a:off x="2571483" y="1020985"/>
            <a:ext cx="2896076" cy="2454116"/>
          </a:xfrm>
          <a:prstGeom prst="rect">
            <a:avLst/>
          </a:prstGeom>
        </p:spPr>
        <p:txBody>
          <a:bodyPr lIns="0" tIns="0" rIns="0" bIns="0" rtlCol="0" anchor="t">
            <a:spAutoFit/>
          </a:bodyPr>
          <a:lstStyle/>
          <a:p>
            <a:pPr algn="l">
              <a:lnSpc>
                <a:spcPts val="18630"/>
              </a:lnSpc>
            </a:pPr>
            <a:r>
              <a:rPr lang="en-US" sz="17250" b="1">
                <a:solidFill>
                  <a:srgbClr val="FFFFFF">
                    <a:alpha val="65098"/>
                  </a:srgbClr>
                </a:solidFill>
                <a:latin typeface="Arial Bold"/>
                <a:ea typeface="Arial Bold"/>
                <a:cs typeface="Arial Bold"/>
                <a:sym typeface="Arial Bold"/>
              </a:rPr>
              <a:t>03</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91440" y="-2287991"/>
            <a:ext cx="18105120" cy="527771"/>
          </a:xfrm>
          <a:prstGeom prst="rect">
            <a:avLst/>
          </a:prstGeom>
        </p:spPr>
        <p:txBody>
          <a:bodyPr lIns="0" tIns="0" rIns="0" bIns="0" rtlCol="0" anchor="t">
            <a:spAutoFit/>
          </a:bodyPr>
          <a:lstStyle/>
          <a:p>
            <a:pPr algn="ctr">
              <a:lnSpc>
                <a:spcPts val="3600"/>
              </a:lnSpc>
            </a:pPr>
            <a:r>
              <a:rPr lang="en-US" sz="3000">
                <a:solidFill>
                  <a:srgbClr val="C3C3C3"/>
                </a:solidFill>
                <a:latin typeface="Arial"/>
                <a:ea typeface="Arial"/>
                <a:cs typeface="Arial"/>
                <a:sym typeface="Arial"/>
              </a:rPr>
              <a:t>www.9slide.vn</a:t>
            </a:r>
          </a:p>
        </p:txBody>
      </p:sp>
      <p:grpSp>
        <p:nvGrpSpPr>
          <p:cNvPr id="3" name="Group 3"/>
          <p:cNvGrpSpPr/>
          <p:nvPr/>
        </p:nvGrpSpPr>
        <p:grpSpPr>
          <a:xfrm>
            <a:off x="0" y="2124"/>
            <a:ext cx="18291715" cy="10295487"/>
            <a:chOff x="0" y="0"/>
            <a:chExt cx="24388953" cy="13727316"/>
          </a:xfrm>
        </p:grpSpPr>
        <p:sp>
          <p:nvSpPr>
            <p:cNvPr id="4" name="Freeform 4"/>
            <p:cNvSpPr/>
            <p:nvPr/>
          </p:nvSpPr>
          <p:spPr>
            <a:xfrm>
              <a:off x="0" y="0"/>
              <a:ext cx="24388953" cy="13727303"/>
            </a:xfrm>
            <a:custGeom>
              <a:avLst/>
              <a:gdLst/>
              <a:ahLst/>
              <a:cxnLst/>
              <a:rect l="l" t="t" r="r" b="b"/>
              <a:pathLst>
                <a:path w="24388953" h="1372730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txBody>
            <a:bodyPr/>
            <a:lstStyle/>
            <a:p>
              <a:endParaRPr lang="vi-VN"/>
            </a:p>
          </p:txBody>
        </p:sp>
      </p:grpSp>
      <p:grpSp>
        <p:nvGrpSpPr>
          <p:cNvPr id="5" name="Group 5"/>
          <p:cNvGrpSpPr/>
          <p:nvPr/>
        </p:nvGrpSpPr>
        <p:grpSpPr>
          <a:xfrm rot="5400000">
            <a:off x="8668474" y="-8670065"/>
            <a:ext cx="947328" cy="18291715"/>
            <a:chOff x="0" y="0"/>
            <a:chExt cx="1263104" cy="24388953"/>
          </a:xfrm>
        </p:grpSpPr>
        <p:sp>
          <p:nvSpPr>
            <p:cNvPr id="6" name="Freeform 6"/>
            <p:cNvSpPr/>
            <p:nvPr/>
          </p:nvSpPr>
          <p:spPr>
            <a:xfrm>
              <a:off x="0" y="0"/>
              <a:ext cx="1263142" cy="24388953"/>
            </a:xfrm>
            <a:custGeom>
              <a:avLst/>
              <a:gdLst/>
              <a:ahLst/>
              <a:cxnLst/>
              <a:rect l="l" t="t" r="r" b="b"/>
              <a:pathLst>
                <a:path w="1263142" h="24388953">
                  <a:moveTo>
                    <a:pt x="0" y="0"/>
                  </a:moveTo>
                  <a:lnTo>
                    <a:pt x="1263142" y="0"/>
                  </a:lnTo>
                  <a:lnTo>
                    <a:pt x="1263142" y="24388953"/>
                  </a:lnTo>
                  <a:lnTo>
                    <a:pt x="0" y="24388953"/>
                  </a:lnTo>
                  <a:close/>
                </a:path>
              </a:pathLst>
            </a:custGeom>
            <a:gradFill rotWithShape="1">
              <a:gsLst>
                <a:gs pos="0">
                  <a:srgbClr val="10CD57">
                    <a:alpha val="100000"/>
                  </a:srgbClr>
                </a:gs>
                <a:gs pos="100000">
                  <a:srgbClr val="027159">
                    <a:alpha val="100000"/>
                  </a:srgbClr>
                </a:gs>
              </a:gsLst>
              <a:lin ang="0"/>
            </a:gradFill>
          </p:spPr>
          <p:txBody>
            <a:bodyPr/>
            <a:lstStyle/>
            <a:p>
              <a:endParaRPr lang="vi-VN"/>
            </a:p>
          </p:txBody>
        </p:sp>
      </p:grpSp>
      <p:grpSp>
        <p:nvGrpSpPr>
          <p:cNvPr id="7" name="Group 7"/>
          <p:cNvGrpSpPr/>
          <p:nvPr/>
        </p:nvGrpSpPr>
        <p:grpSpPr>
          <a:xfrm rot="5400000">
            <a:off x="8670331" y="-8672198"/>
            <a:ext cx="947328" cy="18291715"/>
            <a:chOff x="0" y="0"/>
            <a:chExt cx="1263104" cy="24388953"/>
          </a:xfrm>
        </p:grpSpPr>
        <p:sp>
          <p:nvSpPr>
            <p:cNvPr id="8" name="Freeform 8"/>
            <p:cNvSpPr/>
            <p:nvPr/>
          </p:nvSpPr>
          <p:spPr>
            <a:xfrm flipV="1">
              <a:off x="0" y="0"/>
              <a:ext cx="1263142" cy="24388953"/>
            </a:xfrm>
            <a:custGeom>
              <a:avLst/>
              <a:gdLst/>
              <a:ahLst/>
              <a:cxnLst/>
              <a:rect l="l" t="t" r="r" b="b"/>
              <a:pathLst>
                <a:path w="1263142" h="24388953">
                  <a:moveTo>
                    <a:pt x="0" y="0"/>
                  </a:moveTo>
                  <a:lnTo>
                    <a:pt x="1263142" y="0"/>
                  </a:lnTo>
                  <a:lnTo>
                    <a:pt x="1263142" y="24388953"/>
                  </a:lnTo>
                  <a:lnTo>
                    <a:pt x="0" y="24388953"/>
                  </a:lnTo>
                  <a:close/>
                </a:path>
              </a:pathLst>
            </a:custGeom>
            <a:blipFill>
              <a:blip r:embed="rId3"/>
              <a:stretch>
                <a:fillRect l="-35093" r="-35090"/>
              </a:stretch>
            </a:blipFill>
          </p:spPr>
          <p:txBody>
            <a:bodyPr/>
            <a:lstStyle/>
            <a:p>
              <a:endParaRPr lang="vi-VN"/>
            </a:p>
          </p:txBody>
        </p:sp>
      </p:grpSp>
      <p:sp>
        <p:nvSpPr>
          <p:cNvPr id="9" name="TextBox 9"/>
          <p:cNvSpPr txBox="1"/>
          <p:nvPr/>
        </p:nvSpPr>
        <p:spPr>
          <a:xfrm>
            <a:off x="451866" y="248326"/>
            <a:ext cx="10947559" cy="424158"/>
          </a:xfrm>
          <a:prstGeom prst="rect">
            <a:avLst/>
          </a:prstGeom>
        </p:spPr>
        <p:txBody>
          <a:bodyPr lIns="0" tIns="0" rIns="0" bIns="0" rtlCol="0" anchor="t">
            <a:spAutoFit/>
          </a:bodyPr>
          <a:lstStyle/>
          <a:p>
            <a:pPr algn="l">
              <a:lnSpc>
                <a:spcPts val="2879"/>
              </a:lnSpc>
            </a:pPr>
            <a:r>
              <a:rPr lang="en-US" sz="2400" b="1">
                <a:solidFill>
                  <a:srgbClr val="FFFFFF"/>
                </a:solidFill>
                <a:latin typeface="Arial Bold"/>
                <a:ea typeface="Arial Bold"/>
                <a:cs typeface="Arial Bold"/>
                <a:sym typeface="Arial Bold"/>
              </a:rPr>
              <a:t>FACULTY OF COMPUTER ENGINEERING</a:t>
            </a:r>
          </a:p>
        </p:txBody>
      </p:sp>
      <p:grpSp>
        <p:nvGrpSpPr>
          <p:cNvPr id="10" name="Group 10"/>
          <p:cNvGrpSpPr/>
          <p:nvPr/>
        </p:nvGrpSpPr>
        <p:grpSpPr>
          <a:xfrm>
            <a:off x="6719973" y="457933"/>
            <a:ext cx="4848044" cy="957948"/>
            <a:chOff x="0" y="0"/>
            <a:chExt cx="6464059" cy="1277264"/>
          </a:xfrm>
        </p:grpSpPr>
        <p:sp>
          <p:nvSpPr>
            <p:cNvPr id="11" name="Freeform 11"/>
            <p:cNvSpPr/>
            <p:nvPr/>
          </p:nvSpPr>
          <p:spPr>
            <a:xfrm>
              <a:off x="0" y="0"/>
              <a:ext cx="6464173" cy="1277366"/>
            </a:xfrm>
            <a:custGeom>
              <a:avLst/>
              <a:gdLst/>
              <a:ahLst/>
              <a:cxnLst/>
              <a:rect l="l" t="t" r="r" b="b"/>
              <a:pathLst>
                <a:path w="6464173" h="1277366">
                  <a:moveTo>
                    <a:pt x="0" y="638683"/>
                  </a:moveTo>
                  <a:cubicBezTo>
                    <a:pt x="0" y="285877"/>
                    <a:pt x="285877" y="0"/>
                    <a:pt x="638683" y="0"/>
                  </a:cubicBezTo>
                  <a:lnTo>
                    <a:pt x="5825490" y="0"/>
                  </a:lnTo>
                  <a:cubicBezTo>
                    <a:pt x="6178169" y="0"/>
                    <a:pt x="6464173" y="285877"/>
                    <a:pt x="6464173" y="638683"/>
                  </a:cubicBezTo>
                  <a:cubicBezTo>
                    <a:pt x="6464173" y="991489"/>
                    <a:pt x="6178296" y="1277366"/>
                    <a:pt x="5825490" y="1277366"/>
                  </a:cubicBezTo>
                  <a:lnTo>
                    <a:pt x="638683" y="1277366"/>
                  </a:lnTo>
                  <a:cubicBezTo>
                    <a:pt x="285877" y="1277239"/>
                    <a:pt x="0" y="991362"/>
                    <a:pt x="0" y="638683"/>
                  </a:cubicBezTo>
                  <a:close/>
                </a:path>
              </a:pathLst>
            </a:custGeom>
            <a:gradFill rotWithShape="1">
              <a:gsLst>
                <a:gs pos="0">
                  <a:srgbClr val="38EF7D">
                    <a:alpha val="100000"/>
                  </a:srgbClr>
                </a:gs>
                <a:gs pos="100000">
                  <a:srgbClr val="752AFF">
                    <a:alpha val="100000"/>
                  </a:srgbClr>
                </a:gs>
              </a:gsLst>
              <a:lin ang="4729360"/>
            </a:gradFill>
          </p:spPr>
          <p:txBody>
            <a:bodyPr/>
            <a:lstStyle/>
            <a:p>
              <a:endParaRPr lang="vi-VN"/>
            </a:p>
          </p:txBody>
        </p:sp>
      </p:grpSp>
      <p:grpSp>
        <p:nvGrpSpPr>
          <p:cNvPr id="12" name="Group 12"/>
          <p:cNvGrpSpPr/>
          <p:nvPr/>
        </p:nvGrpSpPr>
        <p:grpSpPr>
          <a:xfrm>
            <a:off x="6807460" y="535962"/>
            <a:ext cx="4673079" cy="801872"/>
            <a:chOff x="0" y="0"/>
            <a:chExt cx="6230772" cy="1069162"/>
          </a:xfrm>
        </p:grpSpPr>
        <p:sp>
          <p:nvSpPr>
            <p:cNvPr id="13" name="Freeform 13"/>
            <p:cNvSpPr/>
            <p:nvPr/>
          </p:nvSpPr>
          <p:spPr>
            <a:xfrm>
              <a:off x="0" y="0"/>
              <a:ext cx="6230747" cy="1069086"/>
            </a:xfrm>
            <a:custGeom>
              <a:avLst/>
              <a:gdLst/>
              <a:ahLst/>
              <a:cxnLst/>
              <a:rect l="l" t="t" r="r" b="b"/>
              <a:pathLst>
                <a:path w="6230747" h="1069086">
                  <a:moveTo>
                    <a:pt x="0" y="534543"/>
                  </a:moveTo>
                  <a:cubicBezTo>
                    <a:pt x="0" y="239395"/>
                    <a:pt x="239395" y="0"/>
                    <a:pt x="534543" y="0"/>
                  </a:cubicBezTo>
                  <a:lnTo>
                    <a:pt x="5696204" y="0"/>
                  </a:lnTo>
                  <a:cubicBezTo>
                    <a:pt x="5991479" y="0"/>
                    <a:pt x="6230747" y="239395"/>
                    <a:pt x="6230747" y="534543"/>
                  </a:cubicBezTo>
                  <a:cubicBezTo>
                    <a:pt x="6230747" y="829691"/>
                    <a:pt x="5991352" y="1069086"/>
                    <a:pt x="5696204" y="1069086"/>
                  </a:cubicBezTo>
                  <a:lnTo>
                    <a:pt x="534543" y="1069086"/>
                  </a:lnTo>
                  <a:cubicBezTo>
                    <a:pt x="239395" y="1069213"/>
                    <a:pt x="0" y="829818"/>
                    <a:pt x="0" y="534543"/>
                  </a:cubicBezTo>
                  <a:close/>
                </a:path>
              </a:pathLst>
            </a:custGeom>
            <a:solidFill>
              <a:srgbClr val="FFFFFF"/>
            </a:solidFill>
          </p:spPr>
          <p:txBody>
            <a:bodyPr/>
            <a:lstStyle/>
            <a:p>
              <a:endParaRPr lang="vi-VN"/>
            </a:p>
          </p:txBody>
        </p:sp>
      </p:grpSp>
      <p:grpSp>
        <p:nvGrpSpPr>
          <p:cNvPr id="14" name="Group 14"/>
          <p:cNvGrpSpPr/>
          <p:nvPr/>
        </p:nvGrpSpPr>
        <p:grpSpPr>
          <a:xfrm>
            <a:off x="9436446" y="362541"/>
            <a:ext cx="1163307" cy="1152592"/>
            <a:chOff x="0" y="0"/>
            <a:chExt cx="1551076" cy="1536789"/>
          </a:xfrm>
        </p:grpSpPr>
        <p:sp>
          <p:nvSpPr>
            <p:cNvPr id="15" name="Freeform 15" descr="Icon  Description automatically generated with medium confidence"/>
            <p:cNvSpPr/>
            <p:nvPr/>
          </p:nvSpPr>
          <p:spPr>
            <a:xfrm>
              <a:off x="0" y="0"/>
              <a:ext cx="1551051" cy="1536827"/>
            </a:xfrm>
            <a:custGeom>
              <a:avLst/>
              <a:gdLst/>
              <a:ahLst/>
              <a:cxnLst/>
              <a:rect l="l" t="t" r="r" b="b"/>
              <a:pathLst>
                <a:path w="1551051" h="1536827">
                  <a:moveTo>
                    <a:pt x="0" y="0"/>
                  </a:moveTo>
                  <a:lnTo>
                    <a:pt x="1551051" y="0"/>
                  </a:lnTo>
                  <a:lnTo>
                    <a:pt x="1551051" y="1536827"/>
                  </a:lnTo>
                  <a:lnTo>
                    <a:pt x="0" y="1536827"/>
                  </a:lnTo>
                  <a:lnTo>
                    <a:pt x="0" y="0"/>
                  </a:lnTo>
                  <a:close/>
                </a:path>
              </a:pathLst>
            </a:custGeom>
            <a:blipFill>
              <a:blip r:embed="rId4"/>
              <a:stretch>
                <a:fillRect l="-75" r="-76" b="2"/>
              </a:stretch>
            </a:blipFill>
          </p:spPr>
          <p:txBody>
            <a:bodyPr/>
            <a:lstStyle/>
            <a:p>
              <a:endParaRPr lang="vi-VN"/>
            </a:p>
          </p:txBody>
        </p:sp>
      </p:grpSp>
      <p:grpSp>
        <p:nvGrpSpPr>
          <p:cNvPr id="16" name="Group 16"/>
          <p:cNvGrpSpPr/>
          <p:nvPr/>
        </p:nvGrpSpPr>
        <p:grpSpPr>
          <a:xfrm>
            <a:off x="7688247" y="398078"/>
            <a:ext cx="1307516" cy="1081516"/>
            <a:chOff x="0" y="0"/>
            <a:chExt cx="1743354" cy="1442022"/>
          </a:xfrm>
        </p:grpSpPr>
        <p:sp>
          <p:nvSpPr>
            <p:cNvPr id="17" name="Freeform 17" descr="A picture containing clipart, vector graphics  Description automatically generated"/>
            <p:cNvSpPr/>
            <p:nvPr/>
          </p:nvSpPr>
          <p:spPr>
            <a:xfrm>
              <a:off x="0" y="0"/>
              <a:ext cx="1743329" cy="1442085"/>
            </a:xfrm>
            <a:custGeom>
              <a:avLst/>
              <a:gdLst/>
              <a:ahLst/>
              <a:cxnLst/>
              <a:rect l="l" t="t" r="r" b="b"/>
              <a:pathLst>
                <a:path w="1743329" h="1442085">
                  <a:moveTo>
                    <a:pt x="0" y="0"/>
                  </a:moveTo>
                  <a:lnTo>
                    <a:pt x="1743329" y="0"/>
                  </a:lnTo>
                  <a:lnTo>
                    <a:pt x="1743329" y="1442085"/>
                  </a:lnTo>
                  <a:lnTo>
                    <a:pt x="0" y="1442085"/>
                  </a:lnTo>
                  <a:lnTo>
                    <a:pt x="0" y="0"/>
                  </a:lnTo>
                  <a:close/>
                </a:path>
              </a:pathLst>
            </a:custGeom>
            <a:blipFill>
              <a:blip r:embed="rId5"/>
              <a:stretch>
                <a:fillRect t="-74" r="-1" b="-71"/>
              </a:stretch>
            </a:blipFill>
          </p:spPr>
          <p:txBody>
            <a:bodyPr/>
            <a:lstStyle/>
            <a:p>
              <a:endParaRPr lang="vi-VN"/>
            </a:p>
          </p:txBody>
        </p:sp>
      </p:grpSp>
      <p:sp>
        <p:nvSpPr>
          <p:cNvPr id="18" name="Freeform 18"/>
          <p:cNvSpPr/>
          <p:nvPr/>
        </p:nvSpPr>
        <p:spPr>
          <a:xfrm>
            <a:off x="17262338" y="9405385"/>
            <a:ext cx="819198" cy="819198"/>
          </a:xfrm>
          <a:custGeom>
            <a:avLst/>
            <a:gdLst/>
            <a:ahLst/>
            <a:cxnLst/>
            <a:rect l="l" t="t" r="r" b="b"/>
            <a:pathLst>
              <a:path w="819198" h="819198">
                <a:moveTo>
                  <a:pt x="0" y="0"/>
                </a:moveTo>
                <a:lnTo>
                  <a:pt x="819198" y="0"/>
                </a:lnTo>
                <a:lnTo>
                  <a:pt x="819198" y="819198"/>
                </a:lnTo>
                <a:lnTo>
                  <a:pt x="0" y="819198"/>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vi-VN"/>
          </a:p>
        </p:txBody>
      </p:sp>
      <p:grpSp>
        <p:nvGrpSpPr>
          <p:cNvPr id="19" name="Group 19"/>
          <p:cNvGrpSpPr/>
          <p:nvPr/>
        </p:nvGrpSpPr>
        <p:grpSpPr>
          <a:xfrm>
            <a:off x="0" y="2124"/>
            <a:ext cx="18291715" cy="10295487"/>
            <a:chOff x="0" y="0"/>
            <a:chExt cx="24388953" cy="13727316"/>
          </a:xfrm>
        </p:grpSpPr>
        <p:sp>
          <p:nvSpPr>
            <p:cNvPr id="20" name="Freeform 20"/>
            <p:cNvSpPr/>
            <p:nvPr/>
          </p:nvSpPr>
          <p:spPr>
            <a:xfrm>
              <a:off x="0" y="0"/>
              <a:ext cx="24388953" cy="13727303"/>
            </a:xfrm>
            <a:custGeom>
              <a:avLst/>
              <a:gdLst/>
              <a:ahLst/>
              <a:cxnLst/>
              <a:rect l="l" t="t" r="r" b="b"/>
              <a:pathLst>
                <a:path w="24388953" h="1372730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txBody>
            <a:bodyPr/>
            <a:lstStyle/>
            <a:p>
              <a:endParaRPr lang="vi-VN"/>
            </a:p>
          </p:txBody>
        </p:sp>
      </p:grpSp>
      <p:grpSp>
        <p:nvGrpSpPr>
          <p:cNvPr id="21" name="Group 21"/>
          <p:cNvGrpSpPr/>
          <p:nvPr/>
        </p:nvGrpSpPr>
        <p:grpSpPr>
          <a:xfrm>
            <a:off x="908999" y="1555147"/>
            <a:ext cx="16470001" cy="1335996"/>
            <a:chOff x="0" y="0"/>
            <a:chExt cx="21960002" cy="1781327"/>
          </a:xfrm>
        </p:grpSpPr>
        <p:sp>
          <p:nvSpPr>
            <p:cNvPr id="22" name="Freeform 22"/>
            <p:cNvSpPr/>
            <p:nvPr/>
          </p:nvSpPr>
          <p:spPr>
            <a:xfrm>
              <a:off x="0" y="0"/>
              <a:ext cx="21960001" cy="1781326"/>
            </a:xfrm>
            <a:custGeom>
              <a:avLst/>
              <a:gdLst/>
              <a:ahLst/>
              <a:cxnLst/>
              <a:rect l="l" t="t" r="r" b="b"/>
              <a:pathLst>
                <a:path w="21960001" h="1781326">
                  <a:moveTo>
                    <a:pt x="0" y="0"/>
                  </a:moveTo>
                  <a:lnTo>
                    <a:pt x="21960001" y="0"/>
                  </a:lnTo>
                  <a:lnTo>
                    <a:pt x="21960001" y="1781326"/>
                  </a:lnTo>
                  <a:lnTo>
                    <a:pt x="0" y="1781326"/>
                  </a:lnTo>
                  <a:close/>
                </a:path>
              </a:pathLst>
            </a:custGeom>
            <a:blipFill>
              <a:blip r:embed="rId7">
                <a:alphaModFix amt="0"/>
              </a:blip>
              <a:stretch>
                <a:fillRect t="-190209" b="-190209"/>
              </a:stretch>
            </a:blipFill>
          </p:spPr>
          <p:txBody>
            <a:bodyPr/>
            <a:lstStyle/>
            <a:p>
              <a:endParaRPr lang="vi-VN"/>
            </a:p>
          </p:txBody>
        </p:sp>
        <p:sp>
          <p:nvSpPr>
            <p:cNvPr id="23" name="TextBox 23"/>
            <p:cNvSpPr txBox="1"/>
            <p:nvPr/>
          </p:nvSpPr>
          <p:spPr>
            <a:xfrm>
              <a:off x="0" y="38100"/>
              <a:ext cx="21960002" cy="1743227"/>
            </a:xfrm>
            <a:prstGeom prst="rect">
              <a:avLst/>
            </a:prstGeom>
          </p:spPr>
          <p:txBody>
            <a:bodyPr lIns="0" tIns="0" rIns="0" bIns="0" rtlCol="0" anchor="ctr"/>
            <a:lstStyle/>
            <a:p>
              <a:pPr algn="l">
                <a:lnSpc>
                  <a:spcPts val="7128"/>
                </a:lnSpc>
              </a:pPr>
              <a:r>
                <a:rPr lang="en-US" sz="6600" b="1">
                  <a:gradFill>
                    <a:gsLst>
                      <a:gs pos="0">
                        <a:srgbClr val="027159">
                          <a:alpha val="100000"/>
                        </a:srgbClr>
                      </a:gs>
                      <a:gs pos="100000">
                        <a:srgbClr val="10CD57">
                          <a:alpha val="100000"/>
                        </a:srgbClr>
                      </a:gs>
                    </a:gsLst>
                    <a:lin ang="16200000"/>
                  </a:gradFill>
                  <a:latin typeface="Times New Roman Bold"/>
                  <a:ea typeface="Times New Roman Bold"/>
                  <a:cs typeface="Times New Roman Bold"/>
                  <a:sym typeface="Times New Roman Bold"/>
                </a:rPr>
                <a:t>3. Kết quả của giải pháp đề xuất</a:t>
              </a:r>
            </a:p>
          </p:txBody>
        </p:sp>
      </p:grpSp>
      <p:grpSp>
        <p:nvGrpSpPr>
          <p:cNvPr id="24" name="Group 24"/>
          <p:cNvGrpSpPr/>
          <p:nvPr/>
        </p:nvGrpSpPr>
        <p:grpSpPr>
          <a:xfrm>
            <a:off x="15634421" y="9534525"/>
            <a:ext cx="4114800" cy="547688"/>
            <a:chOff x="0" y="0"/>
            <a:chExt cx="5486400" cy="730250"/>
          </a:xfrm>
        </p:grpSpPr>
        <p:sp>
          <p:nvSpPr>
            <p:cNvPr id="25" name="Freeform 25"/>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blipFill>
              <a:blip r:embed="rId7">
                <a:alphaModFix amt="0"/>
              </a:blip>
              <a:stretch>
                <a:fillRect t="-96391" b="-96391"/>
              </a:stretch>
            </a:blipFill>
          </p:spPr>
          <p:txBody>
            <a:bodyPr/>
            <a:lstStyle/>
            <a:p>
              <a:endParaRPr lang="vi-VN"/>
            </a:p>
          </p:txBody>
        </p:sp>
        <p:sp>
          <p:nvSpPr>
            <p:cNvPr id="26" name="TextBox 26"/>
            <p:cNvSpPr txBox="1"/>
            <p:nvPr/>
          </p:nvSpPr>
          <p:spPr>
            <a:xfrm>
              <a:off x="0" y="-19050"/>
              <a:ext cx="5486400" cy="749300"/>
            </a:xfrm>
            <a:prstGeom prst="rect">
              <a:avLst/>
            </a:prstGeom>
          </p:spPr>
          <p:txBody>
            <a:bodyPr lIns="0" tIns="0" rIns="0" bIns="0" rtlCol="0" anchor="ctr"/>
            <a:lstStyle/>
            <a:p>
              <a:pPr algn="ctr">
                <a:lnSpc>
                  <a:spcPts val="2160"/>
                </a:lnSpc>
              </a:pPr>
              <a:r>
                <a:rPr lang="en-US" sz="1800">
                  <a:solidFill>
                    <a:srgbClr val="FFFFFF"/>
                  </a:solidFill>
                  <a:latin typeface="Arial"/>
                  <a:ea typeface="Arial"/>
                  <a:cs typeface="Arial"/>
                  <a:sym typeface="Arial"/>
                </a:rPr>
                <a:t>12</a:t>
              </a:r>
            </a:p>
          </p:txBody>
        </p:sp>
      </p:grpSp>
      <p:sp>
        <p:nvSpPr>
          <p:cNvPr id="27" name="TextBox 27"/>
          <p:cNvSpPr txBox="1"/>
          <p:nvPr/>
        </p:nvSpPr>
        <p:spPr>
          <a:xfrm>
            <a:off x="1236869" y="2785986"/>
            <a:ext cx="1512160" cy="611562"/>
          </a:xfrm>
          <a:prstGeom prst="rect">
            <a:avLst/>
          </a:prstGeom>
        </p:spPr>
        <p:txBody>
          <a:bodyPr lIns="0" tIns="0" rIns="0" bIns="0" rtlCol="0" anchor="t">
            <a:spAutoFit/>
          </a:bodyPr>
          <a:lstStyle/>
          <a:p>
            <a:pPr marL="542925" lvl="1" indent="-271462" algn="just">
              <a:lnSpc>
                <a:spcPts val="4140"/>
              </a:lnSpc>
              <a:buFont typeface="Arial"/>
              <a:buChar char="•"/>
            </a:pPr>
            <a:r>
              <a:rPr lang="en-US" sz="3000" b="1">
                <a:solidFill>
                  <a:srgbClr val="000000"/>
                </a:solidFill>
                <a:latin typeface="Times New Roman Bold"/>
                <a:ea typeface="Times New Roman Bold"/>
                <a:cs typeface="Times New Roman Bold"/>
                <a:sym typeface="Times New Roman Bold"/>
              </a:rPr>
              <a:t>CPU</a:t>
            </a:r>
          </a:p>
        </p:txBody>
      </p:sp>
      <p:sp>
        <p:nvSpPr>
          <p:cNvPr id="28" name="TextBox 28"/>
          <p:cNvSpPr txBox="1"/>
          <p:nvPr/>
        </p:nvSpPr>
        <p:spPr>
          <a:xfrm>
            <a:off x="9833696" y="2803989"/>
            <a:ext cx="9729607" cy="550974"/>
          </a:xfrm>
          <a:prstGeom prst="rect">
            <a:avLst/>
          </a:prstGeom>
        </p:spPr>
        <p:txBody>
          <a:bodyPr lIns="0" tIns="0" rIns="0" bIns="0" rtlCol="0" anchor="t">
            <a:spAutoFit/>
          </a:bodyPr>
          <a:lstStyle/>
          <a:p>
            <a:pPr marL="488632" lvl="1" indent="-244316" algn="just">
              <a:lnSpc>
                <a:spcPts val="3726"/>
              </a:lnSpc>
              <a:buFont typeface="Arial"/>
              <a:buChar char="•"/>
            </a:pPr>
            <a:r>
              <a:rPr lang="en-US" sz="2700" b="1">
                <a:solidFill>
                  <a:srgbClr val="000000"/>
                </a:solidFill>
                <a:latin typeface="Times New Roman Bold"/>
                <a:ea typeface="Times New Roman Bold"/>
                <a:cs typeface="Times New Roman Bold"/>
                <a:sym typeface="Times New Roman Bold"/>
              </a:rPr>
              <a:t> FPU</a:t>
            </a:r>
          </a:p>
        </p:txBody>
      </p:sp>
      <p:sp>
        <p:nvSpPr>
          <p:cNvPr id="29" name="TextBox 29"/>
          <p:cNvSpPr txBox="1"/>
          <p:nvPr/>
        </p:nvSpPr>
        <p:spPr>
          <a:xfrm>
            <a:off x="1236869" y="3188903"/>
            <a:ext cx="8267129" cy="4546235"/>
          </a:xfrm>
          <a:prstGeom prst="rect">
            <a:avLst/>
          </a:prstGeom>
        </p:spPr>
        <p:txBody>
          <a:bodyPr lIns="0" tIns="0" rIns="0" bIns="0" rtlCol="0" anchor="t">
            <a:spAutoFit/>
          </a:bodyPr>
          <a:lstStyle/>
          <a:p>
            <a:pPr marL="407194" lvl="2" indent="-135731" algn="just">
              <a:lnSpc>
                <a:spcPts val="4050"/>
              </a:lnSpc>
              <a:buFont typeface="Arial"/>
              <a:buChar char="⚬"/>
            </a:pPr>
            <a:r>
              <a:rPr lang="en-US" sz="2250">
                <a:solidFill>
                  <a:srgbClr val="000000"/>
                </a:solidFill>
                <a:latin typeface="Times New Roman"/>
                <a:ea typeface="Times New Roman"/>
                <a:cs typeface="Times New Roman"/>
                <a:sym typeface="Times New Roman"/>
              </a:rPr>
              <a:t>Tần số hoạt động tối đa có thể đạt được của </a:t>
            </a:r>
            <a:r>
              <a:rPr lang="en-US" sz="2250" b="1">
                <a:solidFill>
                  <a:srgbClr val="000000"/>
                </a:solidFill>
                <a:latin typeface="Times New Roman Bold"/>
                <a:ea typeface="Times New Roman Bold"/>
                <a:cs typeface="Times New Roman Bold"/>
                <a:sym typeface="Times New Roman Bold"/>
              </a:rPr>
              <a:t>CPU</a:t>
            </a:r>
            <a:r>
              <a:rPr lang="en-US" sz="2250">
                <a:solidFill>
                  <a:srgbClr val="000000"/>
                </a:solidFill>
                <a:latin typeface="Times New Roman"/>
                <a:ea typeface="Times New Roman"/>
                <a:cs typeface="Times New Roman"/>
                <a:sym typeface="Times New Roman"/>
              </a:rPr>
              <a:t> là</a:t>
            </a:r>
            <a:r>
              <a:rPr lang="en-US" sz="2250">
                <a:solidFill>
                  <a:srgbClr val="027159"/>
                </a:solidFill>
                <a:latin typeface="Times New Roman"/>
                <a:ea typeface="Times New Roman"/>
                <a:cs typeface="Times New Roman"/>
                <a:sym typeface="Times New Roman"/>
              </a:rPr>
              <a:t> </a:t>
            </a:r>
            <a:r>
              <a:rPr lang="en-US" sz="2250" b="1">
                <a:solidFill>
                  <a:srgbClr val="000000"/>
                </a:solidFill>
                <a:latin typeface="Times New Roman Bold"/>
                <a:ea typeface="Times New Roman Bold"/>
                <a:cs typeface="Times New Roman Bold"/>
                <a:sym typeface="Times New Roman Bold"/>
              </a:rPr>
              <a:t>161 MHz</a:t>
            </a:r>
          </a:p>
        </p:txBody>
      </p:sp>
      <p:sp>
        <p:nvSpPr>
          <p:cNvPr id="30" name="TextBox 30"/>
          <p:cNvSpPr txBox="1"/>
          <p:nvPr/>
        </p:nvSpPr>
        <p:spPr>
          <a:xfrm>
            <a:off x="9833696" y="3190399"/>
            <a:ext cx="8267129" cy="4546235"/>
          </a:xfrm>
          <a:prstGeom prst="rect">
            <a:avLst/>
          </a:prstGeom>
        </p:spPr>
        <p:txBody>
          <a:bodyPr lIns="0" tIns="0" rIns="0" bIns="0" rtlCol="0" anchor="t">
            <a:spAutoFit/>
          </a:bodyPr>
          <a:lstStyle/>
          <a:p>
            <a:pPr marL="407194" lvl="2" indent="-135731" algn="just">
              <a:lnSpc>
                <a:spcPts val="4050"/>
              </a:lnSpc>
              <a:buFont typeface="Arial"/>
              <a:buChar char="⚬"/>
            </a:pPr>
            <a:r>
              <a:rPr lang="en-US" sz="2250">
                <a:solidFill>
                  <a:srgbClr val="000000"/>
                </a:solidFill>
                <a:latin typeface="Times New Roman"/>
                <a:ea typeface="Times New Roman"/>
                <a:cs typeface="Times New Roman"/>
                <a:sym typeface="Times New Roman"/>
              </a:rPr>
              <a:t>Tần số hoạt động tối đa có thể đạt được của </a:t>
            </a:r>
            <a:r>
              <a:rPr lang="en-US" sz="2250" b="1">
                <a:solidFill>
                  <a:srgbClr val="000000"/>
                </a:solidFill>
                <a:latin typeface="Times New Roman Bold"/>
                <a:ea typeface="Times New Roman Bold"/>
                <a:cs typeface="Times New Roman Bold"/>
                <a:sym typeface="Times New Roman Bold"/>
              </a:rPr>
              <a:t>FPU</a:t>
            </a:r>
            <a:r>
              <a:rPr lang="en-US" sz="2250">
                <a:solidFill>
                  <a:srgbClr val="000000"/>
                </a:solidFill>
                <a:latin typeface="Times New Roman"/>
                <a:ea typeface="Times New Roman"/>
                <a:cs typeface="Times New Roman"/>
                <a:sym typeface="Times New Roman"/>
              </a:rPr>
              <a:t> là </a:t>
            </a:r>
            <a:r>
              <a:rPr lang="en-US" sz="2250" b="1">
                <a:solidFill>
                  <a:srgbClr val="000000"/>
                </a:solidFill>
                <a:latin typeface="Times New Roman Bold"/>
                <a:ea typeface="Times New Roman Bold"/>
                <a:cs typeface="Times New Roman Bold"/>
                <a:sym typeface="Times New Roman Bold"/>
              </a:rPr>
              <a:t>88 MHz</a:t>
            </a:r>
          </a:p>
        </p:txBody>
      </p:sp>
      <p:grpSp>
        <p:nvGrpSpPr>
          <p:cNvPr id="31" name="Group 31"/>
          <p:cNvGrpSpPr/>
          <p:nvPr/>
        </p:nvGrpSpPr>
        <p:grpSpPr>
          <a:xfrm>
            <a:off x="1043997" y="5182572"/>
            <a:ext cx="8114290" cy="1486872"/>
            <a:chOff x="0" y="0"/>
            <a:chExt cx="10819054" cy="1982495"/>
          </a:xfrm>
        </p:grpSpPr>
        <p:sp>
          <p:nvSpPr>
            <p:cNvPr id="32" name="Freeform 32"/>
            <p:cNvSpPr/>
            <p:nvPr/>
          </p:nvSpPr>
          <p:spPr>
            <a:xfrm>
              <a:off x="0" y="0"/>
              <a:ext cx="10819003" cy="1982470"/>
            </a:xfrm>
            <a:custGeom>
              <a:avLst/>
              <a:gdLst/>
              <a:ahLst/>
              <a:cxnLst/>
              <a:rect l="l" t="t" r="r" b="b"/>
              <a:pathLst>
                <a:path w="10819003" h="1982470">
                  <a:moveTo>
                    <a:pt x="0" y="0"/>
                  </a:moveTo>
                  <a:lnTo>
                    <a:pt x="10819003" y="0"/>
                  </a:lnTo>
                  <a:lnTo>
                    <a:pt x="10819003" y="1982470"/>
                  </a:lnTo>
                  <a:lnTo>
                    <a:pt x="0" y="1982470"/>
                  </a:lnTo>
                  <a:lnTo>
                    <a:pt x="0" y="0"/>
                  </a:lnTo>
                  <a:close/>
                </a:path>
              </a:pathLst>
            </a:custGeom>
            <a:blipFill>
              <a:blip r:embed="rId8"/>
              <a:stretch>
                <a:fillRect l="-800" r="-800" b="-1"/>
              </a:stretch>
            </a:blipFill>
          </p:spPr>
          <p:txBody>
            <a:bodyPr/>
            <a:lstStyle/>
            <a:p>
              <a:endParaRPr lang="vi-VN"/>
            </a:p>
          </p:txBody>
        </p:sp>
      </p:grpSp>
      <p:grpSp>
        <p:nvGrpSpPr>
          <p:cNvPr id="33" name="Group 33"/>
          <p:cNvGrpSpPr/>
          <p:nvPr/>
        </p:nvGrpSpPr>
        <p:grpSpPr>
          <a:xfrm>
            <a:off x="9873672" y="3986413"/>
            <a:ext cx="8114290" cy="1244594"/>
            <a:chOff x="0" y="0"/>
            <a:chExt cx="10819054" cy="1659458"/>
          </a:xfrm>
        </p:grpSpPr>
        <p:sp>
          <p:nvSpPr>
            <p:cNvPr id="34" name="Freeform 34"/>
            <p:cNvSpPr/>
            <p:nvPr/>
          </p:nvSpPr>
          <p:spPr>
            <a:xfrm>
              <a:off x="0" y="0"/>
              <a:ext cx="10819003" cy="1659509"/>
            </a:xfrm>
            <a:custGeom>
              <a:avLst/>
              <a:gdLst/>
              <a:ahLst/>
              <a:cxnLst/>
              <a:rect l="l" t="t" r="r" b="b"/>
              <a:pathLst>
                <a:path w="10819003" h="1659509">
                  <a:moveTo>
                    <a:pt x="0" y="0"/>
                  </a:moveTo>
                  <a:lnTo>
                    <a:pt x="10819003" y="0"/>
                  </a:lnTo>
                  <a:lnTo>
                    <a:pt x="10819003" y="1659509"/>
                  </a:lnTo>
                  <a:lnTo>
                    <a:pt x="0" y="1659509"/>
                  </a:lnTo>
                  <a:lnTo>
                    <a:pt x="0" y="0"/>
                  </a:lnTo>
                  <a:close/>
                </a:path>
              </a:pathLst>
            </a:custGeom>
            <a:blipFill>
              <a:blip r:embed="rId9"/>
              <a:stretch>
                <a:fillRect l="-665" t="-4838" r="-2420" b="-10006"/>
              </a:stretch>
            </a:blipFill>
          </p:spPr>
          <p:txBody>
            <a:bodyPr/>
            <a:lstStyle/>
            <a:p>
              <a:endParaRPr lang="vi-VN"/>
            </a:p>
          </p:txBody>
        </p:sp>
      </p:grpSp>
      <p:grpSp>
        <p:nvGrpSpPr>
          <p:cNvPr id="35" name="Group 35"/>
          <p:cNvGrpSpPr/>
          <p:nvPr/>
        </p:nvGrpSpPr>
        <p:grpSpPr>
          <a:xfrm>
            <a:off x="1043997" y="3986413"/>
            <a:ext cx="8114290" cy="1242993"/>
            <a:chOff x="0" y="0"/>
            <a:chExt cx="10819054" cy="1657325"/>
          </a:xfrm>
        </p:grpSpPr>
        <p:sp>
          <p:nvSpPr>
            <p:cNvPr id="36" name="Freeform 36"/>
            <p:cNvSpPr/>
            <p:nvPr/>
          </p:nvSpPr>
          <p:spPr>
            <a:xfrm>
              <a:off x="0" y="0"/>
              <a:ext cx="10819003" cy="1657350"/>
            </a:xfrm>
            <a:custGeom>
              <a:avLst/>
              <a:gdLst/>
              <a:ahLst/>
              <a:cxnLst/>
              <a:rect l="l" t="t" r="r" b="b"/>
              <a:pathLst>
                <a:path w="10819003" h="1657350">
                  <a:moveTo>
                    <a:pt x="0" y="0"/>
                  </a:moveTo>
                  <a:lnTo>
                    <a:pt x="10819003" y="0"/>
                  </a:lnTo>
                  <a:lnTo>
                    <a:pt x="10819003" y="1657350"/>
                  </a:lnTo>
                  <a:lnTo>
                    <a:pt x="0" y="1657350"/>
                  </a:lnTo>
                  <a:lnTo>
                    <a:pt x="0" y="0"/>
                  </a:lnTo>
                  <a:close/>
                </a:path>
              </a:pathLst>
            </a:custGeom>
            <a:blipFill>
              <a:blip r:embed="rId10"/>
              <a:stretch>
                <a:fillRect l="-1351" t="-7171" r="-1992" b="1"/>
              </a:stretch>
            </a:blipFill>
          </p:spPr>
          <p:txBody>
            <a:bodyPr/>
            <a:lstStyle/>
            <a:p>
              <a:endParaRPr lang="vi-VN"/>
            </a:p>
          </p:txBody>
        </p:sp>
      </p:grpSp>
      <p:grpSp>
        <p:nvGrpSpPr>
          <p:cNvPr id="37" name="Group 37"/>
          <p:cNvGrpSpPr/>
          <p:nvPr/>
        </p:nvGrpSpPr>
        <p:grpSpPr>
          <a:xfrm>
            <a:off x="9873672" y="5235931"/>
            <a:ext cx="8114290" cy="1433512"/>
            <a:chOff x="0" y="0"/>
            <a:chExt cx="10819054" cy="1911350"/>
          </a:xfrm>
        </p:grpSpPr>
        <p:sp>
          <p:nvSpPr>
            <p:cNvPr id="38" name="Freeform 38"/>
            <p:cNvSpPr/>
            <p:nvPr/>
          </p:nvSpPr>
          <p:spPr>
            <a:xfrm>
              <a:off x="0" y="0"/>
              <a:ext cx="10819003" cy="1911350"/>
            </a:xfrm>
            <a:custGeom>
              <a:avLst/>
              <a:gdLst/>
              <a:ahLst/>
              <a:cxnLst/>
              <a:rect l="l" t="t" r="r" b="b"/>
              <a:pathLst>
                <a:path w="10819003" h="1911350">
                  <a:moveTo>
                    <a:pt x="0" y="0"/>
                  </a:moveTo>
                  <a:lnTo>
                    <a:pt x="10819003" y="0"/>
                  </a:lnTo>
                  <a:lnTo>
                    <a:pt x="10819003" y="1911350"/>
                  </a:lnTo>
                  <a:lnTo>
                    <a:pt x="0" y="1911350"/>
                  </a:lnTo>
                  <a:lnTo>
                    <a:pt x="0" y="0"/>
                  </a:lnTo>
                  <a:close/>
                </a:path>
              </a:pathLst>
            </a:custGeom>
            <a:blipFill>
              <a:blip r:embed="rId11"/>
              <a:stretch>
                <a:fillRect t="-1563" b="-1563"/>
              </a:stretch>
            </a:blipFill>
          </p:spPr>
          <p:txBody>
            <a:bodyPr/>
            <a:lstStyle/>
            <a:p>
              <a:endParaRPr lang="vi-VN"/>
            </a:p>
          </p:txBody>
        </p:sp>
      </p:grpSp>
      <p:grpSp>
        <p:nvGrpSpPr>
          <p:cNvPr id="39" name="Group 39"/>
          <p:cNvGrpSpPr/>
          <p:nvPr/>
        </p:nvGrpSpPr>
        <p:grpSpPr>
          <a:xfrm>
            <a:off x="1043997" y="6668643"/>
            <a:ext cx="8114290" cy="3360544"/>
            <a:chOff x="0" y="0"/>
            <a:chExt cx="10819054" cy="4480725"/>
          </a:xfrm>
        </p:grpSpPr>
        <p:sp>
          <p:nvSpPr>
            <p:cNvPr id="40" name="Freeform 40"/>
            <p:cNvSpPr/>
            <p:nvPr/>
          </p:nvSpPr>
          <p:spPr>
            <a:xfrm>
              <a:off x="0" y="0"/>
              <a:ext cx="10819003" cy="4480687"/>
            </a:xfrm>
            <a:custGeom>
              <a:avLst/>
              <a:gdLst/>
              <a:ahLst/>
              <a:cxnLst/>
              <a:rect l="l" t="t" r="r" b="b"/>
              <a:pathLst>
                <a:path w="10819003" h="4480687">
                  <a:moveTo>
                    <a:pt x="0" y="0"/>
                  </a:moveTo>
                  <a:lnTo>
                    <a:pt x="10819003" y="0"/>
                  </a:lnTo>
                  <a:lnTo>
                    <a:pt x="10819003" y="4480687"/>
                  </a:lnTo>
                  <a:lnTo>
                    <a:pt x="0" y="4480687"/>
                  </a:lnTo>
                  <a:lnTo>
                    <a:pt x="0" y="0"/>
                  </a:lnTo>
                  <a:close/>
                </a:path>
              </a:pathLst>
            </a:custGeom>
            <a:blipFill>
              <a:blip r:embed="rId12"/>
              <a:stretch>
                <a:fillRect t="-7701" b="-7702"/>
              </a:stretch>
            </a:blipFill>
          </p:spPr>
          <p:txBody>
            <a:bodyPr/>
            <a:lstStyle/>
            <a:p>
              <a:endParaRPr lang="vi-VN"/>
            </a:p>
          </p:txBody>
        </p:sp>
      </p:grpSp>
      <p:grpSp>
        <p:nvGrpSpPr>
          <p:cNvPr id="41" name="Group 41"/>
          <p:cNvGrpSpPr/>
          <p:nvPr/>
        </p:nvGrpSpPr>
        <p:grpSpPr>
          <a:xfrm>
            <a:off x="9873672" y="6668643"/>
            <a:ext cx="8114290" cy="3360544"/>
            <a:chOff x="0" y="0"/>
            <a:chExt cx="10819054" cy="4480725"/>
          </a:xfrm>
        </p:grpSpPr>
        <p:sp>
          <p:nvSpPr>
            <p:cNvPr id="42" name="Freeform 42"/>
            <p:cNvSpPr/>
            <p:nvPr/>
          </p:nvSpPr>
          <p:spPr>
            <a:xfrm>
              <a:off x="0" y="0"/>
              <a:ext cx="10819003" cy="4480687"/>
            </a:xfrm>
            <a:custGeom>
              <a:avLst/>
              <a:gdLst/>
              <a:ahLst/>
              <a:cxnLst/>
              <a:rect l="l" t="t" r="r" b="b"/>
              <a:pathLst>
                <a:path w="10819003" h="4480687">
                  <a:moveTo>
                    <a:pt x="0" y="0"/>
                  </a:moveTo>
                  <a:lnTo>
                    <a:pt x="10819003" y="0"/>
                  </a:lnTo>
                  <a:lnTo>
                    <a:pt x="10819003" y="4480687"/>
                  </a:lnTo>
                  <a:lnTo>
                    <a:pt x="0" y="4480687"/>
                  </a:lnTo>
                  <a:lnTo>
                    <a:pt x="0" y="0"/>
                  </a:lnTo>
                  <a:close/>
                </a:path>
              </a:pathLst>
            </a:custGeom>
            <a:blipFill>
              <a:blip r:embed="rId13"/>
              <a:stretch>
                <a:fillRect t="-6979" b="-6979"/>
              </a:stretch>
            </a:blipFill>
          </p:spPr>
          <p:txBody>
            <a:bodyPr/>
            <a:lstStyle/>
            <a:p>
              <a:endParaRPr lang="vi-VN"/>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91440" y="-2287991"/>
            <a:ext cx="18105120" cy="527771"/>
          </a:xfrm>
          <a:prstGeom prst="rect">
            <a:avLst/>
          </a:prstGeom>
        </p:spPr>
        <p:txBody>
          <a:bodyPr lIns="0" tIns="0" rIns="0" bIns="0" rtlCol="0" anchor="t">
            <a:spAutoFit/>
          </a:bodyPr>
          <a:lstStyle/>
          <a:p>
            <a:pPr algn="ctr">
              <a:lnSpc>
                <a:spcPts val="3600"/>
              </a:lnSpc>
            </a:pPr>
            <a:r>
              <a:rPr lang="en-US" sz="3000">
                <a:solidFill>
                  <a:srgbClr val="C3C3C3"/>
                </a:solidFill>
                <a:latin typeface="Arial"/>
                <a:ea typeface="Arial"/>
                <a:cs typeface="Arial"/>
                <a:sym typeface="Arial"/>
              </a:rPr>
              <a:t>www.9slide.vn</a:t>
            </a:r>
          </a:p>
        </p:txBody>
      </p:sp>
      <p:grpSp>
        <p:nvGrpSpPr>
          <p:cNvPr id="3" name="Group 3"/>
          <p:cNvGrpSpPr/>
          <p:nvPr/>
        </p:nvGrpSpPr>
        <p:grpSpPr>
          <a:xfrm>
            <a:off x="0" y="2124"/>
            <a:ext cx="18291715" cy="10295487"/>
            <a:chOff x="0" y="0"/>
            <a:chExt cx="24388953" cy="13727316"/>
          </a:xfrm>
        </p:grpSpPr>
        <p:sp>
          <p:nvSpPr>
            <p:cNvPr id="4" name="Freeform 4"/>
            <p:cNvSpPr/>
            <p:nvPr/>
          </p:nvSpPr>
          <p:spPr>
            <a:xfrm>
              <a:off x="0" y="0"/>
              <a:ext cx="24388953" cy="13727303"/>
            </a:xfrm>
            <a:custGeom>
              <a:avLst/>
              <a:gdLst/>
              <a:ahLst/>
              <a:cxnLst/>
              <a:rect l="l" t="t" r="r" b="b"/>
              <a:pathLst>
                <a:path w="24388953" h="1372730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txBody>
            <a:bodyPr/>
            <a:lstStyle/>
            <a:p>
              <a:endParaRPr lang="vi-VN"/>
            </a:p>
          </p:txBody>
        </p:sp>
      </p:grpSp>
      <p:grpSp>
        <p:nvGrpSpPr>
          <p:cNvPr id="5" name="Group 5"/>
          <p:cNvGrpSpPr/>
          <p:nvPr/>
        </p:nvGrpSpPr>
        <p:grpSpPr>
          <a:xfrm rot="5400000">
            <a:off x="8668474" y="-8670065"/>
            <a:ext cx="947328" cy="18291715"/>
            <a:chOff x="0" y="0"/>
            <a:chExt cx="1263104" cy="24388953"/>
          </a:xfrm>
        </p:grpSpPr>
        <p:sp>
          <p:nvSpPr>
            <p:cNvPr id="6" name="Freeform 6"/>
            <p:cNvSpPr/>
            <p:nvPr/>
          </p:nvSpPr>
          <p:spPr>
            <a:xfrm>
              <a:off x="0" y="0"/>
              <a:ext cx="1263142" cy="24388953"/>
            </a:xfrm>
            <a:custGeom>
              <a:avLst/>
              <a:gdLst/>
              <a:ahLst/>
              <a:cxnLst/>
              <a:rect l="l" t="t" r="r" b="b"/>
              <a:pathLst>
                <a:path w="1263142" h="24388953">
                  <a:moveTo>
                    <a:pt x="0" y="0"/>
                  </a:moveTo>
                  <a:lnTo>
                    <a:pt x="1263142" y="0"/>
                  </a:lnTo>
                  <a:lnTo>
                    <a:pt x="1263142" y="24388953"/>
                  </a:lnTo>
                  <a:lnTo>
                    <a:pt x="0" y="24388953"/>
                  </a:lnTo>
                  <a:close/>
                </a:path>
              </a:pathLst>
            </a:custGeom>
            <a:gradFill rotWithShape="1">
              <a:gsLst>
                <a:gs pos="0">
                  <a:srgbClr val="10CD57">
                    <a:alpha val="100000"/>
                  </a:srgbClr>
                </a:gs>
                <a:gs pos="100000">
                  <a:srgbClr val="027159">
                    <a:alpha val="100000"/>
                  </a:srgbClr>
                </a:gs>
              </a:gsLst>
              <a:lin ang="0"/>
            </a:gradFill>
          </p:spPr>
          <p:txBody>
            <a:bodyPr/>
            <a:lstStyle/>
            <a:p>
              <a:endParaRPr lang="vi-VN"/>
            </a:p>
          </p:txBody>
        </p:sp>
      </p:grpSp>
      <p:grpSp>
        <p:nvGrpSpPr>
          <p:cNvPr id="7" name="Group 7"/>
          <p:cNvGrpSpPr/>
          <p:nvPr/>
        </p:nvGrpSpPr>
        <p:grpSpPr>
          <a:xfrm rot="5400000">
            <a:off x="8670331" y="-8672198"/>
            <a:ext cx="947328" cy="18291715"/>
            <a:chOff x="0" y="0"/>
            <a:chExt cx="1263104" cy="24388953"/>
          </a:xfrm>
        </p:grpSpPr>
        <p:sp>
          <p:nvSpPr>
            <p:cNvPr id="8" name="Freeform 8"/>
            <p:cNvSpPr/>
            <p:nvPr/>
          </p:nvSpPr>
          <p:spPr>
            <a:xfrm flipV="1">
              <a:off x="0" y="0"/>
              <a:ext cx="1263142" cy="24388953"/>
            </a:xfrm>
            <a:custGeom>
              <a:avLst/>
              <a:gdLst/>
              <a:ahLst/>
              <a:cxnLst/>
              <a:rect l="l" t="t" r="r" b="b"/>
              <a:pathLst>
                <a:path w="1263142" h="24388953">
                  <a:moveTo>
                    <a:pt x="0" y="0"/>
                  </a:moveTo>
                  <a:lnTo>
                    <a:pt x="1263142" y="0"/>
                  </a:lnTo>
                  <a:lnTo>
                    <a:pt x="1263142" y="24388953"/>
                  </a:lnTo>
                  <a:lnTo>
                    <a:pt x="0" y="24388953"/>
                  </a:lnTo>
                  <a:close/>
                </a:path>
              </a:pathLst>
            </a:custGeom>
            <a:blipFill>
              <a:blip r:embed="rId3"/>
              <a:stretch>
                <a:fillRect l="-35093" r="-35090"/>
              </a:stretch>
            </a:blipFill>
          </p:spPr>
          <p:txBody>
            <a:bodyPr/>
            <a:lstStyle/>
            <a:p>
              <a:endParaRPr lang="vi-VN"/>
            </a:p>
          </p:txBody>
        </p:sp>
      </p:grpSp>
      <p:sp>
        <p:nvSpPr>
          <p:cNvPr id="9" name="TextBox 9"/>
          <p:cNvSpPr txBox="1"/>
          <p:nvPr/>
        </p:nvSpPr>
        <p:spPr>
          <a:xfrm>
            <a:off x="451866" y="248326"/>
            <a:ext cx="10947559" cy="424158"/>
          </a:xfrm>
          <a:prstGeom prst="rect">
            <a:avLst/>
          </a:prstGeom>
        </p:spPr>
        <p:txBody>
          <a:bodyPr lIns="0" tIns="0" rIns="0" bIns="0" rtlCol="0" anchor="t">
            <a:spAutoFit/>
          </a:bodyPr>
          <a:lstStyle/>
          <a:p>
            <a:pPr algn="l">
              <a:lnSpc>
                <a:spcPts val="2879"/>
              </a:lnSpc>
            </a:pPr>
            <a:r>
              <a:rPr lang="en-US" sz="2400" b="1">
                <a:solidFill>
                  <a:srgbClr val="FFFFFF"/>
                </a:solidFill>
                <a:latin typeface="Arial Bold"/>
                <a:ea typeface="Arial Bold"/>
                <a:cs typeface="Arial Bold"/>
                <a:sym typeface="Arial Bold"/>
              </a:rPr>
              <a:t>FACULTY OF COMPUTER ENGINEERING</a:t>
            </a:r>
          </a:p>
        </p:txBody>
      </p:sp>
      <p:grpSp>
        <p:nvGrpSpPr>
          <p:cNvPr id="10" name="Group 10"/>
          <p:cNvGrpSpPr/>
          <p:nvPr/>
        </p:nvGrpSpPr>
        <p:grpSpPr>
          <a:xfrm>
            <a:off x="6719973" y="457933"/>
            <a:ext cx="4848044" cy="957948"/>
            <a:chOff x="0" y="0"/>
            <a:chExt cx="6464059" cy="1277264"/>
          </a:xfrm>
        </p:grpSpPr>
        <p:sp>
          <p:nvSpPr>
            <p:cNvPr id="11" name="Freeform 11"/>
            <p:cNvSpPr/>
            <p:nvPr/>
          </p:nvSpPr>
          <p:spPr>
            <a:xfrm>
              <a:off x="0" y="0"/>
              <a:ext cx="6464173" cy="1277366"/>
            </a:xfrm>
            <a:custGeom>
              <a:avLst/>
              <a:gdLst/>
              <a:ahLst/>
              <a:cxnLst/>
              <a:rect l="l" t="t" r="r" b="b"/>
              <a:pathLst>
                <a:path w="6464173" h="1277366">
                  <a:moveTo>
                    <a:pt x="0" y="638683"/>
                  </a:moveTo>
                  <a:cubicBezTo>
                    <a:pt x="0" y="285877"/>
                    <a:pt x="285877" y="0"/>
                    <a:pt x="638683" y="0"/>
                  </a:cubicBezTo>
                  <a:lnTo>
                    <a:pt x="5825490" y="0"/>
                  </a:lnTo>
                  <a:cubicBezTo>
                    <a:pt x="6178169" y="0"/>
                    <a:pt x="6464173" y="285877"/>
                    <a:pt x="6464173" y="638683"/>
                  </a:cubicBezTo>
                  <a:cubicBezTo>
                    <a:pt x="6464173" y="991489"/>
                    <a:pt x="6178296" y="1277366"/>
                    <a:pt x="5825490" y="1277366"/>
                  </a:cubicBezTo>
                  <a:lnTo>
                    <a:pt x="638683" y="1277366"/>
                  </a:lnTo>
                  <a:cubicBezTo>
                    <a:pt x="285877" y="1277239"/>
                    <a:pt x="0" y="991362"/>
                    <a:pt x="0" y="638683"/>
                  </a:cubicBezTo>
                  <a:close/>
                </a:path>
              </a:pathLst>
            </a:custGeom>
            <a:gradFill rotWithShape="1">
              <a:gsLst>
                <a:gs pos="0">
                  <a:srgbClr val="38EF7D">
                    <a:alpha val="100000"/>
                  </a:srgbClr>
                </a:gs>
                <a:gs pos="100000">
                  <a:srgbClr val="752AFF">
                    <a:alpha val="100000"/>
                  </a:srgbClr>
                </a:gs>
              </a:gsLst>
              <a:lin ang="4729360"/>
            </a:gradFill>
          </p:spPr>
          <p:txBody>
            <a:bodyPr/>
            <a:lstStyle/>
            <a:p>
              <a:endParaRPr lang="vi-VN"/>
            </a:p>
          </p:txBody>
        </p:sp>
      </p:grpSp>
      <p:grpSp>
        <p:nvGrpSpPr>
          <p:cNvPr id="12" name="Group 12"/>
          <p:cNvGrpSpPr/>
          <p:nvPr/>
        </p:nvGrpSpPr>
        <p:grpSpPr>
          <a:xfrm>
            <a:off x="6807460" y="535962"/>
            <a:ext cx="4673079" cy="801872"/>
            <a:chOff x="0" y="0"/>
            <a:chExt cx="6230772" cy="1069162"/>
          </a:xfrm>
        </p:grpSpPr>
        <p:sp>
          <p:nvSpPr>
            <p:cNvPr id="13" name="Freeform 13"/>
            <p:cNvSpPr/>
            <p:nvPr/>
          </p:nvSpPr>
          <p:spPr>
            <a:xfrm>
              <a:off x="0" y="0"/>
              <a:ext cx="6230747" cy="1069086"/>
            </a:xfrm>
            <a:custGeom>
              <a:avLst/>
              <a:gdLst/>
              <a:ahLst/>
              <a:cxnLst/>
              <a:rect l="l" t="t" r="r" b="b"/>
              <a:pathLst>
                <a:path w="6230747" h="1069086">
                  <a:moveTo>
                    <a:pt x="0" y="534543"/>
                  </a:moveTo>
                  <a:cubicBezTo>
                    <a:pt x="0" y="239395"/>
                    <a:pt x="239395" y="0"/>
                    <a:pt x="534543" y="0"/>
                  </a:cubicBezTo>
                  <a:lnTo>
                    <a:pt x="5696204" y="0"/>
                  </a:lnTo>
                  <a:cubicBezTo>
                    <a:pt x="5991479" y="0"/>
                    <a:pt x="6230747" y="239395"/>
                    <a:pt x="6230747" y="534543"/>
                  </a:cubicBezTo>
                  <a:cubicBezTo>
                    <a:pt x="6230747" y="829691"/>
                    <a:pt x="5991352" y="1069086"/>
                    <a:pt x="5696204" y="1069086"/>
                  </a:cubicBezTo>
                  <a:lnTo>
                    <a:pt x="534543" y="1069086"/>
                  </a:lnTo>
                  <a:cubicBezTo>
                    <a:pt x="239395" y="1069213"/>
                    <a:pt x="0" y="829818"/>
                    <a:pt x="0" y="534543"/>
                  </a:cubicBezTo>
                  <a:close/>
                </a:path>
              </a:pathLst>
            </a:custGeom>
            <a:solidFill>
              <a:srgbClr val="FFFFFF"/>
            </a:solidFill>
          </p:spPr>
          <p:txBody>
            <a:bodyPr/>
            <a:lstStyle/>
            <a:p>
              <a:endParaRPr lang="vi-VN"/>
            </a:p>
          </p:txBody>
        </p:sp>
      </p:grpSp>
      <p:grpSp>
        <p:nvGrpSpPr>
          <p:cNvPr id="14" name="Group 14"/>
          <p:cNvGrpSpPr/>
          <p:nvPr/>
        </p:nvGrpSpPr>
        <p:grpSpPr>
          <a:xfrm>
            <a:off x="9436446" y="362541"/>
            <a:ext cx="1163307" cy="1152592"/>
            <a:chOff x="0" y="0"/>
            <a:chExt cx="1551076" cy="1536789"/>
          </a:xfrm>
        </p:grpSpPr>
        <p:sp>
          <p:nvSpPr>
            <p:cNvPr id="15" name="Freeform 15" descr="Icon  Description automatically generated with medium confidence"/>
            <p:cNvSpPr/>
            <p:nvPr/>
          </p:nvSpPr>
          <p:spPr>
            <a:xfrm>
              <a:off x="0" y="0"/>
              <a:ext cx="1551051" cy="1536827"/>
            </a:xfrm>
            <a:custGeom>
              <a:avLst/>
              <a:gdLst/>
              <a:ahLst/>
              <a:cxnLst/>
              <a:rect l="l" t="t" r="r" b="b"/>
              <a:pathLst>
                <a:path w="1551051" h="1536827">
                  <a:moveTo>
                    <a:pt x="0" y="0"/>
                  </a:moveTo>
                  <a:lnTo>
                    <a:pt x="1551051" y="0"/>
                  </a:lnTo>
                  <a:lnTo>
                    <a:pt x="1551051" y="1536827"/>
                  </a:lnTo>
                  <a:lnTo>
                    <a:pt x="0" y="1536827"/>
                  </a:lnTo>
                  <a:lnTo>
                    <a:pt x="0" y="0"/>
                  </a:lnTo>
                  <a:close/>
                </a:path>
              </a:pathLst>
            </a:custGeom>
            <a:blipFill>
              <a:blip r:embed="rId4"/>
              <a:stretch>
                <a:fillRect l="-75" r="-76" b="2"/>
              </a:stretch>
            </a:blipFill>
          </p:spPr>
          <p:txBody>
            <a:bodyPr/>
            <a:lstStyle/>
            <a:p>
              <a:endParaRPr lang="vi-VN"/>
            </a:p>
          </p:txBody>
        </p:sp>
      </p:grpSp>
      <p:grpSp>
        <p:nvGrpSpPr>
          <p:cNvPr id="16" name="Group 16"/>
          <p:cNvGrpSpPr/>
          <p:nvPr/>
        </p:nvGrpSpPr>
        <p:grpSpPr>
          <a:xfrm>
            <a:off x="7688247" y="398078"/>
            <a:ext cx="1307516" cy="1081516"/>
            <a:chOff x="0" y="0"/>
            <a:chExt cx="1743354" cy="1442022"/>
          </a:xfrm>
        </p:grpSpPr>
        <p:sp>
          <p:nvSpPr>
            <p:cNvPr id="17" name="Freeform 17" descr="A picture containing clipart, vector graphics  Description automatically generated"/>
            <p:cNvSpPr/>
            <p:nvPr/>
          </p:nvSpPr>
          <p:spPr>
            <a:xfrm>
              <a:off x="0" y="0"/>
              <a:ext cx="1743329" cy="1442085"/>
            </a:xfrm>
            <a:custGeom>
              <a:avLst/>
              <a:gdLst/>
              <a:ahLst/>
              <a:cxnLst/>
              <a:rect l="l" t="t" r="r" b="b"/>
              <a:pathLst>
                <a:path w="1743329" h="1442085">
                  <a:moveTo>
                    <a:pt x="0" y="0"/>
                  </a:moveTo>
                  <a:lnTo>
                    <a:pt x="1743329" y="0"/>
                  </a:lnTo>
                  <a:lnTo>
                    <a:pt x="1743329" y="1442085"/>
                  </a:lnTo>
                  <a:lnTo>
                    <a:pt x="0" y="1442085"/>
                  </a:lnTo>
                  <a:lnTo>
                    <a:pt x="0" y="0"/>
                  </a:lnTo>
                  <a:close/>
                </a:path>
              </a:pathLst>
            </a:custGeom>
            <a:blipFill>
              <a:blip r:embed="rId5"/>
              <a:stretch>
                <a:fillRect t="-74" r="-1" b="-71"/>
              </a:stretch>
            </a:blipFill>
          </p:spPr>
          <p:txBody>
            <a:bodyPr/>
            <a:lstStyle/>
            <a:p>
              <a:endParaRPr lang="vi-VN"/>
            </a:p>
          </p:txBody>
        </p:sp>
      </p:grpSp>
      <p:sp>
        <p:nvSpPr>
          <p:cNvPr id="18" name="Freeform 18"/>
          <p:cNvSpPr/>
          <p:nvPr/>
        </p:nvSpPr>
        <p:spPr>
          <a:xfrm>
            <a:off x="17262338" y="9405385"/>
            <a:ext cx="819198" cy="819198"/>
          </a:xfrm>
          <a:custGeom>
            <a:avLst/>
            <a:gdLst/>
            <a:ahLst/>
            <a:cxnLst/>
            <a:rect l="l" t="t" r="r" b="b"/>
            <a:pathLst>
              <a:path w="819198" h="819198">
                <a:moveTo>
                  <a:pt x="0" y="0"/>
                </a:moveTo>
                <a:lnTo>
                  <a:pt x="819198" y="0"/>
                </a:lnTo>
                <a:lnTo>
                  <a:pt x="819198" y="819198"/>
                </a:lnTo>
                <a:lnTo>
                  <a:pt x="0" y="819198"/>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vi-VN"/>
          </a:p>
        </p:txBody>
      </p:sp>
      <p:grpSp>
        <p:nvGrpSpPr>
          <p:cNvPr id="19" name="Group 19"/>
          <p:cNvGrpSpPr/>
          <p:nvPr/>
        </p:nvGrpSpPr>
        <p:grpSpPr>
          <a:xfrm>
            <a:off x="0" y="2124"/>
            <a:ext cx="18291715" cy="10295487"/>
            <a:chOff x="0" y="0"/>
            <a:chExt cx="24388953" cy="13727316"/>
          </a:xfrm>
        </p:grpSpPr>
        <p:sp>
          <p:nvSpPr>
            <p:cNvPr id="20" name="Freeform 20"/>
            <p:cNvSpPr/>
            <p:nvPr/>
          </p:nvSpPr>
          <p:spPr>
            <a:xfrm>
              <a:off x="0" y="0"/>
              <a:ext cx="24388953" cy="13727303"/>
            </a:xfrm>
            <a:custGeom>
              <a:avLst/>
              <a:gdLst/>
              <a:ahLst/>
              <a:cxnLst/>
              <a:rect l="l" t="t" r="r" b="b"/>
              <a:pathLst>
                <a:path w="24388953" h="1372730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txBody>
            <a:bodyPr/>
            <a:lstStyle/>
            <a:p>
              <a:endParaRPr lang="vi-VN"/>
            </a:p>
          </p:txBody>
        </p:sp>
      </p:grpSp>
      <p:grpSp>
        <p:nvGrpSpPr>
          <p:cNvPr id="21" name="Group 21"/>
          <p:cNvGrpSpPr/>
          <p:nvPr/>
        </p:nvGrpSpPr>
        <p:grpSpPr>
          <a:xfrm>
            <a:off x="908999" y="1555147"/>
            <a:ext cx="16470001" cy="1335996"/>
            <a:chOff x="0" y="0"/>
            <a:chExt cx="21960002" cy="1781327"/>
          </a:xfrm>
        </p:grpSpPr>
        <p:sp>
          <p:nvSpPr>
            <p:cNvPr id="22" name="Freeform 22"/>
            <p:cNvSpPr/>
            <p:nvPr/>
          </p:nvSpPr>
          <p:spPr>
            <a:xfrm>
              <a:off x="0" y="0"/>
              <a:ext cx="21960001" cy="1781326"/>
            </a:xfrm>
            <a:custGeom>
              <a:avLst/>
              <a:gdLst/>
              <a:ahLst/>
              <a:cxnLst/>
              <a:rect l="l" t="t" r="r" b="b"/>
              <a:pathLst>
                <a:path w="21960001" h="1781326">
                  <a:moveTo>
                    <a:pt x="0" y="0"/>
                  </a:moveTo>
                  <a:lnTo>
                    <a:pt x="21960001" y="0"/>
                  </a:lnTo>
                  <a:lnTo>
                    <a:pt x="21960001" y="1781326"/>
                  </a:lnTo>
                  <a:lnTo>
                    <a:pt x="0" y="1781326"/>
                  </a:lnTo>
                  <a:close/>
                </a:path>
              </a:pathLst>
            </a:custGeom>
            <a:blipFill>
              <a:blip r:embed="rId7">
                <a:alphaModFix amt="0"/>
              </a:blip>
              <a:stretch>
                <a:fillRect t="-190209" b="-190209"/>
              </a:stretch>
            </a:blipFill>
          </p:spPr>
          <p:txBody>
            <a:bodyPr/>
            <a:lstStyle/>
            <a:p>
              <a:endParaRPr lang="vi-VN"/>
            </a:p>
          </p:txBody>
        </p:sp>
        <p:sp>
          <p:nvSpPr>
            <p:cNvPr id="23" name="TextBox 23"/>
            <p:cNvSpPr txBox="1"/>
            <p:nvPr/>
          </p:nvSpPr>
          <p:spPr>
            <a:xfrm>
              <a:off x="0" y="38100"/>
              <a:ext cx="21960002" cy="1743227"/>
            </a:xfrm>
            <a:prstGeom prst="rect">
              <a:avLst/>
            </a:prstGeom>
          </p:spPr>
          <p:txBody>
            <a:bodyPr lIns="0" tIns="0" rIns="0" bIns="0" rtlCol="0" anchor="ctr"/>
            <a:lstStyle/>
            <a:p>
              <a:pPr algn="l">
                <a:lnSpc>
                  <a:spcPts val="7128"/>
                </a:lnSpc>
              </a:pPr>
              <a:r>
                <a:rPr lang="en-US" sz="6600" b="1">
                  <a:gradFill>
                    <a:gsLst>
                      <a:gs pos="0">
                        <a:srgbClr val="027159">
                          <a:alpha val="100000"/>
                        </a:srgbClr>
                      </a:gs>
                      <a:gs pos="100000">
                        <a:srgbClr val="10CD57">
                          <a:alpha val="100000"/>
                        </a:srgbClr>
                      </a:gs>
                    </a:gsLst>
                    <a:lin ang="16200000"/>
                  </a:gradFill>
                  <a:latin typeface="Times New Roman Bold"/>
                  <a:ea typeface="Times New Roman Bold"/>
                  <a:cs typeface="Times New Roman Bold"/>
                  <a:sym typeface="Times New Roman Bold"/>
                </a:rPr>
                <a:t>3. Kết quả của giải pháp đề xuất</a:t>
              </a:r>
            </a:p>
          </p:txBody>
        </p:sp>
      </p:grpSp>
      <p:grpSp>
        <p:nvGrpSpPr>
          <p:cNvPr id="24" name="Group 24"/>
          <p:cNvGrpSpPr/>
          <p:nvPr/>
        </p:nvGrpSpPr>
        <p:grpSpPr>
          <a:xfrm>
            <a:off x="15634421" y="9534525"/>
            <a:ext cx="4114800" cy="547688"/>
            <a:chOff x="0" y="0"/>
            <a:chExt cx="5486400" cy="730250"/>
          </a:xfrm>
        </p:grpSpPr>
        <p:sp>
          <p:nvSpPr>
            <p:cNvPr id="25" name="Freeform 25"/>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blipFill>
              <a:blip r:embed="rId7">
                <a:alphaModFix amt="0"/>
              </a:blip>
              <a:stretch>
                <a:fillRect t="-96391" b="-96391"/>
              </a:stretch>
            </a:blipFill>
          </p:spPr>
          <p:txBody>
            <a:bodyPr/>
            <a:lstStyle/>
            <a:p>
              <a:endParaRPr lang="vi-VN"/>
            </a:p>
          </p:txBody>
        </p:sp>
        <p:sp>
          <p:nvSpPr>
            <p:cNvPr id="26" name="TextBox 26"/>
            <p:cNvSpPr txBox="1"/>
            <p:nvPr/>
          </p:nvSpPr>
          <p:spPr>
            <a:xfrm>
              <a:off x="0" y="-19050"/>
              <a:ext cx="5486400" cy="749300"/>
            </a:xfrm>
            <a:prstGeom prst="rect">
              <a:avLst/>
            </a:prstGeom>
          </p:spPr>
          <p:txBody>
            <a:bodyPr lIns="0" tIns="0" rIns="0" bIns="0" rtlCol="0" anchor="ctr"/>
            <a:lstStyle/>
            <a:p>
              <a:pPr algn="ctr">
                <a:lnSpc>
                  <a:spcPts val="2160"/>
                </a:lnSpc>
              </a:pPr>
              <a:r>
                <a:rPr lang="en-US" sz="1800">
                  <a:solidFill>
                    <a:srgbClr val="FFFFFF"/>
                  </a:solidFill>
                  <a:latin typeface="Arial"/>
                  <a:ea typeface="Arial"/>
                  <a:cs typeface="Arial"/>
                  <a:sym typeface="Arial"/>
                </a:rPr>
                <a:t>13</a:t>
              </a:r>
            </a:p>
          </p:txBody>
        </p:sp>
      </p:grpSp>
      <p:sp>
        <p:nvSpPr>
          <p:cNvPr id="27" name="TextBox 27"/>
          <p:cNvSpPr txBox="1"/>
          <p:nvPr/>
        </p:nvSpPr>
        <p:spPr>
          <a:xfrm>
            <a:off x="1236869" y="2785986"/>
            <a:ext cx="1512160" cy="611562"/>
          </a:xfrm>
          <a:prstGeom prst="rect">
            <a:avLst/>
          </a:prstGeom>
        </p:spPr>
        <p:txBody>
          <a:bodyPr lIns="0" tIns="0" rIns="0" bIns="0" rtlCol="0" anchor="t">
            <a:spAutoFit/>
          </a:bodyPr>
          <a:lstStyle/>
          <a:p>
            <a:pPr marL="542925" lvl="1" indent="-271462" algn="just">
              <a:lnSpc>
                <a:spcPts val="4140"/>
              </a:lnSpc>
              <a:buFont typeface="Arial"/>
              <a:buChar char="•"/>
            </a:pPr>
            <a:r>
              <a:rPr lang="en-US" sz="3000" b="1">
                <a:solidFill>
                  <a:srgbClr val="000000"/>
                </a:solidFill>
                <a:latin typeface="Times New Roman Bold"/>
                <a:ea typeface="Times New Roman Bold"/>
                <a:cs typeface="Times New Roman Bold"/>
                <a:sym typeface="Times New Roman Bold"/>
              </a:rPr>
              <a:t>CPU</a:t>
            </a:r>
          </a:p>
        </p:txBody>
      </p:sp>
      <p:sp>
        <p:nvSpPr>
          <p:cNvPr id="28" name="TextBox 28"/>
          <p:cNvSpPr txBox="1"/>
          <p:nvPr/>
        </p:nvSpPr>
        <p:spPr>
          <a:xfrm>
            <a:off x="9833696" y="2803989"/>
            <a:ext cx="9729607" cy="550974"/>
          </a:xfrm>
          <a:prstGeom prst="rect">
            <a:avLst/>
          </a:prstGeom>
        </p:spPr>
        <p:txBody>
          <a:bodyPr lIns="0" tIns="0" rIns="0" bIns="0" rtlCol="0" anchor="t">
            <a:spAutoFit/>
          </a:bodyPr>
          <a:lstStyle/>
          <a:p>
            <a:pPr marL="488632" lvl="1" indent="-244316" algn="just">
              <a:lnSpc>
                <a:spcPts val="3726"/>
              </a:lnSpc>
              <a:buFont typeface="Arial"/>
              <a:buChar char="•"/>
            </a:pPr>
            <a:r>
              <a:rPr lang="en-US" sz="2700" b="1">
                <a:solidFill>
                  <a:srgbClr val="000000"/>
                </a:solidFill>
                <a:latin typeface="Times New Roman Bold"/>
                <a:ea typeface="Times New Roman Bold"/>
                <a:cs typeface="Times New Roman Bold"/>
                <a:sym typeface="Times New Roman Bold"/>
              </a:rPr>
              <a:t> FPU</a:t>
            </a:r>
          </a:p>
        </p:txBody>
      </p:sp>
      <p:grpSp>
        <p:nvGrpSpPr>
          <p:cNvPr id="29" name="Group 29"/>
          <p:cNvGrpSpPr/>
          <p:nvPr/>
        </p:nvGrpSpPr>
        <p:grpSpPr>
          <a:xfrm>
            <a:off x="734739" y="3539900"/>
            <a:ext cx="8102536" cy="5315693"/>
            <a:chOff x="0" y="0"/>
            <a:chExt cx="10803382" cy="7087591"/>
          </a:xfrm>
        </p:grpSpPr>
        <p:sp>
          <p:nvSpPr>
            <p:cNvPr id="30" name="Freeform 30"/>
            <p:cNvSpPr/>
            <p:nvPr/>
          </p:nvSpPr>
          <p:spPr>
            <a:xfrm>
              <a:off x="0" y="0"/>
              <a:ext cx="10803382" cy="7087616"/>
            </a:xfrm>
            <a:custGeom>
              <a:avLst/>
              <a:gdLst/>
              <a:ahLst/>
              <a:cxnLst/>
              <a:rect l="l" t="t" r="r" b="b"/>
              <a:pathLst>
                <a:path w="10803382" h="7087616">
                  <a:moveTo>
                    <a:pt x="0" y="0"/>
                  </a:moveTo>
                  <a:lnTo>
                    <a:pt x="10803382" y="0"/>
                  </a:lnTo>
                  <a:lnTo>
                    <a:pt x="10803382" y="7087616"/>
                  </a:lnTo>
                  <a:lnTo>
                    <a:pt x="0" y="7087616"/>
                  </a:lnTo>
                  <a:lnTo>
                    <a:pt x="0" y="0"/>
                  </a:lnTo>
                  <a:close/>
                </a:path>
              </a:pathLst>
            </a:custGeom>
            <a:blipFill>
              <a:blip r:embed="rId8"/>
              <a:stretch>
                <a:fillRect l="-7913" r="-7913"/>
              </a:stretch>
            </a:blipFill>
          </p:spPr>
          <p:txBody>
            <a:bodyPr/>
            <a:lstStyle/>
            <a:p>
              <a:endParaRPr lang="vi-VN"/>
            </a:p>
          </p:txBody>
        </p:sp>
      </p:grpSp>
      <p:grpSp>
        <p:nvGrpSpPr>
          <p:cNvPr id="31" name="Group 31"/>
          <p:cNvGrpSpPr/>
          <p:nvPr/>
        </p:nvGrpSpPr>
        <p:grpSpPr>
          <a:xfrm>
            <a:off x="9859289" y="3539890"/>
            <a:ext cx="8102527" cy="5315693"/>
            <a:chOff x="0" y="0"/>
            <a:chExt cx="10803369" cy="7087591"/>
          </a:xfrm>
        </p:grpSpPr>
        <p:sp>
          <p:nvSpPr>
            <p:cNvPr id="32" name="Freeform 32"/>
            <p:cNvSpPr/>
            <p:nvPr/>
          </p:nvSpPr>
          <p:spPr>
            <a:xfrm>
              <a:off x="0" y="0"/>
              <a:ext cx="10803382" cy="7087616"/>
            </a:xfrm>
            <a:custGeom>
              <a:avLst/>
              <a:gdLst/>
              <a:ahLst/>
              <a:cxnLst/>
              <a:rect l="l" t="t" r="r" b="b"/>
              <a:pathLst>
                <a:path w="10803382" h="7087616">
                  <a:moveTo>
                    <a:pt x="0" y="0"/>
                  </a:moveTo>
                  <a:lnTo>
                    <a:pt x="10803382" y="0"/>
                  </a:lnTo>
                  <a:lnTo>
                    <a:pt x="10803382" y="7087616"/>
                  </a:lnTo>
                  <a:lnTo>
                    <a:pt x="0" y="7087616"/>
                  </a:lnTo>
                  <a:lnTo>
                    <a:pt x="0" y="0"/>
                  </a:lnTo>
                  <a:close/>
                </a:path>
              </a:pathLst>
            </a:custGeom>
            <a:blipFill>
              <a:blip r:embed="rId9"/>
              <a:stretch>
                <a:fillRect t="-7209" b="-7209"/>
              </a:stretch>
            </a:blipFill>
          </p:spPr>
          <p:txBody>
            <a:bodyPr/>
            <a:lstStyle/>
            <a:p>
              <a:endParaRPr lang="vi-VN"/>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91440" y="-2287991"/>
            <a:ext cx="18105120" cy="527771"/>
          </a:xfrm>
          <a:prstGeom prst="rect">
            <a:avLst/>
          </a:prstGeom>
        </p:spPr>
        <p:txBody>
          <a:bodyPr lIns="0" tIns="0" rIns="0" bIns="0" rtlCol="0" anchor="t">
            <a:spAutoFit/>
          </a:bodyPr>
          <a:lstStyle/>
          <a:p>
            <a:pPr algn="ctr">
              <a:lnSpc>
                <a:spcPts val="3600"/>
              </a:lnSpc>
            </a:pPr>
            <a:r>
              <a:rPr lang="en-US" sz="3000">
                <a:solidFill>
                  <a:srgbClr val="C3C3C3"/>
                </a:solidFill>
                <a:latin typeface="Arial"/>
                <a:ea typeface="Arial"/>
                <a:cs typeface="Arial"/>
                <a:sym typeface="Arial"/>
              </a:rPr>
              <a:t>www.9slide.vn</a:t>
            </a:r>
          </a:p>
        </p:txBody>
      </p:sp>
      <p:grpSp>
        <p:nvGrpSpPr>
          <p:cNvPr id="3" name="Group 3"/>
          <p:cNvGrpSpPr/>
          <p:nvPr/>
        </p:nvGrpSpPr>
        <p:grpSpPr>
          <a:xfrm>
            <a:off x="0" y="2124"/>
            <a:ext cx="18291715" cy="10295487"/>
            <a:chOff x="0" y="0"/>
            <a:chExt cx="24388953" cy="13727316"/>
          </a:xfrm>
        </p:grpSpPr>
        <p:sp>
          <p:nvSpPr>
            <p:cNvPr id="4" name="Freeform 4"/>
            <p:cNvSpPr/>
            <p:nvPr/>
          </p:nvSpPr>
          <p:spPr>
            <a:xfrm>
              <a:off x="0" y="0"/>
              <a:ext cx="24388953" cy="13727303"/>
            </a:xfrm>
            <a:custGeom>
              <a:avLst/>
              <a:gdLst/>
              <a:ahLst/>
              <a:cxnLst/>
              <a:rect l="l" t="t" r="r" b="b"/>
              <a:pathLst>
                <a:path w="24388953" h="1372730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txBody>
            <a:bodyPr/>
            <a:lstStyle/>
            <a:p>
              <a:endParaRPr lang="vi-VN"/>
            </a:p>
          </p:txBody>
        </p:sp>
      </p:grpSp>
      <p:grpSp>
        <p:nvGrpSpPr>
          <p:cNvPr id="5" name="Group 5"/>
          <p:cNvGrpSpPr/>
          <p:nvPr/>
        </p:nvGrpSpPr>
        <p:grpSpPr>
          <a:xfrm rot="5400000">
            <a:off x="8668474" y="-8670065"/>
            <a:ext cx="947328" cy="18291715"/>
            <a:chOff x="0" y="0"/>
            <a:chExt cx="1263104" cy="24388953"/>
          </a:xfrm>
        </p:grpSpPr>
        <p:sp>
          <p:nvSpPr>
            <p:cNvPr id="6" name="Freeform 6"/>
            <p:cNvSpPr/>
            <p:nvPr/>
          </p:nvSpPr>
          <p:spPr>
            <a:xfrm>
              <a:off x="0" y="0"/>
              <a:ext cx="1263142" cy="24388953"/>
            </a:xfrm>
            <a:custGeom>
              <a:avLst/>
              <a:gdLst/>
              <a:ahLst/>
              <a:cxnLst/>
              <a:rect l="l" t="t" r="r" b="b"/>
              <a:pathLst>
                <a:path w="1263142" h="24388953">
                  <a:moveTo>
                    <a:pt x="0" y="0"/>
                  </a:moveTo>
                  <a:lnTo>
                    <a:pt x="1263142" y="0"/>
                  </a:lnTo>
                  <a:lnTo>
                    <a:pt x="1263142" y="24388953"/>
                  </a:lnTo>
                  <a:lnTo>
                    <a:pt x="0" y="24388953"/>
                  </a:lnTo>
                  <a:close/>
                </a:path>
              </a:pathLst>
            </a:custGeom>
            <a:gradFill rotWithShape="1">
              <a:gsLst>
                <a:gs pos="0">
                  <a:srgbClr val="10CD57">
                    <a:alpha val="100000"/>
                  </a:srgbClr>
                </a:gs>
                <a:gs pos="100000">
                  <a:srgbClr val="027159">
                    <a:alpha val="100000"/>
                  </a:srgbClr>
                </a:gs>
              </a:gsLst>
              <a:lin ang="0"/>
            </a:gradFill>
          </p:spPr>
          <p:txBody>
            <a:bodyPr/>
            <a:lstStyle/>
            <a:p>
              <a:endParaRPr lang="vi-VN"/>
            </a:p>
          </p:txBody>
        </p:sp>
      </p:grpSp>
      <p:grpSp>
        <p:nvGrpSpPr>
          <p:cNvPr id="7" name="Group 7"/>
          <p:cNvGrpSpPr/>
          <p:nvPr/>
        </p:nvGrpSpPr>
        <p:grpSpPr>
          <a:xfrm rot="5400000">
            <a:off x="8670331" y="-8672198"/>
            <a:ext cx="947328" cy="18291715"/>
            <a:chOff x="0" y="0"/>
            <a:chExt cx="1263104" cy="24388953"/>
          </a:xfrm>
        </p:grpSpPr>
        <p:sp>
          <p:nvSpPr>
            <p:cNvPr id="8" name="Freeform 8"/>
            <p:cNvSpPr/>
            <p:nvPr/>
          </p:nvSpPr>
          <p:spPr>
            <a:xfrm flipV="1">
              <a:off x="0" y="0"/>
              <a:ext cx="1263142" cy="24388953"/>
            </a:xfrm>
            <a:custGeom>
              <a:avLst/>
              <a:gdLst/>
              <a:ahLst/>
              <a:cxnLst/>
              <a:rect l="l" t="t" r="r" b="b"/>
              <a:pathLst>
                <a:path w="1263142" h="24388953">
                  <a:moveTo>
                    <a:pt x="0" y="0"/>
                  </a:moveTo>
                  <a:lnTo>
                    <a:pt x="1263142" y="0"/>
                  </a:lnTo>
                  <a:lnTo>
                    <a:pt x="1263142" y="24388953"/>
                  </a:lnTo>
                  <a:lnTo>
                    <a:pt x="0" y="24388953"/>
                  </a:lnTo>
                  <a:close/>
                </a:path>
              </a:pathLst>
            </a:custGeom>
            <a:blipFill>
              <a:blip r:embed="rId3"/>
              <a:stretch>
                <a:fillRect l="-35093" r="-35090"/>
              </a:stretch>
            </a:blipFill>
          </p:spPr>
          <p:txBody>
            <a:bodyPr/>
            <a:lstStyle/>
            <a:p>
              <a:endParaRPr lang="vi-VN"/>
            </a:p>
          </p:txBody>
        </p:sp>
      </p:grpSp>
      <p:sp>
        <p:nvSpPr>
          <p:cNvPr id="9" name="TextBox 9"/>
          <p:cNvSpPr txBox="1"/>
          <p:nvPr/>
        </p:nvSpPr>
        <p:spPr>
          <a:xfrm>
            <a:off x="451866" y="248326"/>
            <a:ext cx="10947559" cy="424158"/>
          </a:xfrm>
          <a:prstGeom prst="rect">
            <a:avLst/>
          </a:prstGeom>
        </p:spPr>
        <p:txBody>
          <a:bodyPr lIns="0" tIns="0" rIns="0" bIns="0" rtlCol="0" anchor="t">
            <a:spAutoFit/>
          </a:bodyPr>
          <a:lstStyle/>
          <a:p>
            <a:pPr algn="l">
              <a:lnSpc>
                <a:spcPts val="2879"/>
              </a:lnSpc>
            </a:pPr>
            <a:r>
              <a:rPr lang="en-US" sz="2400" b="1">
                <a:solidFill>
                  <a:srgbClr val="FFFFFF"/>
                </a:solidFill>
                <a:latin typeface="Arial Bold"/>
                <a:ea typeface="Arial Bold"/>
                <a:cs typeface="Arial Bold"/>
                <a:sym typeface="Arial Bold"/>
              </a:rPr>
              <a:t>FACULTY OF COMPUTER ENGINEERING</a:t>
            </a:r>
          </a:p>
        </p:txBody>
      </p:sp>
      <p:grpSp>
        <p:nvGrpSpPr>
          <p:cNvPr id="10" name="Group 10"/>
          <p:cNvGrpSpPr/>
          <p:nvPr/>
        </p:nvGrpSpPr>
        <p:grpSpPr>
          <a:xfrm>
            <a:off x="6719973" y="457933"/>
            <a:ext cx="4848044" cy="957948"/>
            <a:chOff x="0" y="0"/>
            <a:chExt cx="6464059" cy="1277264"/>
          </a:xfrm>
        </p:grpSpPr>
        <p:sp>
          <p:nvSpPr>
            <p:cNvPr id="11" name="Freeform 11"/>
            <p:cNvSpPr/>
            <p:nvPr/>
          </p:nvSpPr>
          <p:spPr>
            <a:xfrm>
              <a:off x="0" y="0"/>
              <a:ext cx="6464173" cy="1277366"/>
            </a:xfrm>
            <a:custGeom>
              <a:avLst/>
              <a:gdLst/>
              <a:ahLst/>
              <a:cxnLst/>
              <a:rect l="l" t="t" r="r" b="b"/>
              <a:pathLst>
                <a:path w="6464173" h="1277366">
                  <a:moveTo>
                    <a:pt x="0" y="638683"/>
                  </a:moveTo>
                  <a:cubicBezTo>
                    <a:pt x="0" y="285877"/>
                    <a:pt x="285877" y="0"/>
                    <a:pt x="638683" y="0"/>
                  </a:cubicBezTo>
                  <a:lnTo>
                    <a:pt x="5825490" y="0"/>
                  </a:lnTo>
                  <a:cubicBezTo>
                    <a:pt x="6178169" y="0"/>
                    <a:pt x="6464173" y="285877"/>
                    <a:pt x="6464173" y="638683"/>
                  </a:cubicBezTo>
                  <a:cubicBezTo>
                    <a:pt x="6464173" y="991489"/>
                    <a:pt x="6178296" y="1277366"/>
                    <a:pt x="5825490" y="1277366"/>
                  </a:cubicBezTo>
                  <a:lnTo>
                    <a:pt x="638683" y="1277366"/>
                  </a:lnTo>
                  <a:cubicBezTo>
                    <a:pt x="285877" y="1277239"/>
                    <a:pt x="0" y="991362"/>
                    <a:pt x="0" y="638683"/>
                  </a:cubicBezTo>
                  <a:close/>
                </a:path>
              </a:pathLst>
            </a:custGeom>
            <a:gradFill rotWithShape="1">
              <a:gsLst>
                <a:gs pos="0">
                  <a:srgbClr val="38EF7D">
                    <a:alpha val="100000"/>
                  </a:srgbClr>
                </a:gs>
                <a:gs pos="100000">
                  <a:srgbClr val="752AFF">
                    <a:alpha val="100000"/>
                  </a:srgbClr>
                </a:gs>
              </a:gsLst>
              <a:lin ang="4729360"/>
            </a:gradFill>
          </p:spPr>
          <p:txBody>
            <a:bodyPr/>
            <a:lstStyle/>
            <a:p>
              <a:endParaRPr lang="vi-VN"/>
            </a:p>
          </p:txBody>
        </p:sp>
      </p:grpSp>
      <p:grpSp>
        <p:nvGrpSpPr>
          <p:cNvPr id="12" name="Group 12"/>
          <p:cNvGrpSpPr/>
          <p:nvPr/>
        </p:nvGrpSpPr>
        <p:grpSpPr>
          <a:xfrm>
            <a:off x="6807460" y="535962"/>
            <a:ext cx="4673079" cy="801872"/>
            <a:chOff x="0" y="0"/>
            <a:chExt cx="6230772" cy="1069162"/>
          </a:xfrm>
        </p:grpSpPr>
        <p:sp>
          <p:nvSpPr>
            <p:cNvPr id="13" name="Freeform 13"/>
            <p:cNvSpPr/>
            <p:nvPr/>
          </p:nvSpPr>
          <p:spPr>
            <a:xfrm>
              <a:off x="0" y="0"/>
              <a:ext cx="6230747" cy="1069086"/>
            </a:xfrm>
            <a:custGeom>
              <a:avLst/>
              <a:gdLst/>
              <a:ahLst/>
              <a:cxnLst/>
              <a:rect l="l" t="t" r="r" b="b"/>
              <a:pathLst>
                <a:path w="6230747" h="1069086">
                  <a:moveTo>
                    <a:pt x="0" y="534543"/>
                  </a:moveTo>
                  <a:cubicBezTo>
                    <a:pt x="0" y="239395"/>
                    <a:pt x="239395" y="0"/>
                    <a:pt x="534543" y="0"/>
                  </a:cubicBezTo>
                  <a:lnTo>
                    <a:pt x="5696204" y="0"/>
                  </a:lnTo>
                  <a:cubicBezTo>
                    <a:pt x="5991479" y="0"/>
                    <a:pt x="6230747" y="239395"/>
                    <a:pt x="6230747" y="534543"/>
                  </a:cubicBezTo>
                  <a:cubicBezTo>
                    <a:pt x="6230747" y="829691"/>
                    <a:pt x="5991352" y="1069086"/>
                    <a:pt x="5696204" y="1069086"/>
                  </a:cubicBezTo>
                  <a:lnTo>
                    <a:pt x="534543" y="1069086"/>
                  </a:lnTo>
                  <a:cubicBezTo>
                    <a:pt x="239395" y="1069213"/>
                    <a:pt x="0" y="829818"/>
                    <a:pt x="0" y="534543"/>
                  </a:cubicBezTo>
                  <a:close/>
                </a:path>
              </a:pathLst>
            </a:custGeom>
            <a:solidFill>
              <a:srgbClr val="FFFFFF"/>
            </a:solidFill>
          </p:spPr>
          <p:txBody>
            <a:bodyPr/>
            <a:lstStyle/>
            <a:p>
              <a:endParaRPr lang="vi-VN"/>
            </a:p>
          </p:txBody>
        </p:sp>
      </p:grpSp>
      <p:grpSp>
        <p:nvGrpSpPr>
          <p:cNvPr id="14" name="Group 14"/>
          <p:cNvGrpSpPr/>
          <p:nvPr/>
        </p:nvGrpSpPr>
        <p:grpSpPr>
          <a:xfrm>
            <a:off x="9436446" y="362541"/>
            <a:ext cx="1163307" cy="1152592"/>
            <a:chOff x="0" y="0"/>
            <a:chExt cx="1551076" cy="1536789"/>
          </a:xfrm>
        </p:grpSpPr>
        <p:sp>
          <p:nvSpPr>
            <p:cNvPr id="15" name="Freeform 15" descr="Icon  Description automatically generated with medium confidence"/>
            <p:cNvSpPr/>
            <p:nvPr/>
          </p:nvSpPr>
          <p:spPr>
            <a:xfrm>
              <a:off x="0" y="0"/>
              <a:ext cx="1551051" cy="1536827"/>
            </a:xfrm>
            <a:custGeom>
              <a:avLst/>
              <a:gdLst/>
              <a:ahLst/>
              <a:cxnLst/>
              <a:rect l="l" t="t" r="r" b="b"/>
              <a:pathLst>
                <a:path w="1551051" h="1536827">
                  <a:moveTo>
                    <a:pt x="0" y="0"/>
                  </a:moveTo>
                  <a:lnTo>
                    <a:pt x="1551051" y="0"/>
                  </a:lnTo>
                  <a:lnTo>
                    <a:pt x="1551051" y="1536827"/>
                  </a:lnTo>
                  <a:lnTo>
                    <a:pt x="0" y="1536827"/>
                  </a:lnTo>
                  <a:lnTo>
                    <a:pt x="0" y="0"/>
                  </a:lnTo>
                  <a:close/>
                </a:path>
              </a:pathLst>
            </a:custGeom>
            <a:blipFill>
              <a:blip r:embed="rId4"/>
              <a:stretch>
                <a:fillRect l="-75" r="-76" b="2"/>
              </a:stretch>
            </a:blipFill>
          </p:spPr>
          <p:txBody>
            <a:bodyPr/>
            <a:lstStyle/>
            <a:p>
              <a:endParaRPr lang="vi-VN"/>
            </a:p>
          </p:txBody>
        </p:sp>
      </p:grpSp>
      <p:grpSp>
        <p:nvGrpSpPr>
          <p:cNvPr id="16" name="Group 16"/>
          <p:cNvGrpSpPr/>
          <p:nvPr/>
        </p:nvGrpSpPr>
        <p:grpSpPr>
          <a:xfrm>
            <a:off x="7688247" y="398078"/>
            <a:ext cx="1307516" cy="1081516"/>
            <a:chOff x="0" y="0"/>
            <a:chExt cx="1743354" cy="1442022"/>
          </a:xfrm>
        </p:grpSpPr>
        <p:sp>
          <p:nvSpPr>
            <p:cNvPr id="17" name="Freeform 17" descr="A picture containing clipart, vector graphics  Description automatically generated"/>
            <p:cNvSpPr/>
            <p:nvPr/>
          </p:nvSpPr>
          <p:spPr>
            <a:xfrm>
              <a:off x="0" y="0"/>
              <a:ext cx="1743329" cy="1442085"/>
            </a:xfrm>
            <a:custGeom>
              <a:avLst/>
              <a:gdLst/>
              <a:ahLst/>
              <a:cxnLst/>
              <a:rect l="l" t="t" r="r" b="b"/>
              <a:pathLst>
                <a:path w="1743329" h="1442085">
                  <a:moveTo>
                    <a:pt x="0" y="0"/>
                  </a:moveTo>
                  <a:lnTo>
                    <a:pt x="1743329" y="0"/>
                  </a:lnTo>
                  <a:lnTo>
                    <a:pt x="1743329" y="1442085"/>
                  </a:lnTo>
                  <a:lnTo>
                    <a:pt x="0" y="1442085"/>
                  </a:lnTo>
                  <a:lnTo>
                    <a:pt x="0" y="0"/>
                  </a:lnTo>
                  <a:close/>
                </a:path>
              </a:pathLst>
            </a:custGeom>
            <a:blipFill>
              <a:blip r:embed="rId5"/>
              <a:stretch>
                <a:fillRect t="-74" r="-1" b="-71"/>
              </a:stretch>
            </a:blipFill>
          </p:spPr>
          <p:txBody>
            <a:bodyPr/>
            <a:lstStyle/>
            <a:p>
              <a:endParaRPr lang="vi-VN"/>
            </a:p>
          </p:txBody>
        </p:sp>
      </p:grpSp>
      <p:sp>
        <p:nvSpPr>
          <p:cNvPr id="18" name="Freeform 18"/>
          <p:cNvSpPr/>
          <p:nvPr/>
        </p:nvSpPr>
        <p:spPr>
          <a:xfrm>
            <a:off x="17262338" y="9405385"/>
            <a:ext cx="819198" cy="819198"/>
          </a:xfrm>
          <a:custGeom>
            <a:avLst/>
            <a:gdLst/>
            <a:ahLst/>
            <a:cxnLst/>
            <a:rect l="l" t="t" r="r" b="b"/>
            <a:pathLst>
              <a:path w="819198" h="819198">
                <a:moveTo>
                  <a:pt x="0" y="0"/>
                </a:moveTo>
                <a:lnTo>
                  <a:pt x="819198" y="0"/>
                </a:lnTo>
                <a:lnTo>
                  <a:pt x="819198" y="819198"/>
                </a:lnTo>
                <a:lnTo>
                  <a:pt x="0" y="819198"/>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vi-VN"/>
          </a:p>
        </p:txBody>
      </p:sp>
      <p:grpSp>
        <p:nvGrpSpPr>
          <p:cNvPr id="19" name="Group 19"/>
          <p:cNvGrpSpPr/>
          <p:nvPr/>
        </p:nvGrpSpPr>
        <p:grpSpPr>
          <a:xfrm>
            <a:off x="0" y="2124"/>
            <a:ext cx="18291715" cy="10295487"/>
            <a:chOff x="0" y="0"/>
            <a:chExt cx="24388953" cy="13727316"/>
          </a:xfrm>
        </p:grpSpPr>
        <p:sp>
          <p:nvSpPr>
            <p:cNvPr id="20" name="Freeform 20"/>
            <p:cNvSpPr/>
            <p:nvPr/>
          </p:nvSpPr>
          <p:spPr>
            <a:xfrm>
              <a:off x="0" y="0"/>
              <a:ext cx="24388953" cy="13727303"/>
            </a:xfrm>
            <a:custGeom>
              <a:avLst/>
              <a:gdLst/>
              <a:ahLst/>
              <a:cxnLst/>
              <a:rect l="l" t="t" r="r" b="b"/>
              <a:pathLst>
                <a:path w="24388953" h="1372730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txBody>
            <a:bodyPr/>
            <a:lstStyle/>
            <a:p>
              <a:endParaRPr lang="vi-VN"/>
            </a:p>
          </p:txBody>
        </p:sp>
      </p:grpSp>
      <p:grpSp>
        <p:nvGrpSpPr>
          <p:cNvPr id="21" name="Group 21"/>
          <p:cNvGrpSpPr/>
          <p:nvPr/>
        </p:nvGrpSpPr>
        <p:grpSpPr>
          <a:xfrm>
            <a:off x="908999" y="1555147"/>
            <a:ext cx="16470001" cy="1335996"/>
            <a:chOff x="0" y="0"/>
            <a:chExt cx="21960002" cy="1781327"/>
          </a:xfrm>
        </p:grpSpPr>
        <p:sp>
          <p:nvSpPr>
            <p:cNvPr id="22" name="Freeform 22"/>
            <p:cNvSpPr/>
            <p:nvPr/>
          </p:nvSpPr>
          <p:spPr>
            <a:xfrm>
              <a:off x="0" y="0"/>
              <a:ext cx="21960001" cy="1781326"/>
            </a:xfrm>
            <a:custGeom>
              <a:avLst/>
              <a:gdLst/>
              <a:ahLst/>
              <a:cxnLst/>
              <a:rect l="l" t="t" r="r" b="b"/>
              <a:pathLst>
                <a:path w="21960001" h="1781326">
                  <a:moveTo>
                    <a:pt x="0" y="0"/>
                  </a:moveTo>
                  <a:lnTo>
                    <a:pt x="21960001" y="0"/>
                  </a:lnTo>
                  <a:lnTo>
                    <a:pt x="21960001" y="1781326"/>
                  </a:lnTo>
                  <a:lnTo>
                    <a:pt x="0" y="1781326"/>
                  </a:lnTo>
                  <a:close/>
                </a:path>
              </a:pathLst>
            </a:custGeom>
            <a:blipFill>
              <a:blip r:embed="rId7">
                <a:alphaModFix amt="0"/>
              </a:blip>
              <a:stretch>
                <a:fillRect t="-190209" b="-190209"/>
              </a:stretch>
            </a:blipFill>
          </p:spPr>
          <p:txBody>
            <a:bodyPr/>
            <a:lstStyle/>
            <a:p>
              <a:endParaRPr lang="vi-VN"/>
            </a:p>
          </p:txBody>
        </p:sp>
        <p:sp>
          <p:nvSpPr>
            <p:cNvPr id="23" name="TextBox 23"/>
            <p:cNvSpPr txBox="1"/>
            <p:nvPr/>
          </p:nvSpPr>
          <p:spPr>
            <a:xfrm>
              <a:off x="0" y="38100"/>
              <a:ext cx="21960002" cy="1743227"/>
            </a:xfrm>
            <a:prstGeom prst="rect">
              <a:avLst/>
            </a:prstGeom>
          </p:spPr>
          <p:txBody>
            <a:bodyPr lIns="0" tIns="0" rIns="0" bIns="0" rtlCol="0" anchor="ctr"/>
            <a:lstStyle/>
            <a:p>
              <a:pPr algn="l">
                <a:lnSpc>
                  <a:spcPts val="7128"/>
                </a:lnSpc>
              </a:pPr>
              <a:r>
                <a:rPr lang="en-US" sz="6600" b="1">
                  <a:gradFill>
                    <a:gsLst>
                      <a:gs pos="0">
                        <a:srgbClr val="027159">
                          <a:alpha val="100000"/>
                        </a:srgbClr>
                      </a:gs>
                      <a:gs pos="100000">
                        <a:srgbClr val="10CD57">
                          <a:alpha val="100000"/>
                        </a:srgbClr>
                      </a:gs>
                    </a:gsLst>
                    <a:lin ang="16200000"/>
                  </a:gradFill>
                  <a:latin typeface="Times New Roman Bold"/>
                  <a:ea typeface="Times New Roman Bold"/>
                  <a:cs typeface="Times New Roman Bold"/>
                  <a:sym typeface="Times New Roman Bold"/>
                </a:rPr>
                <a:t>3. Kết quả của giải pháp đề xuất</a:t>
              </a:r>
            </a:p>
          </p:txBody>
        </p:sp>
      </p:grpSp>
      <p:grpSp>
        <p:nvGrpSpPr>
          <p:cNvPr id="24" name="Group 24"/>
          <p:cNvGrpSpPr/>
          <p:nvPr/>
        </p:nvGrpSpPr>
        <p:grpSpPr>
          <a:xfrm>
            <a:off x="15634421" y="9534525"/>
            <a:ext cx="4114800" cy="547688"/>
            <a:chOff x="0" y="0"/>
            <a:chExt cx="5486400" cy="730250"/>
          </a:xfrm>
        </p:grpSpPr>
        <p:sp>
          <p:nvSpPr>
            <p:cNvPr id="25" name="Freeform 25"/>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blipFill>
              <a:blip r:embed="rId7">
                <a:alphaModFix amt="0"/>
              </a:blip>
              <a:stretch>
                <a:fillRect t="-96391" b="-96391"/>
              </a:stretch>
            </a:blipFill>
          </p:spPr>
          <p:txBody>
            <a:bodyPr/>
            <a:lstStyle/>
            <a:p>
              <a:endParaRPr lang="vi-VN"/>
            </a:p>
          </p:txBody>
        </p:sp>
        <p:sp>
          <p:nvSpPr>
            <p:cNvPr id="26" name="TextBox 26"/>
            <p:cNvSpPr txBox="1"/>
            <p:nvPr/>
          </p:nvSpPr>
          <p:spPr>
            <a:xfrm>
              <a:off x="0" y="-19050"/>
              <a:ext cx="5486400" cy="749300"/>
            </a:xfrm>
            <a:prstGeom prst="rect">
              <a:avLst/>
            </a:prstGeom>
          </p:spPr>
          <p:txBody>
            <a:bodyPr lIns="0" tIns="0" rIns="0" bIns="0" rtlCol="0" anchor="ctr"/>
            <a:lstStyle/>
            <a:p>
              <a:pPr algn="ctr">
                <a:lnSpc>
                  <a:spcPts val="2160"/>
                </a:lnSpc>
              </a:pPr>
              <a:r>
                <a:rPr lang="en-US" sz="1800">
                  <a:solidFill>
                    <a:srgbClr val="FFFFFF"/>
                  </a:solidFill>
                  <a:latin typeface="Arial"/>
                  <a:ea typeface="Arial"/>
                  <a:cs typeface="Arial"/>
                  <a:sym typeface="Arial"/>
                </a:rPr>
                <a:t>14</a:t>
              </a:r>
            </a:p>
          </p:txBody>
        </p:sp>
      </p:grpSp>
      <p:sp>
        <p:nvSpPr>
          <p:cNvPr id="27" name="TextBox 27"/>
          <p:cNvSpPr txBox="1"/>
          <p:nvPr/>
        </p:nvSpPr>
        <p:spPr>
          <a:xfrm>
            <a:off x="1236869" y="2785986"/>
            <a:ext cx="4739116" cy="611562"/>
          </a:xfrm>
          <a:prstGeom prst="rect">
            <a:avLst/>
          </a:prstGeom>
        </p:spPr>
        <p:txBody>
          <a:bodyPr lIns="0" tIns="0" rIns="0" bIns="0" rtlCol="0" anchor="t">
            <a:spAutoFit/>
          </a:bodyPr>
          <a:lstStyle/>
          <a:p>
            <a:pPr marL="542925" lvl="1" indent="-271462" algn="just">
              <a:lnSpc>
                <a:spcPts val="4140"/>
              </a:lnSpc>
              <a:buFont typeface="Arial"/>
              <a:buChar char="•"/>
            </a:pPr>
            <a:r>
              <a:rPr lang="en-US" sz="3000" b="1">
                <a:solidFill>
                  <a:srgbClr val="000000"/>
                </a:solidFill>
                <a:latin typeface="Times New Roman Bold"/>
                <a:ea typeface="Times New Roman Bold"/>
                <a:cs typeface="Times New Roman Bold"/>
                <a:sym typeface="Times New Roman Bold"/>
              </a:rPr>
              <a:t>Toàn hệ thống</a:t>
            </a:r>
          </a:p>
        </p:txBody>
      </p:sp>
      <p:sp>
        <p:nvSpPr>
          <p:cNvPr id="28" name="TextBox 28"/>
          <p:cNvSpPr txBox="1"/>
          <p:nvPr/>
        </p:nvSpPr>
        <p:spPr>
          <a:xfrm>
            <a:off x="1236869" y="3188903"/>
            <a:ext cx="11378041" cy="4546235"/>
          </a:xfrm>
          <a:prstGeom prst="rect">
            <a:avLst/>
          </a:prstGeom>
        </p:spPr>
        <p:txBody>
          <a:bodyPr lIns="0" tIns="0" rIns="0" bIns="0" rtlCol="0" anchor="t">
            <a:spAutoFit/>
          </a:bodyPr>
          <a:lstStyle/>
          <a:p>
            <a:pPr marL="407194" lvl="2" indent="-135731" algn="just">
              <a:lnSpc>
                <a:spcPts val="4050"/>
              </a:lnSpc>
              <a:buFont typeface="Arial"/>
              <a:buChar char="⚬"/>
            </a:pPr>
            <a:r>
              <a:rPr lang="en-US" sz="2250">
                <a:solidFill>
                  <a:srgbClr val="000000"/>
                </a:solidFill>
                <a:latin typeface="Times New Roman"/>
                <a:ea typeface="Times New Roman"/>
                <a:cs typeface="Times New Roman"/>
                <a:sym typeface="Times New Roman"/>
              </a:rPr>
              <a:t>Tần số hoạt động tối đa có thể đạt được của </a:t>
            </a:r>
            <a:r>
              <a:rPr lang="en-US" sz="2250" b="1">
                <a:solidFill>
                  <a:srgbClr val="000000"/>
                </a:solidFill>
                <a:latin typeface="Times New Roman Bold"/>
                <a:ea typeface="Times New Roman Bold"/>
                <a:cs typeface="Times New Roman Bold"/>
                <a:sym typeface="Times New Roman Bold"/>
              </a:rPr>
              <a:t>toàn hệ thống</a:t>
            </a:r>
            <a:r>
              <a:rPr lang="en-US" sz="2250">
                <a:solidFill>
                  <a:srgbClr val="000000"/>
                </a:solidFill>
                <a:latin typeface="Times New Roman"/>
                <a:ea typeface="Times New Roman"/>
                <a:cs typeface="Times New Roman"/>
                <a:sym typeface="Times New Roman"/>
              </a:rPr>
              <a:t> là</a:t>
            </a:r>
            <a:r>
              <a:rPr lang="en-US" sz="2250">
                <a:solidFill>
                  <a:srgbClr val="027159"/>
                </a:solidFill>
                <a:latin typeface="Times New Roman"/>
                <a:ea typeface="Times New Roman"/>
                <a:cs typeface="Times New Roman"/>
                <a:sym typeface="Times New Roman"/>
              </a:rPr>
              <a:t> </a:t>
            </a:r>
            <a:r>
              <a:rPr lang="en-US" sz="2250" b="1">
                <a:solidFill>
                  <a:srgbClr val="000000"/>
                </a:solidFill>
                <a:latin typeface="Times New Roman Bold"/>
                <a:ea typeface="Times New Roman Bold"/>
                <a:cs typeface="Times New Roman Bold"/>
                <a:sym typeface="Times New Roman Bold"/>
              </a:rPr>
              <a:t>83 Mhz</a:t>
            </a:r>
          </a:p>
        </p:txBody>
      </p:sp>
      <p:grpSp>
        <p:nvGrpSpPr>
          <p:cNvPr id="29" name="Group 29"/>
          <p:cNvGrpSpPr/>
          <p:nvPr/>
        </p:nvGrpSpPr>
        <p:grpSpPr>
          <a:xfrm>
            <a:off x="226705" y="4447946"/>
            <a:ext cx="8931583" cy="1743399"/>
            <a:chOff x="0" y="0"/>
            <a:chExt cx="11908777" cy="2324532"/>
          </a:xfrm>
        </p:grpSpPr>
        <p:sp>
          <p:nvSpPr>
            <p:cNvPr id="30" name="Freeform 30"/>
            <p:cNvSpPr/>
            <p:nvPr/>
          </p:nvSpPr>
          <p:spPr>
            <a:xfrm>
              <a:off x="0" y="0"/>
              <a:ext cx="11908790" cy="2324481"/>
            </a:xfrm>
            <a:custGeom>
              <a:avLst/>
              <a:gdLst/>
              <a:ahLst/>
              <a:cxnLst/>
              <a:rect l="l" t="t" r="r" b="b"/>
              <a:pathLst>
                <a:path w="11908790" h="2324481">
                  <a:moveTo>
                    <a:pt x="0" y="0"/>
                  </a:moveTo>
                  <a:lnTo>
                    <a:pt x="11908790" y="0"/>
                  </a:lnTo>
                  <a:lnTo>
                    <a:pt x="11908790" y="2324481"/>
                  </a:lnTo>
                  <a:lnTo>
                    <a:pt x="0" y="2324481"/>
                  </a:lnTo>
                  <a:lnTo>
                    <a:pt x="0" y="0"/>
                  </a:lnTo>
                  <a:close/>
                </a:path>
              </a:pathLst>
            </a:custGeom>
            <a:blipFill>
              <a:blip r:embed="rId8"/>
              <a:stretch>
                <a:fillRect l="-1374" t="-3148" r="-30130" b="-10071"/>
              </a:stretch>
            </a:blipFill>
          </p:spPr>
          <p:txBody>
            <a:bodyPr/>
            <a:lstStyle/>
            <a:p>
              <a:endParaRPr lang="vi-VN"/>
            </a:p>
          </p:txBody>
        </p:sp>
      </p:grpSp>
      <p:grpSp>
        <p:nvGrpSpPr>
          <p:cNvPr id="31" name="Group 31"/>
          <p:cNvGrpSpPr/>
          <p:nvPr/>
        </p:nvGrpSpPr>
        <p:grpSpPr>
          <a:xfrm>
            <a:off x="226705" y="6162780"/>
            <a:ext cx="8931583" cy="2049094"/>
            <a:chOff x="0" y="0"/>
            <a:chExt cx="11908777" cy="2732126"/>
          </a:xfrm>
        </p:grpSpPr>
        <p:sp>
          <p:nvSpPr>
            <p:cNvPr id="32" name="Freeform 32"/>
            <p:cNvSpPr/>
            <p:nvPr/>
          </p:nvSpPr>
          <p:spPr>
            <a:xfrm>
              <a:off x="0" y="0"/>
              <a:ext cx="11908790" cy="2732151"/>
            </a:xfrm>
            <a:custGeom>
              <a:avLst/>
              <a:gdLst/>
              <a:ahLst/>
              <a:cxnLst/>
              <a:rect l="l" t="t" r="r" b="b"/>
              <a:pathLst>
                <a:path w="11908790" h="2732151">
                  <a:moveTo>
                    <a:pt x="0" y="0"/>
                  </a:moveTo>
                  <a:lnTo>
                    <a:pt x="11908790" y="0"/>
                  </a:lnTo>
                  <a:lnTo>
                    <a:pt x="11908790" y="2732151"/>
                  </a:lnTo>
                  <a:lnTo>
                    <a:pt x="0" y="2732151"/>
                  </a:lnTo>
                  <a:lnTo>
                    <a:pt x="0" y="0"/>
                  </a:lnTo>
                  <a:close/>
                </a:path>
              </a:pathLst>
            </a:custGeom>
            <a:blipFill>
              <a:blip r:embed="rId9"/>
              <a:stretch>
                <a:fillRect l="-16133" r="-16133"/>
              </a:stretch>
            </a:blipFill>
          </p:spPr>
          <p:txBody>
            <a:bodyPr/>
            <a:lstStyle/>
            <a:p>
              <a:endParaRPr lang="vi-VN"/>
            </a:p>
          </p:txBody>
        </p:sp>
      </p:grpSp>
      <p:grpSp>
        <p:nvGrpSpPr>
          <p:cNvPr id="33" name="Group 33"/>
          <p:cNvGrpSpPr/>
          <p:nvPr/>
        </p:nvGrpSpPr>
        <p:grpSpPr>
          <a:xfrm>
            <a:off x="9372905" y="4133431"/>
            <a:ext cx="8498967" cy="4409970"/>
            <a:chOff x="0" y="0"/>
            <a:chExt cx="11331956" cy="5879960"/>
          </a:xfrm>
        </p:grpSpPr>
        <p:sp>
          <p:nvSpPr>
            <p:cNvPr id="34" name="Freeform 34"/>
            <p:cNvSpPr/>
            <p:nvPr/>
          </p:nvSpPr>
          <p:spPr>
            <a:xfrm>
              <a:off x="0" y="0"/>
              <a:ext cx="11331956" cy="5879973"/>
            </a:xfrm>
            <a:custGeom>
              <a:avLst/>
              <a:gdLst/>
              <a:ahLst/>
              <a:cxnLst/>
              <a:rect l="l" t="t" r="r" b="b"/>
              <a:pathLst>
                <a:path w="11331956" h="5879973">
                  <a:moveTo>
                    <a:pt x="0" y="0"/>
                  </a:moveTo>
                  <a:lnTo>
                    <a:pt x="11331956" y="0"/>
                  </a:lnTo>
                  <a:lnTo>
                    <a:pt x="11331956" y="5879973"/>
                  </a:lnTo>
                  <a:lnTo>
                    <a:pt x="0" y="5879973"/>
                  </a:lnTo>
                  <a:lnTo>
                    <a:pt x="0" y="0"/>
                  </a:lnTo>
                  <a:close/>
                </a:path>
              </a:pathLst>
            </a:custGeom>
            <a:blipFill>
              <a:blip r:embed="rId10"/>
              <a:stretch>
                <a:fillRect l="-3932" r="-3932"/>
              </a:stretch>
            </a:blipFill>
          </p:spPr>
          <p:txBody>
            <a:bodyPr/>
            <a:lstStyle/>
            <a:p>
              <a:endParaRPr lang="vi-VN"/>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91440" y="-2287991"/>
            <a:ext cx="18105120" cy="527771"/>
          </a:xfrm>
          <a:prstGeom prst="rect">
            <a:avLst/>
          </a:prstGeom>
        </p:spPr>
        <p:txBody>
          <a:bodyPr lIns="0" tIns="0" rIns="0" bIns="0" rtlCol="0" anchor="t">
            <a:spAutoFit/>
          </a:bodyPr>
          <a:lstStyle/>
          <a:p>
            <a:pPr algn="ctr">
              <a:lnSpc>
                <a:spcPts val="3600"/>
              </a:lnSpc>
            </a:pPr>
            <a:r>
              <a:rPr lang="en-US" sz="3000">
                <a:solidFill>
                  <a:srgbClr val="C3C3C3"/>
                </a:solidFill>
                <a:latin typeface="Arial"/>
                <a:ea typeface="Arial"/>
                <a:cs typeface="Arial"/>
                <a:sym typeface="Arial"/>
              </a:rPr>
              <a:t>www.9slide.vn</a:t>
            </a:r>
          </a:p>
        </p:txBody>
      </p:sp>
      <p:grpSp>
        <p:nvGrpSpPr>
          <p:cNvPr id="3" name="Group 3"/>
          <p:cNvGrpSpPr/>
          <p:nvPr/>
        </p:nvGrpSpPr>
        <p:grpSpPr>
          <a:xfrm>
            <a:off x="0" y="2124"/>
            <a:ext cx="18291715" cy="10295487"/>
            <a:chOff x="0" y="0"/>
            <a:chExt cx="24388953" cy="13727316"/>
          </a:xfrm>
        </p:grpSpPr>
        <p:sp>
          <p:nvSpPr>
            <p:cNvPr id="4" name="Freeform 4"/>
            <p:cNvSpPr/>
            <p:nvPr/>
          </p:nvSpPr>
          <p:spPr>
            <a:xfrm>
              <a:off x="0" y="0"/>
              <a:ext cx="24388953" cy="13727303"/>
            </a:xfrm>
            <a:custGeom>
              <a:avLst/>
              <a:gdLst/>
              <a:ahLst/>
              <a:cxnLst/>
              <a:rect l="l" t="t" r="r" b="b"/>
              <a:pathLst>
                <a:path w="24388953" h="1372730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txBody>
            <a:bodyPr/>
            <a:lstStyle/>
            <a:p>
              <a:endParaRPr lang="vi-VN"/>
            </a:p>
          </p:txBody>
        </p:sp>
      </p:grpSp>
      <p:grpSp>
        <p:nvGrpSpPr>
          <p:cNvPr id="5" name="Group 5"/>
          <p:cNvGrpSpPr/>
          <p:nvPr/>
        </p:nvGrpSpPr>
        <p:grpSpPr>
          <a:xfrm rot="5400000">
            <a:off x="8668474" y="-8670065"/>
            <a:ext cx="947328" cy="18291715"/>
            <a:chOff x="0" y="0"/>
            <a:chExt cx="1263104" cy="24388953"/>
          </a:xfrm>
        </p:grpSpPr>
        <p:sp>
          <p:nvSpPr>
            <p:cNvPr id="6" name="Freeform 6"/>
            <p:cNvSpPr/>
            <p:nvPr/>
          </p:nvSpPr>
          <p:spPr>
            <a:xfrm>
              <a:off x="0" y="0"/>
              <a:ext cx="1263142" cy="24388953"/>
            </a:xfrm>
            <a:custGeom>
              <a:avLst/>
              <a:gdLst/>
              <a:ahLst/>
              <a:cxnLst/>
              <a:rect l="l" t="t" r="r" b="b"/>
              <a:pathLst>
                <a:path w="1263142" h="24388953">
                  <a:moveTo>
                    <a:pt x="0" y="0"/>
                  </a:moveTo>
                  <a:lnTo>
                    <a:pt x="1263142" y="0"/>
                  </a:lnTo>
                  <a:lnTo>
                    <a:pt x="1263142" y="24388953"/>
                  </a:lnTo>
                  <a:lnTo>
                    <a:pt x="0" y="24388953"/>
                  </a:lnTo>
                  <a:close/>
                </a:path>
              </a:pathLst>
            </a:custGeom>
            <a:gradFill rotWithShape="1">
              <a:gsLst>
                <a:gs pos="0">
                  <a:srgbClr val="10CD57">
                    <a:alpha val="100000"/>
                  </a:srgbClr>
                </a:gs>
                <a:gs pos="100000">
                  <a:srgbClr val="027159">
                    <a:alpha val="100000"/>
                  </a:srgbClr>
                </a:gs>
              </a:gsLst>
              <a:lin ang="0"/>
            </a:gradFill>
          </p:spPr>
          <p:txBody>
            <a:bodyPr/>
            <a:lstStyle/>
            <a:p>
              <a:endParaRPr lang="vi-VN"/>
            </a:p>
          </p:txBody>
        </p:sp>
      </p:grpSp>
      <p:grpSp>
        <p:nvGrpSpPr>
          <p:cNvPr id="7" name="Group 7"/>
          <p:cNvGrpSpPr/>
          <p:nvPr/>
        </p:nvGrpSpPr>
        <p:grpSpPr>
          <a:xfrm rot="5400000">
            <a:off x="8670331" y="-8672198"/>
            <a:ext cx="947328" cy="18291715"/>
            <a:chOff x="0" y="0"/>
            <a:chExt cx="1263104" cy="24388953"/>
          </a:xfrm>
        </p:grpSpPr>
        <p:sp>
          <p:nvSpPr>
            <p:cNvPr id="8" name="Freeform 8"/>
            <p:cNvSpPr/>
            <p:nvPr/>
          </p:nvSpPr>
          <p:spPr>
            <a:xfrm flipV="1">
              <a:off x="0" y="0"/>
              <a:ext cx="1263142" cy="24388953"/>
            </a:xfrm>
            <a:custGeom>
              <a:avLst/>
              <a:gdLst/>
              <a:ahLst/>
              <a:cxnLst/>
              <a:rect l="l" t="t" r="r" b="b"/>
              <a:pathLst>
                <a:path w="1263142" h="24388953">
                  <a:moveTo>
                    <a:pt x="0" y="0"/>
                  </a:moveTo>
                  <a:lnTo>
                    <a:pt x="1263142" y="0"/>
                  </a:lnTo>
                  <a:lnTo>
                    <a:pt x="1263142" y="24388953"/>
                  </a:lnTo>
                  <a:lnTo>
                    <a:pt x="0" y="24388953"/>
                  </a:lnTo>
                  <a:close/>
                </a:path>
              </a:pathLst>
            </a:custGeom>
            <a:blipFill>
              <a:blip r:embed="rId3"/>
              <a:stretch>
                <a:fillRect l="-35093" r="-35090"/>
              </a:stretch>
            </a:blipFill>
          </p:spPr>
          <p:txBody>
            <a:bodyPr/>
            <a:lstStyle/>
            <a:p>
              <a:endParaRPr lang="vi-VN"/>
            </a:p>
          </p:txBody>
        </p:sp>
      </p:grpSp>
      <p:sp>
        <p:nvSpPr>
          <p:cNvPr id="9" name="TextBox 9"/>
          <p:cNvSpPr txBox="1"/>
          <p:nvPr/>
        </p:nvSpPr>
        <p:spPr>
          <a:xfrm>
            <a:off x="451866" y="248326"/>
            <a:ext cx="10947559" cy="424158"/>
          </a:xfrm>
          <a:prstGeom prst="rect">
            <a:avLst/>
          </a:prstGeom>
        </p:spPr>
        <p:txBody>
          <a:bodyPr lIns="0" tIns="0" rIns="0" bIns="0" rtlCol="0" anchor="t">
            <a:spAutoFit/>
          </a:bodyPr>
          <a:lstStyle/>
          <a:p>
            <a:pPr algn="l">
              <a:lnSpc>
                <a:spcPts val="2879"/>
              </a:lnSpc>
            </a:pPr>
            <a:r>
              <a:rPr lang="en-US" sz="2400" b="1">
                <a:solidFill>
                  <a:srgbClr val="FFFFFF"/>
                </a:solidFill>
                <a:latin typeface="Arial Bold"/>
                <a:ea typeface="Arial Bold"/>
                <a:cs typeface="Arial Bold"/>
                <a:sym typeface="Arial Bold"/>
              </a:rPr>
              <a:t>FACULTY OF COMPUTER ENGINEERING</a:t>
            </a:r>
          </a:p>
        </p:txBody>
      </p:sp>
      <p:grpSp>
        <p:nvGrpSpPr>
          <p:cNvPr id="10" name="Group 10"/>
          <p:cNvGrpSpPr/>
          <p:nvPr/>
        </p:nvGrpSpPr>
        <p:grpSpPr>
          <a:xfrm>
            <a:off x="6719973" y="457933"/>
            <a:ext cx="4848044" cy="957948"/>
            <a:chOff x="0" y="0"/>
            <a:chExt cx="6464059" cy="1277264"/>
          </a:xfrm>
        </p:grpSpPr>
        <p:sp>
          <p:nvSpPr>
            <p:cNvPr id="11" name="Freeform 11"/>
            <p:cNvSpPr/>
            <p:nvPr/>
          </p:nvSpPr>
          <p:spPr>
            <a:xfrm>
              <a:off x="0" y="0"/>
              <a:ext cx="6464173" cy="1277366"/>
            </a:xfrm>
            <a:custGeom>
              <a:avLst/>
              <a:gdLst/>
              <a:ahLst/>
              <a:cxnLst/>
              <a:rect l="l" t="t" r="r" b="b"/>
              <a:pathLst>
                <a:path w="6464173" h="1277366">
                  <a:moveTo>
                    <a:pt x="0" y="638683"/>
                  </a:moveTo>
                  <a:cubicBezTo>
                    <a:pt x="0" y="285877"/>
                    <a:pt x="285877" y="0"/>
                    <a:pt x="638683" y="0"/>
                  </a:cubicBezTo>
                  <a:lnTo>
                    <a:pt x="5825490" y="0"/>
                  </a:lnTo>
                  <a:cubicBezTo>
                    <a:pt x="6178169" y="0"/>
                    <a:pt x="6464173" y="285877"/>
                    <a:pt x="6464173" y="638683"/>
                  </a:cubicBezTo>
                  <a:cubicBezTo>
                    <a:pt x="6464173" y="991489"/>
                    <a:pt x="6178296" y="1277366"/>
                    <a:pt x="5825490" y="1277366"/>
                  </a:cubicBezTo>
                  <a:lnTo>
                    <a:pt x="638683" y="1277366"/>
                  </a:lnTo>
                  <a:cubicBezTo>
                    <a:pt x="285877" y="1277239"/>
                    <a:pt x="0" y="991362"/>
                    <a:pt x="0" y="638683"/>
                  </a:cubicBezTo>
                  <a:close/>
                </a:path>
              </a:pathLst>
            </a:custGeom>
            <a:gradFill rotWithShape="1">
              <a:gsLst>
                <a:gs pos="0">
                  <a:srgbClr val="38EF7D">
                    <a:alpha val="100000"/>
                  </a:srgbClr>
                </a:gs>
                <a:gs pos="100000">
                  <a:srgbClr val="752AFF">
                    <a:alpha val="100000"/>
                  </a:srgbClr>
                </a:gs>
              </a:gsLst>
              <a:lin ang="4729360"/>
            </a:gradFill>
          </p:spPr>
          <p:txBody>
            <a:bodyPr/>
            <a:lstStyle/>
            <a:p>
              <a:endParaRPr lang="vi-VN"/>
            </a:p>
          </p:txBody>
        </p:sp>
      </p:grpSp>
      <p:grpSp>
        <p:nvGrpSpPr>
          <p:cNvPr id="12" name="Group 12"/>
          <p:cNvGrpSpPr/>
          <p:nvPr/>
        </p:nvGrpSpPr>
        <p:grpSpPr>
          <a:xfrm>
            <a:off x="6807460" y="535962"/>
            <a:ext cx="4673079" cy="801872"/>
            <a:chOff x="0" y="0"/>
            <a:chExt cx="6230772" cy="1069162"/>
          </a:xfrm>
        </p:grpSpPr>
        <p:sp>
          <p:nvSpPr>
            <p:cNvPr id="13" name="Freeform 13"/>
            <p:cNvSpPr/>
            <p:nvPr/>
          </p:nvSpPr>
          <p:spPr>
            <a:xfrm>
              <a:off x="0" y="0"/>
              <a:ext cx="6230747" cy="1069086"/>
            </a:xfrm>
            <a:custGeom>
              <a:avLst/>
              <a:gdLst/>
              <a:ahLst/>
              <a:cxnLst/>
              <a:rect l="l" t="t" r="r" b="b"/>
              <a:pathLst>
                <a:path w="6230747" h="1069086">
                  <a:moveTo>
                    <a:pt x="0" y="534543"/>
                  </a:moveTo>
                  <a:cubicBezTo>
                    <a:pt x="0" y="239395"/>
                    <a:pt x="239395" y="0"/>
                    <a:pt x="534543" y="0"/>
                  </a:cubicBezTo>
                  <a:lnTo>
                    <a:pt x="5696204" y="0"/>
                  </a:lnTo>
                  <a:cubicBezTo>
                    <a:pt x="5991479" y="0"/>
                    <a:pt x="6230747" y="239395"/>
                    <a:pt x="6230747" y="534543"/>
                  </a:cubicBezTo>
                  <a:cubicBezTo>
                    <a:pt x="6230747" y="829691"/>
                    <a:pt x="5991352" y="1069086"/>
                    <a:pt x="5696204" y="1069086"/>
                  </a:cubicBezTo>
                  <a:lnTo>
                    <a:pt x="534543" y="1069086"/>
                  </a:lnTo>
                  <a:cubicBezTo>
                    <a:pt x="239395" y="1069213"/>
                    <a:pt x="0" y="829818"/>
                    <a:pt x="0" y="534543"/>
                  </a:cubicBezTo>
                  <a:close/>
                </a:path>
              </a:pathLst>
            </a:custGeom>
            <a:solidFill>
              <a:srgbClr val="FFFFFF"/>
            </a:solidFill>
          </p:spPr>
          <p:txBody>
            <a:bodyPr/>
            <a:lstStyle/>
            <a:p>
              <a:endParaRPr lang="vi-VN"/>
            </a:p>
          </p:txBody>
        </p:sp>
      </p:grpSp>
      <p:grpSp>
        <p:nvGrpSpPr>
          <p:cNvPr id="14" name="Group 14"/>
          <p:cNvGrpSpPr/>
          <p:nvPr/>
        </p:nvGrpSpPr>
        <p:grpSpPr>
          <a:xfrm>
            <a:off x="9436446" y="362541"/>
            <a:ext cx="1163307" cy="1152592"/>
            <a:chOff x="0" y="0"/>
            <a:chExt cx="1551076" cy="1536789"/>
          </a:xfrm>
        </p:grpSpPr>
        <p:sp>
          <p:nvSpPr>
            <p:cNvPr id="15" name="Freeform 15" descr="Icon  Description automatically generated with medium confidence"/>
            <p:cNvSpPr/>
            <p:nvPr/>
          </p:nvSpPr>
          <p:spPr>
            <a:xfrm>
              <a:off x="0" y="0"/>
              <a:ext cx="1551051" cy="1536827"/>
            </a:xfrm>
            <a:custGeom>
              <a:avLst/>
              <a:gdLst/>
              <a:ahLst/>
              <a:cxnLst/>
              <a:rect l="l" t="t" r="r" b="b"/>
              <a:pathLst>
                <a:path w="1551051" h="1536827">
                  <a:moveTo>
                    <a:pt x="0" y="0"/>
                  </a:moveTo>
                  <a:lnTo>
                    <a:pt x="1551051" y="0"/>
                  </a:lnTo>
                  <a:lnTo>
                    <a:pt x="1551051" y="1536827"/>
                  </a:lnTo>
                  <a:lnTo>
                    <a:pt x="0" y="1536827"/>
                  </a:lnTo>
                  <a:lnTo>
                    <a:pt x="0" y="0"/>
                  </a:lnTo>
                  <a:close/>
                </a:path>
              </a:pathLst>
            </a:custGeom>
            <a:blipFill>
              <a:blip r:embed="rId4"/>
              <a:stretch>
                <a:fillRect l="-75" r="-76" b="2"/>
              </a:stretch>
            </a:blipFill>
          </p:spPr>
          <p:txBody>
            <a:bodyPr/>
            <a:lstStyle/>
            <a:p>
              <a:endParaRPr lang="vi-VN"/>
            </a:p>
          </p:txBody>
        </p:sp>
      </p:grpSp>
      <p:grpSp>
        <p:nvGrpSpPr>
          <p:cNvPr id="16" name="Group 16"/>
          <p:cNvGrpSpPr/>
          <p:nvPr/>
        </p:nvGrpSpPr>
        <p:grpSpPr>
          <a:xfrm>
            <a:off x="7688247" y="398078"/>
            <a:ext cx="1307516" cy="1081516"/>
            <a:chOff x="0" y="0"/>
            <a:chExt cx="1743354" cy="1442022"/>
          </a:xfrm>
        </p:grpSpPr>
        <p:sp>
          <p:nvSpPr>
            <p:cNvPr id="17" name="Freeform 17" descr="A picture containing clipart, vector graphics  Description automatically generated"/>
            <p:cNvSpPr/>
            <p:nvPr/>
          </p:nvSpPr>
          <p:spPr>
            <a:xfrm>
              <a:off x="0" y="0"/>
              <a:ext cx="1743329" cy="1442085"/>
            </a:xfrm>
            <a:custGeom>
              <a:avLst/>
              <a:gdLst/>
              <a:ahLst/>
              <a:cxnLst/>
              <a:rect l="l" t="t" r="r" b="b"/>
              <a:pathLst>
                <a:path w="1743329" h="1442085">
                  <a:moveTo>
                    <a:pt x="0" y="0"/>
                  </a:moveTo>
                  <a:lnTo>
                    <a:pt x="1743329" y="0"/>
                  </a:lnTo>
                  <a:lnTo>
                    <a:pt x="1743329" y="1442085"/>
                  </a:lnTo>
                  <a:lnTo>
                    <a:pt x="0" y="1442085"/>
                  </a:lnTo>
                  <a:lnTo>
                    <a:pt x="0" y="0"/>
                  </a:lnTo>
                  <a:close/>
                </a:path>
              </a:pathLst>
            </a:custGeom>
            <a:blipFill>
              <a:blip r:embed="rId5"/>
              <a:stretch>
                <a:fillRect t="-74" r="-1" b="-71"/>
              </a:stretch>
            </a:blipFill>
          </p:spPr>
          <p:txBody>
            <a:bodyPr/>
            <a:lstStyle/>
            <a:p>
              <a:endParaRPr lang="vi-VN"/>
            </a:p>
          </p:txBody>
        </p:sp>
      </p:grpSp>
      <p:sp>
        <p:nvSpPr>
          <p:cNvPr id="18" name="Freeform 18"/>
          <p:cNvSpPr/>
          <p:nvPr/>
        </p:nvSpPr>
        <p:spPr>
          <a:xfrm>
            <a:off x="17262338" y="9405385"/>
            <a:ext cx="819198" cy="819198"/>
          </a:xfrm>
          <a:custGeom>
            <a:avLst/>
            <a:gdLst/>
            <a:ahLst/>
            <a:cxnLst/>
            <a:rect l="l" t="t" r="r" b="b"/>
            <a:pathLst>
              <a:path w="819198" h="819198">
                <a:moveTo>
                  <a:pt x="0" y="0"/>
                </a:moveTo>
                <a:lnTo>
                  <a:pt x="819198" y="0"/>
                </a:lnTo>
                <a:lnTo>
                  <a:pt x="819198" y="819198"/>
                </a:lnTo>
                <a:lnTo>
                  <a:pt x="0" y="819198"/>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vi-VN"/>
          </a:p>
        </p:txBody>
      </p:sp>
      <p:grpSp>
        <p:nvGrpSpPr>
          <p:cNvPr id="19" name="Group 19"/>
          <p:cNvGrpSpPr/>
          <p:nvPr/>
        </p:nvGrpSpPr>
        <p:grpSpPr>
          <a:xfrm>
            <a:off x="0" y="2124"/>
            <a:ext cx="18291715" cy="10295487"/>
            <a:chOff x="0" y="0"/>
            <a:chExt cx="24388953" cy="13727316"/>
          </a:xfrm>
        </p:grpSpPr>
        <p:sp>
          <p:nvSpPr>
            <p:cNvPr id="20" name="Freeform 20"/>
            <p:cNvSpPr/>
            <p:nvPr/>
          </p:nvSpPr>
          <p:spPr>
            <a:xfrm>
              <a:off x="0" y="0"/>
              <a:ext cx="24388953" cy="13727303"/>
            </a:xfrm>
            <a:custGeom>
              <a:avLst/>
              <a:gdLst/>
              <a:ahLst/>
              <a:cxnLst/>
              <a:rect l="l" t="t" r="r" b="b"/>
              <a:pathLst>
                <a:path w="24388953" h="1372730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txBody>
            <a:bodyPr/>
            <a:lstStyle/>
            <a:p>
              <a:endParaRPr lang="vi-VN"/>
            </a:p>
          </p:txBody>
        </p:sp>
      </p:grpSp>
      <p:grpSp>
        <p:nvGrpSpPr>
          <p:cNvPr id="21" name="Group 21"/>
          <p:cNvGrpSpPr/>
          <p:nvPr/>
        </p:nvGrpSpPr>
        <p:grpSpPr>
          <a:xfrm>
            <a:off x="908999" y="1555147"/>
            <a:ext cx="16470001" cy="1335996"/>
            <a:chOff x="0" y="0"/>
            <a:chExt cx="21960002" cy="1781327"/>
          </a:xfrm>
        </p:grpSpPr>
        <p:sp>
          <p:nvSpPr>
            <p:cNvPr id="22" name="Freeform 22"/>
            <p:cNvSpPr/>
            <p:nvPr/>
          </p:nvSpPr>
          <p:spPr>
            <a:xfrm>
              <a:off x="0" y="0"/>
              <a:ext cx="21960001" cy="1781326"/>
            </a:xfrm>
            <a:custGeom>
              <a:avLst/>
              <a:gdLst/>
              <a:ahLst/>
              <a:cxnLst/>
              <a:rect l="l" t="t" r="r" b="b"/>
              <a:pathLst>
                <a:path w="21960001" h="1781326">
                  <a:moveTo>
                    <a:pt x="0" y="0"/>
                  </a:moveTo>
                  <a:lnTo>
                    <a:pt x="21960001" y="0"/>
                  </a:lnTo>
                  <a:lnTo>
                    <a:pt x="21960001" y="1781326"/>
                  </a:lnTo>
                  <a:lnTo>
                    <a:pt x="0" y="1781326"/>
                  </a:lnTo>
                  <a:close/>
                </a:path>
              </a:pathLst>
            </a:custGeom>
            <a:blipFill>
              <a:blip r:embed="rId7">
                <a:alphaModFix amt="0"/>
              </a:blip>
              <a:stretch>
                <a:fillRect t="-190209" b="-190209"/>
              </a:stretch>
            </a:blipFill>
          </p:spPr>
          <p:txBody>
            <a:bodyPr/>
            <a:lstStyle/>
            <a:p>
              <a:endParaRPr lang="vi-VN"/>
            </a:p>
          </p:txBody>
        </p:sp>
        <p:sp>
          <p:nvSpPr>
            <p:cNvPr id="23" name="TextBox 23"/>
            <p:cNvSpPr txBox="1"/>
            <p:nvPr/>
          </p:nvSpPr>
          <p:spPr>
            <a:xfrm>
              <a:off x="0" y="38100"/>
              <a:ext cx="21960002" cy="1743227"/>
            </a:xfrm>
            <a:prstGeom prst="rect">
              <a:avLst/>
            </a:prstGeom>
          </p:spPr>
          <p:txBody>
            <a:bodyPr lIns="0" tIns="0" rIns="0" bIns="0" rtlCol="0" anchor="ctr"/>
            <a:lstStyle/>
            <a:p>
              <a:pPr algn="l">
                <a:lnSpc>
                  <a:spcPts val="7128"/>
                </a:lnSpc>
              </a:pPr>
              <a:r>
                <a:rPr lang="en-US" sz="6600" b="1">
                  <a:gradFill>
                    <a:gsLst>
                      <a:gs pos="0">
                        <a:srgbClr val="027159">
                          <a:alpha val="100000"/>
                        </a:srgbClr>
                      </a:gs>
                      <a:gs pos="100000">
                        <a:srgbClr val="10CD57">
                          <a:alpha val="100000"/>
                        </a:srgbClr>
                      </a:gs>
                    </a:gsLst>
                    <a:lin ang="16200000"/>
                  </a:gradFill>
                  <a:latin typeface="Times New Roman Bold"/>
                  <a:ea typeface="Times New Roman Bold"/>
                  <a:cs typeface="Times New Roman Bold"/>
                  <a:sym typeface="Times New Roman Bold"/>
                </a:rPr>
                <a:t>3. Kết quả của giải pháp đề xuất</a:t>
              </a:r>
            </a:p>
          </p:txBody>
        </p:sp>
      </p:grpSp>
      <p:grpSp>
        <p:nvGrpSpPr>
          <p:cNvPr id="24" name="Group 24"/>
          <p:cNvGrpSpPr/>
          <p:nvPr/>
        </p:nvGrpSpPr>
        <p:grpSpPr>
          <a:xfrm>
            <a:off x="15634421" y="9534525"/>
            <a:ext cx="4114800" cy="547688"/>
            <a:chOff x="0" y="0"/>
            <a:chExt cx="5486400" cy="730250"/>
          </a:xfrm>
        </p:grpSpPr>
        <p:sp>
          <p:nvSpPr>
            <p:cNvPr id="25" name="Freeform 25"/>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blipFill>
              <a:blip r:embed="rId7">
                <a:alphaModFix amt="0"/>
              </a:blip>
              <a:stretch>
                <a:fillRect t="-96391" b="-96391"/>
              </a:stretch>
            </a:blipFill>
          </p:spPr>
          <p:txBody>
            <a:bodyPr/>
            <a:lstStyle/>
            <a:p>
              <a:endParaRPr lang="vi-VN"/>
            </a:p>
          </p:txBody>
        </p:sp>
        <p:sp>
          <p:nvSpPr>
            <p:cNvPr id="26" name="TextBox 26"/>
            <p:cNvSpPr txBox="1"/>
            <p:nvPr/>
          </p:nvSpPr>
          <p:spPr>
            <a:xfrm>
              <a:off x="0" y="-19050"/>
              <a:ext cx="5486400" cy="749300"/>
            </a:xfrm>
            <a:prstGeom prst="rect">
              <a:avLst/>
            </a:prstGeom>
          </p:spPr>
          <p:txBody>
            <a:bodyPr lIns="0" tIns="0" rIns="0" bIns="0" rtlCol="0" anchor="ctr"/>
            <a:lstStyle/>
            <a:p>
              <a:pPr algn="ctr">
                <a:lnSpc>
                  <a:spcPts val="2160"/>
                </a:lnSpc>
              </a:pPr>
              <a:r>
                <a:rPr lang="en-US" sz="1800">
                  <a:solidFill>
                    <a:srgbClr val="FFFFFF"/>
                  </a:solidFill>
                  <a:latin typeface="Arial"/>
                  <a:ea typeface="Arial"/>
                  <a:cs typeface="Arial"/>
                  <a:sym typeface="Arial"/>
                </a:rPr>
                <a:t>15</a:t>
              </a:r>
            </a:p>
          </p:txBody>
        </p:sp>
      </p:grpSp>
      <p:sp>
        <p:nvSpPr>
          <p:cNvPr id="27" name="TextBox 27"/>
          <p:cNvSpPr txBox="1"/>
          <p:nvPr/>
        </p:nvSpPr>
        <p:spPr>
          <a:xfrm>
            <a:off x="1236869" y="2785986"/>
            <a:ext cx="4739116" cy="611562"/>
          </a:xfrm>
          <a:prstGeom prst="rect">
            <a:avLst/>
          </a:prstGeom>
        </p:spPr>
        <p:txBody>
          <a:bodyPr lIns="0" tIns="0" rIns="0" bIns="0" rtlCol="0" anchor="t">
            <a:spAutoFit/>
          </a:bodyPr>
          <a:lstStyle/>
          <a:p>
            <a:pPr marL="542925" lvl="1" indent="-271462" algn="just">
              <a:lnSpc>
                <a:spcPts val="4140"/>
              </a:lnSpc>
              <a:buFont typeface="Arial"/>
              <a:buChar char="•"/>
            </a:pPr>
            <a:r>
              <a:rPr lang="en-US" sz="3000" b="1">
                <a:solidFill>
                  <a:srgbClr val="000000"/>
                </a:solidFill>
                <a:latin typeface="Times New Roman Bold"/>
                <a:ea typeface="Times New Roman Bold"/>
                <a:cs typeface="Times New Roman Bold"/>
                <a:sym typeface="Times New Roman Bold"/>
              </a:rPr>
              <a:t>Toàn hệ thống</a:t>
            </a:r>
          </a:p>
        </p:txBody>
      </p:sp>
      <p:grpSp>
        <p:nvGrpSpPr>
          <p:cNvPr id="28" name="Group 28"/>
          <p:cNvGrpSpPr/>
          <p:nvPr/>
        </p:nvGrpSpPr>
        <p:grpSpPr>
          <a:xfrm>
            <a:off x="5141805" y="3115589"/>
            <a:ext cx="8781707" cy="6601939"/>
            <a:chOff x="0" y="0"/>
            <a:chExt cx="11708943" cy="8802586"/>
          </a:xfrm>
        </p:grpSpPr>
        <p:sp>
          <p:nvSpPr>
            <p:cNvPr id="29" name="Freeform 29"/>
            <p:cNvSpPr/>
            <p:nvPr/>
          </p:nvSpPr>
          <p:spPr>
            <a:xfrm>
              <a:off x="0" y="0"/>
              <a:ext cx="11708892" cy="8802624"/>
            </a:xfrm>
            <a:custGeom>
              <a:avLst/>
              <a:gdLst/>
              <a:ahLst/>
              <a:cxnLst/>
              <a:rect l="l" t="t" r="r" b="b"/>
              <a:pathLst>
                <a:path w="11708892" h="8802624">
                  <a:moveTo>
                    <a:pt x="0" y="0"/>
                  </a:moveTo>
                  <a:lnTo>
                    <a:pt x="11708892" y="0"/>
                  </a:lnTo>
                  <a:lnTo>
                    <a:pt x="11708892" y="8802624"/>
                  </a:lnTo>
                  <a:lnTo>
                    <a:pt x="0" y="8802624"/>
                  </a:lnTo>
                  <a:lnTo>
                    <a:pt x="0" y="0"/>
                  </a:lnTo>
                  <a:close/>
                </a:path>
              </a:pathLst>
            </a:custGeom>
            <a:blipFill>
              <a:blip r:embed="rId8"/>
              <a:stretch>
                <a:fillRect l="-53" r="-54"/>
              </a:stretch>
            </a:blipFill>
          </p:spPr>
          <p:txBody>
            <a:bodyPr/>
            <a:lstStyle/>
            <a:p>
              <a:endParaRPr lang="vi-VN"/>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91440" y="-2287991"/>
            <a:ext cx="18105120" cy="527771"/>
          </a:xfrm>
          <a:prstGeom prst="rect">
            <a:avLst/>
          </a:prstGeom>
        </p:spPr>
        <p:txBody>
          <a:bodyPr lIns="0" tIns="0" rIns="0" bIns="0" rtlCol="0" anchor="t">
            <a:spAutoFit/>
          </a:bodyPr>
          <a:lstStyle/>
          <a:p>
            <a:pPr algn="ctr">
              <a:lnSpc>
                <a:spcPts val="3600"/>
              </a:lnSpc>
            </a:pPr>
            <a:r>
              <a:rPr lang="en-US" sz="3000">
                <a:solidFill>
                  <a:srgbClr val="C3C3C3"/>
                </a:solidFill>
                <a:latin typeface="Arial"/>
                <a:ea typeface="Arial"/>
                <a:cs typeface="Arial"/>
                <a:sym typeface="Arial"/>
              </a:rPr>
              <a:t>www.9slide.vn</a:t>
            </a:r>
          </a:p>
        </p:txBody>
      </p:sp>
      <p:grpSp>
        <p:nvGrpSpPr>
          <p:cNvPr id="3" name="Group 3"/>
          <p:cNvGrpSpPr/>
          <p:nvPr/>
        </p:nvGrpSpPr>
        <p:grpSpPr>
          <a:xfrm>
            <a:off x="0" y="2124"/>
            <a:ext cx="18291715" cy="10295487"/>
            <a:chOff x="0" y="0"/>
            <a:chExt cx="24388953" cy="13727316"/>
          </a:xfrm>
        </p:grpSpPr>
        <p:sp>
          <p:nvSpPr>
            <p:cNvPr id="4" name="Freeform 4"/>
            <p:cNvSpPr/>
            <p:nvPr/>
          </p:nvSpPr>
          <p:spPr>
            <a:xfrm>
              <a:off x="0" y="0"/>
              <a:ext cx="24388953" cy="13727303"/>
            </a:xfrm>
            <a:custGeom>
              <a:avLst/>
              <a:gdLst/>
              <a:ahLst/>
              <a:cxnLst/>
              <a:rect l="l" t="t" r="r" b="b"/>
              <a:pathLst>
                <a:path w="24388953" h="1372730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txBody>
            <a:bodyPr/>
            <a:lstStyle/>
            <a:p>
              <a:endParaRPr lang="vi-VN"/>
            </a:p>
          </p:txBody>
        </p:sp>
      </p:grpSp>
      <p:grpSp>
        <p:nvGrpSpPr>
          <p:cNvPr id="5" name="Group 5"/>
          <p:cNvGrpSpPr/>
          <p:nvPr/>
        </p:nvGrpSpPr>
        <p:grpSpPr>
          <a:xfrm rot="5400000">
            <a:off x="8668474" y="-8670065"/>
            <a:ext cx="947328" cy="18291715"/>
            <a:chOff x="0" y="0"/>
            <a:chExt cx="1263104" cy="24388953"/>
          </a:xfrm>
        </p:grpSpPr>
        <p:sp>
          <p:nvSpPr>
            <p:cNvPr id="6" name="Freeform 6"/>
            <p:cNvSpPr/>
            <p:nvPr/>
          </p:nvSpPr>
          <p:spPr>
            <a:xfrm>
              <a:off x="0" y="0"/>
              <a:ext cx="1263142" cy="24388953"/>
            </a:xfrm>
            <a:custGeom>
              <a:avLst/>
              <a:gdLst/>
              <a:ahLst/>
              <a:cxnLst/>
              <a:rect l="l" t="t" r="r" b="b"/>
              <a:pathLst>
                <a:path w="1263142" h="24388953">
                  <a:moveTo>
                    <a:pt x="0" y="0"/>
                  </a:moveTo>
                  <a:lnTo>
                    <a:pt x="1263142" y="0"/>
                  </a:lnTo>
                  <a:lnTo>
                    <a:pt x="1263142" y="24388953"/>
                  </a:lnTo>
                  <a:lnTo>
                    <a:pt x="0" y="24388953"/>
                  </a:lnTo>
                  <a:close/>
                </a:path>
              </a:pathLst>
            </a:custGeom>
            <a:gradFill rotWithShape="1">
              <a:gsLst>
                <a:gs pos="0">
                  <a:srgbClr val="10CD57">
                    <a:alpha val="100000"/>
                  </a:srgbClr>
                </a:gs>
                <a:gs pos="100000">
                  <a:srgbClr val="027159">
                    <a:alpha val="100000"/>
                  </a:srgbClr>
                </a:gs>
              </a:gsLst>
              <a:lin ang="0"/>
            </a:gradFill>
          </p:spPr>
          <p:txBody>
            <a:bodyPr/>
            <a:lstStyle/>
            <a:p>
              <a:endParaRPr lang="vi-VN"/>
            </a:p>
          </p:txBody>
        </p:sp>
      </p:grpSp>
      <p:grpSp>
        <p:nvGrpSpPr>
          <p:cNvPr id="7" name="Group 7"/>
          <p:cNvGrpSpPr/>
          <p:nvPr/>
        </p:nvGrpSpPr>
        <p:grpSpPr>
          <a:xfrm rot="5400000">
            <a:off x="8670331" y="-8672198"/>
            <a:ext cx="947328" cy="18291715"/>
            <a:chOff x="0" y="0"/>
            <a:chExt cx="1263104" cy="24388953"/>
          </a:xfrm>
        </p:grpSpPr>
        <p:sp>
          <p:nvSpPr>
            <p:cNvPr id="8" name="Freeform 8"/>
            <p:cNvSpPr/>
            <p:nvPr/>
          </p:nvSpPr>
          <p:spPr>
            <a:xfrm flipV="1">
              <a:off x="0" y="0"/>
              <a:ext cx="1263142" cy="24388953"/>
            </a:xfrm>
            <a:custGeom>
              <a:avLst/>
              <a:gdLst/>
              <a:ahLst/>
              <a:cxnLst/>
              <a:rect l="l" t="t" r="r" b="b"/>
              <a:pathLst>
                <a:path w="1263142" h="24388953">
                  <a:moveTo>
                    <a:pt x="0" y="0"/>
                  </a:moveTo>
                  <a:lnTo>
                    <a:pt x="1263142" y="0"/>
                  </a:lnTo>
                  <a:lnTo>
                    <a:pt x="1263142" y="24388953"/>
                  </a:lnTo>
                  <a:lnTo>
                    <a:pt x="0" y="24388953"/>
                  </a:lnTo>
                  <a:close/>
                </a:path>
              </a:pathLst>
            </a:custGeom>
            <a:blipFill>
              <a:blip r:embed="rId2"/>
              <a:stretch>
                <a:fillRect l="-35093" r="-35090"/>
              </a:stretch>
            </a:blipFill>
          </p:spPr>
          <p:txBody>
            <a:bodyPr/>
            <a:lstStyle/>
            <a:p>
              <a:endParaRPr lang="vi-VN"/>
            </a:p>
          </p:txBody>
        </p:sp>
      </p:grpSp>
      <p:sp>
        <p:nvSpPr>
          <p:cNvPr id="9" name="TextBox 9"/>
          <p:cNvSpPr txBox="1"/>
          <p:nvPr/>
        </p:nvSpPr>
        <p:spPr>
          <a:xfrm>
            <a:off x="451866" y="248326"/>
            <a:ext cx="10947559" cy="424158"/>
          </a:xfrm>
          <a:prstGeom prst="rect">
            <a:avLst/>
          </a:prstGeom>
        </p:spPr>
        <p:txBody>
          <a:bodyPr lIns="0" tIns="0" rIns="0" bIns="0" rtlCol="0" anchor="t">
            <a:spAutoFit/>
          </a:bodyPr>
          <a:lstStyle/>
          <a:p>
            <a:pPr algn="l">
              <a:lnSpc>
                <a:spcPts val="2879"/>
              </a:lnSpc>
            </a:pPr>
            <a:r>
              <a:rPr lang="en-US" sz="2400" b="1">
                <a:solidFill>
                  <a:srgbClr val="FFFFFF"/>
                </a:solidFill>
                <a:latin typeface="Arial Bold"/>
                <a:ea typeface="Arial Bold"/>
                <a:cs typeface="Arial Bold"/>
                <a:sym typeface="Arial Bold"/>
              </a:rPr>
              <a:t>FACULTY OF COMPUTER ENGINEERING</a:t>
            </a:r>
          </a:p>
        </p:txBody>
      </p:sp>
      <p:grpSp>
        <p:nvGrpSpPr>
          <p:cNvPr id="10" name="Group 10"/>
          <p:cNvGrpSpPr/>
          <p:nvPr/>
        </p:nvGrpSpPr>
        <p:grpSpPr>
          <a:xfrm>
            <a:off x="6719973" y="457933"/>
            <a:ext cx="4848044" cy="957948"/>
            <a:chOff x="0" y="0"/>
            <a:chExt cx="6464059" cy="1277264"/>
          </a:xfrm>
        </p:grpSpPr>
        <p:sp>
          <p:nvSpPr>
            <p:cNvPr id="11" name="Freeform 11"/>
            <p:cNvSpPr/>
            <p:nvPr/>
          </p:nvSpPr>
          <p:spPr>
            <a:xfrm>
              <a:off x="0" y="0"/>
              <a:ext cx="6464173" cy="1277366"/>
            </a:xfrm>
            <a:custGeom>
              <a:avLst/>
              <a:gdLst/>
              <a:ahLst/>
              <a:cxnLst/>
              <a:rect l="l" t="t" r="r" b="b"/>
              <a:pathLst>
                <a:path w="6464173" h="1277366">
                  <a:moveTo>
                    <a:pt x="0" y="638683"/>
                  </a:moveTo>
                  <a:cubicBezTo>
                    <a:pt x="0" y="285877"/>
                    <a:pt x="285877" y="0"/>
                    <a:pt x="638683" y="0"/>
                  </a:cubicBezTo>
                  <a:lnTo>
                    <a:pt x="5825490" y="0"/>
                  </a:lnTo>
                  <a:cubicBezTo>
                    <a:pt x="6178169" y="0"/>
                    <a:pt x="6464173" y="285877"/>
                    <a:pt x="6464173" y="638683"/>
                  </a:cubicBezTo>
                  <a:cubicBezTo>
                    <a:pt x="6464173" y="991489"/>
                    <a:pt x="6178296" y="1277366"/>
                    <a:pt x="5825490" y="1277366"/>
                  </a:cubicBezTo>
                  <a:lnTo>
                    <a:pt x="638683" y="1277366"/>
                  </a:lnTo>
                  <a:cubicBezTo>
                    <a:pt x="285877" y="1277239"/>
                    <a:pt x="0" y="991362"/>
                    <a:pt x="0" y="638683"/>
                  </a:cubicBezTo>
                  <a:close/>
                </a:path>
              </a:pathLst>
            </a:custGeom>
            <a:gradFill rotWithShape="1">
              <a:gsLst>
                <a:gs pos="0">
                  <a:srgbClr val="38EF7D">
                    <a:alpha val="100000"/>
                  </a:srgbClr>
                </a:gs>
                <a:gs pos="100000">
                  <a:srgbClr val="752AFF">
                    <a:alpha val="100000"/>
                  </a:srgbClr>
                </a:gs>
              </a:gsLst>
              <a:lin ang="4729360"/>
            </a:gradFill>
          </p:spPr>
          <p:txBody>
            <a:bodyPr/>
            <a:lstStyle/>
            <a:p>
              <a:endParaRPr lang="vi-VN"/>
            </a:p>
          </p:txBody>
        </p:sp>
      </p:grpSp>
      <p:grpSp>
        <p:nvGrpSpPr>
          <p:cNvPr id="12" name="Group 12"/>
          <p:cNvGrpSpPr/>
          <p:nvPr/>
        </p:nvGrpSpPr>
        <p:grpSpPr>
          <a:xfrm>
            <a:off x="6807460" y="535962"/>
            <a:ext cx="4673079" cy="801872"/>
            <a:chOff x="0" y="0"/>
            <a:chExt cx="6230772" cy="1069162"/>
          </a:xfrm>
        </p:grpSpPr>
        <p:sp>
          <p:nvSpPr>
            <p:cNvPr id="13" name="Freeform 13"/>
            <p:cNvSpPr/>
            <p:nvPr/>
          </p:nvSpPr>
          <p:spPr>
            <a:xfrm>
              <a:off x="0" y="0"/>
              <a:ext cx="6230747" cy="1069086"/>
            </a:xfrm>
            <a:custGeom>
              <a:avLst/>
              <a:gdLst/>
              <a:ahLst/>
              <a:cxnLst/>
              <a:rect l="l" t="t" r="r" b="b"/>
              <a:pathLst>
                <a:path w="6230747" h="1069086">
                  <a:moveTo>
                    <a:pt x="0" y="534543"/>
                  </a:moveTo>
                  <a:cubicBezTo>
                    <a:pt x="0" y="239395"/>
                    <a:pt x="239395" y="0"/>
                    <a:pt x="534543" y="0"/>
                  </a:cubicBezTo>
                  <a:lnTo>
                    <a:pt x="5696204" y="0"/>
                  </a:lnTo>
                  <a:cubicBezTo>
                    <a:pt x="5991479" y="0"/>
                    <a:pt x="6230747" y="239395"/>
                    <a:pt x="6230747" y="534543"/>
                  </a:cubicBezTo>
                  <a:cubicBezTo>
                    <a:pt x="6230747" y="829691"/>
                    <a:pt x="5991352" y="1069086"/>
                    <a:pt x="5696204" y="1069086"/>
                  </a:cubicBezTo>
                  <a:lnTo>
                    <a:pt x="534543" y="1069086"/>
                  </a:lnTo>
                  <a:cubicBezTo>
                    <a:pt x="239395" y="1069213"/>
                    <a:pt x="0" y="829818"/>
                    <a:pt x="0" y="534543"/>
                  </a:cubicBezTo>
                  <a:close/>
                </a:path>
              </a:pathLst>
            </a:custGeom>
            <a:solidFill>
              <a:srgbClr val="FFFFFF"/>
            </a:solidFill>
          </p:spPr>
          <p:txBody>
            <a:bodyPr/>
            <a:lstStyle/>
            <a:p>
              <a:endParaRPr lang="vi-VN"/>
            </a:p>
          </p:txBody>
        </p:sp>
      </p:grpSp>
      <p:grpSp>
        <p:nvGrpSpPr>
          <p:cNvPr id="14" name="Group 14"/>
          <p:cNvGrpSpPr/>
          <p:nvPr/>
        </p:nvGrpSpPr>
        <p:grpSpPr>
          <a:xfrm>
            <a:off x="9436446" y="362541"/>
            <a:ext cx="1163307" cy="1152592"/>
            <a:chOff x="0" y="0"/>
            <a:chExt cx="1551076" cy="1536789"/>
          </a:xfrm>
        </p:grpSpPr>
        <p:sp>
          <p:nvSpPr>
            <p:cNvPr id="15" name="Freeform 15" descr="Icon  Description automatically generated with medium confidence"/>
            <p:cNvSpPr/>
            <p:nvPr/>
          </p:nvSpPr>
          <p:spPr>
            <a:xfrm>
              <a:off x="0" y="0"/>
              <a:ext cx="1551051" cy="1536827"/>
            </a:xfrm>
            <a:custGeom>
              <a:avLst/>
              <a:gdLst/>
              <a:ahLst/>
              <a:cxnLst/>
              <a:rect l="l" t="t" r="r" b="b"/>
              <a:pathLst>
                <a:path w="1551051" h="1536827">
                  <a:moveTo>
                    <a:pt x="0" y="0"/>
                  </a:moveTo>
                  <a:lnTo>
                    <a:pt x="1551051" y="0"/>
                  </a:lnTo>
                  <a:lnTo>
                    <a:pt x="1551051" y="1536827"/>
                  </a:lnTo>
                  <a:lnTo>
                    <a:pt x="0" y="1536827"/>
                  </a:lnTo>
                  <a:lnTo>
                    <a:pt x="0" y="0"/>
                  </a:lnTo>
                  <a:close/>
                </a:path>
              </a:pathLst>
            </a:custGeom>
            <a:blipFill>
              <a:blip r:embed="rId3"/>
              <a:stretch>
                <a:fillRect l="-75" r="-76" b="2"/>
              </a:stretch>
            </a:blipFill>
          </p:spPr>
          <p:txBody>
            <a:bodyPr/>
            <a:lstStyle/>
            <a:p>
              <a:endParaRPr lang="vi-VN"/>
            </a:p>
          </p:txBody>
        </p:sp>
      </p:grpSp>
      <p:grpSp>
        <p:nvGrpSpPr>
          <p:cNvPr id="16" name="Group 16"/>
          <p:cNvGrpSpPr/>
          <p:nvPr/>
        </p:nvGrpSpPr>
        <p:grpSpPr>
          <a:xfrm>
            <a:off x="7688247" y="398078"/>
            <a:ext cx="1307516" cy="1081516"/>
            <a:chOff x="0" y="0"/>
            <a:chExt cx="1743354" cy="1442022"/>
          </a:xfrm>
        </p:grpSpPr>
        <p:sp>
          <p:nvSpPr>
            <p:cNvPr id="17" name="Freeform 17" descr="A picture containing clipart, vector graphics  Description automatically generated"/>
            <p:cNvSpPr/>
            <p:nvPr/>
          </p:nvSpPr>
          <p:spPr>
            <a:xfrm>
              <a:off x="0" y="0"/>
              <a:ext cx="1743329" cy="1442085"/>
            </a:xfrm>
            <a:custGeom>
              <a:avLst/>
              <a:gdLst/>
              <a:ahLst/>
              <a:cxnLst/>
              <a:rect l="l" t="t" r="r" b="b"/>
              <a:pathLst>
                <a:path w="1743329" h="1442085">
                  <a:moveTo>
                    <a:pt x="0" y="0"/>
                  </a:moveTo>
                  <a:lnTo>
                    <a:pt x="1743329" y="0"/>
                  </a:lnTo>
                  <a:lnTo>
                    <a:pt x="1743329" y="1442085"/>
                  </a:lnTo>
                  <a:lnTo>
                    <a:pt x="0" y="1442085"/>
                  </a:lnTo>
                  <a:lnTo>
                    <a:pt x="0" y="0"/>
                  </a:lnTo>
                  <a:close/>
                </a:path>
              </a:pathLst>
            </a:custGeom>
            <a:blipFill>
              <a:blip r:embed="rId4"/>
              <a:stretch>
                <a:fillRect t="-74" r="-1" b="-71"/>
              </a:stretch>
            </a:blipFill>
          </p:spPr>
          <p:txBody>
            <a:bodyPr/>
            <a:lstStyle/>
            <a:p>
              <a:endParaRPr lang="vi-VN"/>
            </a:p>
          </p:txBody>
        </p:sp>
      </p:grpSp>
      <p:sp>
        <p:nvSpPr>
          <p:cNvPr id="18" name="Freeform 18"/>
          <p:cNvSpPr/>
          <p:nvPr/>
        </p:nvSpPr>
        <p:spPr>
          <a:xfrm>
            <a:off x="17262338" y="9405385"/>
            <a:ext cx="819198" cy="819198"/>
          </a:xfrm>
          <a:custGeom>
            <a:avLst/>
            <a:gdLst/>
            <a:ahLst/>
            <a:cxnLst/>
            <a:rect l="l" t="t" r="r" b="b"/>
            <a:pathLst>
              <a:path w="819198" h="819198">
                <a:moveTo>
                  <a:pt x="0" y="0"/>
                </a:moveTo>
                <a:lnTo>
                  <a:pt x="819198" y="0"/>
                </a:lnTo>
                <a:lnTo>
                  <a:pt x="819198" y="819198"/>
                </a:lnTo>
                <a:lnTo>
                  <a:pt x="0" y="81919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vi-VN"/>
          </a:p>
        </p:txBody>
      </p:sp>
      <p:grpSp>
        <p:nvGrpSpPr>
          <p:cNvPr id="19" name="Group 19"/>
          <p:cNvGrpSpPr/>
          <p:nvPr/>
        </p:nvGrpSpPr>
        <p:grpSpPr>
          <a:xfrm>
            <a:off x="0" y="2124"/>
            <a:ext cx="18291715" cy="10295487"/>
            <a:chOff x="0" y="0"/>
            <a:chExt cx="24388953" cy="13727316"/>
          </a:xfrm>
        </p:grpSpPr>
        <p:sp>
          <p:nvSpPr>
            <p:cNvPr id="20" name="Freeform 20"/>
            <p:cNvSpPr/>
            <p:nvPr/>
          </p:nvSpPr>
          <p:spPr>
            <a:xfrm>
              <a:off x="0" y="0"/>
              <a:ext cx="24388953" cy="13727303"/>
            </a:xfrm>
            <a:custGeom>
              <a:avLst/>
              <a:gdLst/>
              <a:ahLst/>
              <a:cxnLst/>
              <a:rect l="l" t="t" r="r" b="b"/>
              <a:pathLst>
                <a:path w="24388953" h="1372730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txBody>
            <a:bodyPr/>
            <a:lstStyle/>
            <a:p>
              <a:endParaRPr lang="vi-VN"/>
            </a:p>
          </p:txBody>
        </p:sp>
      </p:grpSp>
      <p:grpSp>
        <p:nvGrpSpPr>
          <p:cNvPr id="21" name="Group 21"/>
          <p:cNvGrpSpPr/>
          <p:nvPr/>
        </p:nvGrpSpPr>
        <p:grpSpPr>
          <a:xfrm>
            <a:off x="908999" y="1555147"/>
            <a:ext cx="16470001" cy="1335996"/>
            <a:chOff x="0" y="0"/>
            <a:chExt cx="21960002" cy="1781327"/>
          </a:xfrm>
        </p:grpSpPr>
        <p:sp>
          <p:nvSpPr>
            <p:cNvPr id="22" name="Freeform 22"/>
            <p:cNvSpPr/>
            <p:nvPr/>
          </p:nvSpPr>
          <p:spPr>
            <a:xfrm>
              <a:off x="0" y="0"/>
              <a:ext cx="21960001" cy="1781326"/>
            </a:xfrm>
            <a:custGeom>
              <a:avLst/>
              <a:gdLst/>
              <a:ahLst/>
              <a:cxnLst/>
              <a:rect l="l" t="t" r="r" b="b"/>
              <a:pathLst>
                <a:path w="21960001" h="1781326">
                  <a:moveTo>
                    <a:pt x="0" y="0"/>
                  </a:moveTo>
                  <a:lnTo>
                    <a:pt x="21960001" y="0"/>
                  </a:lnTo>
                  <a:lnTo>
                    <a:pt x="21960001" y="1781326"/>
                  </a:lnTo>
                  <a:lnTo>
                    <a:pt x="0" y="1781326"/>
                  </a:lnTo>
                  <a:close/>
                </a:path>
              </a:pathLst>
            </a:custGeom>
            <a:blipFill>
              <a:blip r:embed="rId6">
                <a:alphaModFix amt="0"/>
              </a:blip>
              <a:stretch>
                <a:fillRect t="-190209" b="-190209"/>
              </a:stretch>
            </a:blipFill>
          </p:spPr>
          <p:txBody>
            <a:bodyPr/>
            <a:lstStyle/>
            <a:p>
              <a:endParaRPr lang="vi-VN"/>
            </a:p>
          </p:txBody>
        </p:sp>
        <p:sp>
          <p:nvSpPr>
            <p:cNvPr id="23" name="TextBox 23"/>
            <p:cNvSpPr txBox="1"/>
            <p:nvPr/>
          </p:nvSpPr>
          <p:spPr>
            <a:xfrm>
              <a:off x="0" y="38100"/>
              <a:ext cx="21960002" cy="1743227"/>
            </a:xfrm>
            <a:prstGeom prst="rect">
              <a:avLst/>
            </a:prstGeom>
          </p:spPr>
          <p:txBody>
            <a:bodyPr lIns="0" tIns="0" rIns="0" bIns="0" rtlCol="0" anchor="ctr"/>
            <a:lstStyle/>
            <a:p>
              <a:pPr algn="l">
                <a:lnSpc>
                  <a:spcPts val="7128"/>
                </a:lnSpc>
              </a:pPr>
              <a:r>
                <a:rPr lang="en-US" sz="6600" b="1">
                  <a:gradFill>
                    <a:gsLst>
                      <a:gs pos="0">
                        <a:srgbClr val="027159">
                          <a:alpha val="100000"/>
                        </a:srgbClr>
                      </a:gs>
                      <a:gs pos="100000">
                        <a:srgbClr val="10CD57">
                          <a:alpha val="100000"/>
                        </a:srgbClr>
                      </a:gs>
                    </a:gsLst>
                    <a:lin ang="16200000"/>
                  </a:gradFill>
                  <a:latin typeface="Times New Roman Bold"/>
                  <a:ea typeface="Times New Roman Bold"/>
                  <a:cs typeface="Times New Roman Bold"/>
                  <a:sym typeface="Times New Roman Bold"/>
                </a:rPr>
                <a:t>3. Kết quả của giải pháp đề xuất</a:t>
              </a:r>
            </a:p>
          </p:txBody>
        </p:sp>
      </p:grpSp>
      <p:grpSp>
        <p:nvGrpSpPr>
          <p:cNvPr id="24" name="Group 24"/>
          <p:cNvGrpSpPr/>
          <p:nvPr/>
        </p:nvGrpSpPr>
        <p:grpSpPr>
          <a:xfrm>
            <a:off x="6350346" y="9534525"/>
            <a:ext cx="6172200" cy="547688"/>
            <a:chOff x="0" y="0"/>
            <a:chExt cx="8229600" cy="730250"/>
          </a:xfrm>
        </p:grpSpPr>
        <p:sp>
          <p:nvSpPr>
            <p:cNvPr id="25" name="Freeform 25"/>
            <p:cNvSpPr/>
            <p:nvPr/>
          </p:nvSpPr>
          <p:spPr>
            <a:xfrm>
              <a:off x="0" y="0"/>
              <a:ext cx="8229600" cy="730250"/>
            </a:xfrm>
            <a:custGeom>
              <a:avLst/>
              <a:gdLst/>
              <a:ahLst/>
              <a:cxnLst/>
              <a:rect l="l" t="t" r="r" b="b"/>
              <a:pathLst>
                <a:path w="8229600" h="730250">
                  <a:moveTo>
                    <a:pt x="0" y="0"/>
                  </a:moveTo>
                  <a:lnTo>
                    <a:pt x="8229600" y="0"/>
                  </a:lnTo>
                  <a:lnTo>
                    <a:pt x="8229600" y="730250"/>
                  </a:lnTo>
                  <a:lnTo>
                    <a:pt x="0" y="730250"/>
                  </a:lnTo>
                  <a:close/>
                </a:path>
              </a:pathLst>
            </a:custGeom>
            <a:blipFill>
              <a:blip r:embed="rId6">
                <a:alphaModFix amt="0"/>
              </a:blip>
              <a:stretch>
                <a:fillRect t="-169587" b="-169587"/>
              </a:stretch>
            </a:blipFill>
          </p:spPr>
          <p:txBody>
            <a:bodyPr/>
            <a:lstStyle/>
            <a:p>
              <a:endParaRPr lang="vi-VN"/>
            </a:p>
          </p:txBody>
        </p:sp>
        <p:sp>
          <p:nvSpPr>
            <p:cNvPr id="26" name="TextBox 26"/>
            <p:cNvSpPr txBox="1"/>
            <p:nvPr/>
          </p:nvSpPr>
          <p:spPr>
            <a:xfrm>
              <a:off x="0" y="-19050"/>
              <a:ext cx="8229600" cy="749300"/>
            </a:xfrm>
            <a:prstGeom prst="rect">
              <a:avLst/>
            </a:prstGeom>
          </p:spPr>
          <p:txBody>
            <a:bodyPr lIns="0" tIns="0" rIns="0" bIns="0" rtlCol="0" anchor="ctr"/>
            <a:lstStyle/>
            <a:p>
              <a:pPr algn="ctr">
                <a:lnSpc>
                  <a:spcPts val="2160"/>
                </a:lnSpc>
              </a:pPr>
              <a:r>
                <a:rPr lang="en-US" sz="1800">
                  <a:solidFill>
                    <a:srgbClr val="898989"/>
                  </a:solidFill>
                  <a:latin typeface="Arial"/>
                  <a:ea typeface="Arial"/>
                  <a:cs typeface="Arial"/>
                  <a:sym typeface="Arial"/>
                </a:rPr>
                <a:t>Copyrights 2024 CE-UIT. All Rights Reserved.</a:t>
              </a:r>
            </a:p>
          </p:txBody>
        </p:sp>
      </p:grpSp>
      <p:grpSp>
        <p:nvGrpSpPr>
          <p:cNvPr id="27" name="Group 27"/>
          <p:cNvGrpSpPr/>
          <p:nvPr/>
        </p:nvGrpSpPr>
        <p:grpSpPr>
          <a:xfrm>
            <a:off x="15634421" y="9534525"/>
            <a:ext cx="4114800" cy="547688"/>
            <a:chOff x="0" y="0"/>
            <a:chExt cx="5486400" cy="730250"/>
          </a:xfrm>
        </p:grpSpPr>
        <p:sp>
          <p:nvSpPr>
            <p:cNvPr id="28" name="Freeform 28"/>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blipFill>
              <a:blip r:embed="rId6">
                <a:alphaModFix amt="0"/>
              </a:blip>
              <a:stretch>
                <a:fillRect t="-96391" b="-96391"/>
              </a:stretch>
            </a:blipFill>
          </p:spPr>
          <p:txBody>
            <a:bodyPr/>
            <a:lstStyle/>
            <a:p>
              <a:endParaRPr lang="vi-VN"/>
            </a:p>
          </p:txBody>
        </p:sp>
        <p:sp>
          <p:nvSpPr>
            <p:cNvPr id="29" name="TextBox 29"/>
            <p:cNvSpPr txBox="1"/>
            <p:nvPr/>
          </p:nvSpPr>
          <p:spPr>
            <a:xfrm>
              <a:off x="0" y="-19050"/>
              <a:ext cx="5486400" cy="749300"/>
            </a:xfrm>
            <a:prstGeom prst="rect">
              <a:avLst/>
            </a:prstGeom>
          </p:spPr>
          <p:txBody>
            <a:bodyPr lIns="0" tIns="0" rIns="0" bIns="0" rtlCol="0" anchor="ctr"/>
            <a:lstStyle/>
            <a:p>
              <a:pPr algn="ctr">
                <a:lnSpc>
                  <a:spcPts val="2160"/>
                </a:lnSpc>
              </a:pPr>
              <a:r>
                <a:rPr lang="en-US" sz="1800">
                  <a:solidFill>
                    <a:srgbClr val="FFFFFF"/>
                  </a:solidFill>
                  <a:latin typeface="Arial"/>
                  <a:ea typeface="Arial"/>
                  <a:cs typeface="Arial"/>
                  <a:sym typeface="Arial"/>
                </a:rPr>
                <a:t>16</a:t>
              </a:r>
            </a:p>
          </p:txBody>
        </p:sp>
      </p:grpSp>
      <p:sp>
        <p:nvSpPr>
          <p:cNvPr id="30" name="TextBox 30"/>
          <p:cNvSpPr txBox="1"/>
          <p:nvPr/>
        </p:nvSpPr>
        <p:spPr>
          <a:xfrm>
            <a:off x="1606525" y="2785986"/>
            <a:ext cx="3700891" cy="611562"/>
          </a:xfrm>
          <a:prstGeom prst="rect">
            <a:avLst/>
          </a:prstGeom>
        </p:spPr>
        <p:txBody>
          <a:bodyPr lIns="0" tIns="0" rIns="0" bIns="0" rtlCol="0" anchor="t">
            <a:spAutoFit/>
          </a:bodyPr>
          <a:lstStyle/>
          <a:p>
            <a:pPr marL="542925" lvl="1" indent="-271462" algn="just">
              <a:lnSpc>
                <a:spcPts val="4140"/>
              </a:lnSpc>
              <a:buFont typeface="Arial"/>
              <a:buChar char="•"/>
            </a:pPr>
            <a:r>
              <a:rPr lang="en-US" sz="3000" b="1">
                <a:solidFill>
                  <a:srgbClr val="000000"/>
                </a:solidFill>
                <a:latin typeface="Times New Roman Bold"/>
                <a:ea typeface="Times New Roman Bold"/>
                <a:cs typeface="Times New Roman Bold"/>
                <a:sym typeface="Times New Roman Bold"/>
              </a:rPr>
              <a:t>TestBench:</a:t>
            </a:r>
          </a:p>
        </p:txBody>
      </p:sp>
      <p:sp>
        <p:nvSpPr>
          <p:cNvPr id="31" name="TextBox 31"/>
          <p:cNvSpPr txBox="1"/>
          <p:nvPr/>
        </p:nvSpPr>
        <p:spPr>
          <a:xfrm>
            <a:off x="1977904" y="3365173"/>
            <a:ext cx="7831398" cy="5854551"/>
          </a:xfrm>
          <a:prstGeom prst="rect">
            <a:avLst/>
          </a:prstGeom>
        </p:spPr>
        <p:txBody>
          <a:bodyPr lIns="0" tIns="0" rIns="0" bIns="0" rtlCol="0" anchor="t">
            <a:spAutoFit/>
          </a:bodyPr>
          <a:lstStyle/>
          <a:p>
            <a:pPr marL="542925" lvl="1" indent="-271462" algn="l">
              <a:lnSpc>
                <a:spcPts val="4680"/>
              </a:lnSpc>
              <a:buFont typeface="Arial"/>
              <a:buChar char="•"/>
            </a:pPr>
            <a:r>
              <a:rPr lang="en-US" sz="3000">
                <a:solidFill>
                  <a:srgbClr val="000000"/>
                </a:solidFill>
                <a:latin typeface="Times New Roman"/>
                <a:ea typeface="Times New Roman"/>
                <a:cs typeface="Times New Roman"/>
                <a:sym typeface="Times New Roman"/>
              </a:rPr>
              <a:t>Kịch bản testbench đơn giản</a:t>
            </a:r>
          </a:p>
          <a:p>
            <a:pPr marL="542925" lvl="1" indent="-271462" algn="l">
              <a:lnSpc>
                <a:spcPts val="4680"/>
              </a:lnSpc>
            </a:pPr>
            <a:r>
              <a:rPr lang="en-US" sz="3000">
                <a:solidFill>
                  <a:srgbClr val="000000"/>
                </a:solidFill>
                <a:latin typeface="Times New Roman"/>
                <a:ea typeface="Times New Roman"/>
                <a:cs typeface="Times New Roman"/>
                <a:sym typeface="Times New Roman"/>
              </a:rPr>
              <a:t>addi x2, x0, 29</a:t>
            </a:r>
          </a:p>
          <a:p>
            <a:pPr marL="542925" lvl="1" indent="-271462" algn="l">
              <a:lnSpc>
                <a:spcPts val="4680"/>
              </a:lnSpc>
            </a:pPr>
            <a:r>
              <a:rPr lang="en-US" sz="3000">
                <a:solidFill>
                  <a:srgbClr val="000000"/>
                </a:solidFill>
                <a:latin typeface="Times New Roman"/>
                <a:ea typeface="Times New Roman"/>
                <a:cs typeface="Times New Roman"/>
                <a:sym typeface="Times New Roman"/>
              </a:rPr>
              <a:t>addi x4, x0, 14</a:t>
            </a:r>
          </a:p>
          <a:p>
            <a:pPr marL="542925" lvl="1" indent="-271462" algn="l">
              <a:lnSpc>
                <a:spcPts val="4680"/>
              </a:lnSpc>
            </a:pPr>
            <a:r>
              <a:rPr lang="en-US" sz="3000">
                <a:solidFill>
                  <a:srgbClr val="000000"/>
                </a:solidFill>
                <a:latin typeface="Times New Roman"/>
                <a:ea typeface="Times New Roman"/>
                <a:cs typeface="Times New Roman"/>
                <a:sym typeface="Times New Roman"/>
              </a:rPr>
              <a:t>fcvt.d.l f1, x2</a:t>
            </a:r>
          </a:p>
          <a:p>
            <a:pPr marL="542925" lvl="1" indent="-271462" algn="l">
              <a:lnSpc>
                <a:spcPts val="4680"/>
              </a:lnSpc>
            </a:pPr>
            <a:r>
              <a:rPr lang="en-US" sz="3000">
                <a:solidFill>
                  <a:srgbClr val="000000"/>
                </a:solidFill>
                <a:latin typeface="Times New Roman"/>
                <a:ea typeface="Times New Roman"/>
                <a:cs typeface="Times New Roman"/>
                <a:sym typeface="Times New Roman"/>
              </a:rPr>
              <a:t>fcvt.d.l f2, x4</a:t>
            </a:r>
          </a:p>
          <a:p>
            <a:pPr marL="542925" lvl="1" indent="-271462" algn="l">
              <a:lnSpc>
                <a:spcPts val="4680"/>
              </a:lnSpc>
            </a:pPr>
            <a:r>
              <a:rPr lang="en-US" sz="3000">
                <a:solidFill>
                  <a:srgbClr val="000000"/>
                </a:solidFill>
                <a:latin typeface="Times New Roman"/>
                <a:ea typeface="Times New Roman"/>
                <a:cs typeface="Times New Roman"/>
                <a:sym typeface="Times New Roman"/>
              </a:rPr>
              <a:t>fdiv.d f3, f1, f2</a:t>
            </a:r>
          </a:p>
          <a:p>
            <a:pPr marL="542925" lvl="1" indent="-271462" algn="l">
              <a:lnSpc>
                <a:spcPts val="4680"/>
              </a:lnSpc>
            </a:pPr>
            <a:r>
              <a:rPr lang="en-US" sz="3000">
                <a:solidFill>
                  <a:srgbClr val="000000"/>
                </a:solidFill>
                <a:latin typeface="Times New Roman"/>
                <a:ea typeface="Times New Roman"/>
                <a:cs typeface="Times New Roman"/>
                <a:sym typeface="Times New Roman"/>
              </a:rPr>
              <a:t>fcvt.l.d x1, f3</a:t>
            </a:r>
          </a:p>
          <a:p>
            <a:pPr marL="542925" lvl="1" indent="-271462" algn="l">
              <a:lnSpc>
                <a:spcPts val="4680"/>
              </a:lnSpc>
            </a:pPr>
            <a:r>
              <a:rPr lang="en-US" sz="3000">
                <a:solidFill>
                  <a:srgbClr val="000000"/>
                </a:solidFill>
                <a:latin typeface="Times New Roman"/>
                <a:ea typeface="Times New Roman"/>
                <a:cs typeface="Times New Roman"/>
                <a:sym typeface="Times New Roman"/>
              </a:rPr>
              <a:t>add x3, x0, x2</a:t>
            </a:r>
          </a:p>
        </p:txBody>
      </p:sp>
      <p:grpSp>
        <p:nvGrpSpPr>
          <p:cNvPr id="32" name="Group 32"/>
          <p:cNvGrpSpPr/>
          <p:nvPr/>
        </p:nvGrpSpPr>
        <p:grpSpPr>
          <a:xfrm>
            <a:off x="4713894" y="4185837"/>
            <a:ext cx="13430326" cy="5046221"/>
            <a:chOff x="0" y="0"/>
            <a:chExt cx="17907102" cy="6728295"/>
          </a:xfrm>
        </p:grpSpPr>
        <p:sp>
          <p:nvSpPr>
            <p:cNvPr id="33" name="Freeform 33"/>
            <p:cNvSpPr/>
            <p:nvPr/>
          </p:nvSpPr>
          <p:spPr>
            <a:xfrm>
              <a:off x="0" y="0"/>
              <a:ext cx="17907127" cy="6728333"/>
            </a:xfrm>
            <a:custGeom>
              <a:avLst/>
              <a:gdLst/>
              <a:ahLst/>
              <a:cxnLst/>
              <a:rect l="l" t="t" r="r" b="b"/>
              <a:pathLst>
                <a:path w="17907127" h="6728333">
                  <a:moveTo>
                    <a:pt x="0" y="0"/>
                  </a:moveTo>
                  <a:lnTo>
                    <a:pt x="17907127" y="0"/>
                  </a:lnTo>
                  <a:lnTo>
                    <a:pt x="17907127" y="6728333"/>
                  </a:lnTo>
                  <a:lnTo>
                    <a:pt x="0" y="6728333"/>
                  </a:lnTo>
                  <a:lnTo>
                    <a:pt x="0" y="0"/>
                  </a:lnTo>
                  <a:close/>
                </a:path>
              </a:pathLst>
            </a:custGeom>
            <a:blipFill>
              <a:blip r:embed="rId7"/>
              <a:stretch>
                <a:fillRect/>
              </a:stretch>
            </a:blipFill>
          </p:spPr>
          <p:txBody>
            <a:bodyPr/>
            <a:lstStyle/>
            <a:p>
              <a:endParaRPr lang="vi-VN"/>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91440" y="-2287991"/>
            <a:ext cx="18105120" cy="527771"/>
          </a:xfrm>
          <a:prstGeom prst="rect">
            <a:avLst/>
          </a:prstGeom>
        </p:spPr>
        <p:txBody>
          <a:bodyPr lIns="0" tIns="0" rIns="0" bIns="0" rtlCol="0" anchor="t">
            <a:spAutoFit/>
          </a:bodyPr>
          <a:lstStyle/>
          <a:p>
            <a:pPr algn="ctr">
              <a:lnSpc>
                <a:spcPts val="3600"/>
              </a:lnSpc>
            </a:pPr>
            <a:r>
              <a:rPr lang="en-US" sz="3000">
                <a:solidFill>
                  <a:srgbClr val="C3C3C3"/>
                </a:solidFill>
                <a:latin typeface="Arial"/>
                <a:ea typeface="Arial"/>
                <a:cs typeface="Arial"/>
                <a:sym typeface="Arial"/>
              </a:rPr>
              <a:t>www.9slide.vn</a:t>
            </a:r>
          </a:p>
        </p:txBody>
      </p:sp>
      <p:grpSp>
        <p:nvGrpSpPr>
          <p:cNvPr id="3" name="Group 3"/>
          <p:cNvGrpSpPr/>
          <p:nvPr/>
        </p:nvGrpSpPr>
        <p:grpSpPr>
          <a:xfrm>
            <a:off x="0" y="2124"/>
            <a:ext cx="18291715" cy="10295487"/>
            <a:chOff x="0" y="0"/>
            <a:chExt cx="24388953" cy="13727316"/>
          </a:xfrm>
        </p:grpSpPr>
        <p:sp>
          <p:nvSpPr>
            <p:cNvPr id="4" name="Freeform 4"/>
            <p:cNvSpPr/>
            <p:nvPr/>
          </p:nvSpPr>
          <p:spPr>
            <a:xfrm>
              <a:off x="0" y="0"/>
              <a:ext cx="24388953" cy="13727303"/>
            </a:xfrm>
            <a:custGeom>
              <a:avLst/>
              <a:gdLst/>
              <a:ahLst/>
              <a:cxnLst/>
              <a:rect l="l" t="t" r="r" b="b"/>
              <a:pathLst>
                <a:path w="24388953" h="1372730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txBody>
            <a:bodyPr/>
            <a:lstStyle/>
            <a:p>
              <a:endParaRPr lang="vi-VN"/>
            </a:p>
          </p:txBody>
        </p:sp>
      </p:grpSp>
      <p:grpSp>
        <p:nvGrpSpPr>
          <p:cNvPr id="5" name="Group 5"/>
          <p:cNvGrpSpPr/>
          <p:nvPr/>
        </p:nvGrpSpPr>
        <p:grpSpPr>
          <a:xfrm>
            <a:off x="-36214" y="0"/>
            <a:ext cx="6084589" cy="10287000"/>
            <a:chOff x="0" y="0"/>
            <a:chExt cx="8112785" cy="13716000"/>
          </a:xfrm>
        </p:grpSpPr>
        <p:sp>
          <p:nvSpPr>
            <p:cNvPr id="6" name="Freeform 6"/>
            <p:cNvSpPr/>
            <p:nvPr/>
          </p:nvSpPr>
          <p:spPr>
            <a:xfrm>
              <a:off x="0" y="0"/>
              <a:ext cx="8112760" cy="13716000"/>
            </a:xfrm>
            <a:custGeom>
              <a:avLst/>
              <a:gdLst/>
              <a:ahLst/>
              <a:cxnLst/>
              <a:rect l="l" t="t" r="r" b="b"/>
              <a:pathLst>
                <a:path w="8112760" h="13716000">
                  <a:moveTo>
                    <a:pt x="0" y="0"/>
                  </a:moveTo>
                  <a:lnTo>
                    <a:pt x="8112760" y="0"/>
                  </a:lnTo>
                  <a:lnTo>
                    <a:pt x="8112760" y="13716000"/>
                  </a:lnTo>
                  <a:lnTo>
                    <a:pt x="0" y="13716000"/>
                  </a:lnTo>
                  <a:close/>
                </a:path>
              </a:pathLst>
            </a:custGeom>
            <a:gradFill rotWithShape="1">
              <a:gsLst>
                <a:gs pos="0">
                  <a:srgbClr val="38EF7D">
                    <a:alpha val="100000"/>
                  </a:srgbClr>
                </a:gs>
                <a:gs pos="100000">
                  <a:srgbClr val="11998E">
                    <a:alpha val="100000"/>
                  </a:srgbClr>
                </a:gs>
              </a:gsLst>
              <a:lin ang="5400000"/>
            </a:gradFill>
          </p:spPr>
          <p:txBody>
            <a:bodyPr/>
            <a:lstStyle/>
            <a:p>
              <a:endParaRPr lang="vi-VN"/>
            </a:p>
          </p:txBody>
        </p:sp>
      </p:grpSp>
      <p:grpSp>
        <p:nvGrpSpPr>
          <p:cNvPr id="7" name="Group 7"/>
          <p:cNvGrpSpPr/>
          <p:nvPr/>
        </p:nvGrpSpPr>
        <p:grpSpPr>
          <a:xfrm>
            <a:off x="-46873" y="0"/>
            <a:ext cx="2707176" cy="10287000"/>
            <a:chOff x="0" y="0"/>
            <a:chExt cx="3609569" cy="13716000"/>
          </a:xfrm>
        </p:grpSpPr>
        <p:sp>
          <p:nvSpPr>
            <p:cNvPr id="8" name="Freeform 8"/>
            <p:cNvSpPr/>
            <p:nvPr/>
          </p:nvSpPr>
          <p:spPr>
            <a:xfrm flipV="1">
              <a:off x="0" y="0"/>
              <a:ext cx="3609594" cy="13716000"/>
            </a:xfrm>
            <a:custGeom>
              <a:avLst/>
              <a:gdLst/>
              <a:ahLst/>
              <a:cxnLst/>
              <a:rect l="l" t="t" r="r" b="b"/>
              <a:pathLst>
                <a:path w="3609594" h="13716000">
                  <a:moveTo>
                    <a:pt x="0" y="0"/>
                  </a:moveTo>
                  <a:lnTo>
                    <a:pt x="3609594" y="0"/>
                  </a:lnTo>
                  <a:lnTo>
                    <a:pt x="3609594" y="13716000"/>
                  </a:lnTo>
                  <a:lnTo>
                    <a:pt x="0" y="13716000"/>
                  </a:lnTo>
                  <a:close/>
                </a:path>
              </a:pathLst>
            </a:custGeom>
            <a:blipFill>
              <a:blip r:embed="rId2"/>
              <a:stretch>
                <a:fillRect l="-2907" r="-2906"/>
              </a:stretch>
            </a:blipFill>
          </p:spPr>
          <p:txBody>
            <a:bodyPr/>
            <a:lstStyle/>
            <a:p>
              <a:endParaRPr lang="vi-VN"/>
            </a:p>
          </p:txBody>
        </p:sp>
      </p:grpSp>
      <p:sp>
        <p:nvSpPr>
          <p:cNvPr id="9" name="TextBox 9"/>
          <p:cNvSpPr txBox="1"/>
          <p:nvPr/>
        </p:nvSpPr>
        <p:spPr>
          <a:xfrm rot="-5400000">
            <a:off x="-2614688" y="6739452"/>
            <a:ext cx="6076721" cy="425920"/>
          </a:xfrm>
          <a:prstGeom prst="rect">
            <a:avLst/>
          </a:prstGeom>
        </p:spPr>
        <p:txBody>
          <a:bodyPr lIns="0" tIns="0" rIns="0" bIns="0" rtlCol="0" anchor="t">
            <a:spAutoFit/>
          </a:bodyPr>
          <a:lstStyle/>
          <a:p>
            <a:pPr algn="l">
              <a:lnSpc>
                <a:spcPts val="2879"/>
              </a:lnSpc>
            </a:pPr>
            <a:r>
              <a:rPr lang="en-US" sz="2400" b="1">
                <a:solidFill>
                  <a:srgbClr val="FFFFFF"/>
                </a:solidFill>
                <a:latin typeface="Arial Bold"/>
                <a:ea typeface="Arial Bold"/>
                <a:cs typeface="Arial Bold"/>
                <a:sym typeface="Arial Bold"/>
              </a:rPr>
              <a:t>FACULTY OF COMPUTER ENGINEERING</a:t>
            </a:r>
          </a:p>
        </p:txBody>
      </p:sp>
      <p:grpSp>
        <p:nvGrpSpPr>
          <p:cNvPr id="10" name="Group 10"/>
          <p:cNvGrpSpPr/>
          <p:nvPr/>
        </p:nvGrpSpPr>
        <p:grpSpPr>
          <a:xfrm>
            <a:off x="6719973" y="293294"/>
            <a:ext cx="4848044" cy="957948"/>
            <a:chOff x="0" y="0"/>
            <a:chExt cx="6464059" cy="1277264"/>
          </a:xfrm>
        </p:grpSpPr>
        <p:sp>
          <p:nvSpPr>
            <p:cNvPr id="11" name="Freeform 11"/>
            <p:cNvSpPr/>
            <p:nvPr/>
          </p:nvSpPr>
          <p:spPr>
            <a:xfrm>
              <a:off x="0" y="0"/>
              <a:ext cx="6464173" cy="1277366"/>
            </a:xfrm>
            <a:custGeom>
              <a:avLst/>
              <a:gdLst/>
              <a:ahLst/>
              <a:cxnLst/>
              <a:rect l="l" t="t" r="r" b="b"/>
              <a:pathLst>
                <a:path w="6464173" h="1277366">
                  <a:moveTo>
                    <a:pt x="0" y="638683"/>
                  </a:moveTo>
                  <a:cubicBezTo>
                    <a:pt x="0" y="285877"/>
                    <a:pt x="285877" y="0"/>
                    <a:pt x="638683" y="0"/>
                  </a:cubicBezTo>
                  <a:lnTo>
                    <a:pt x="5825490" y="0"/>
                  </a:lnTo>
                  <a:cubicBezTo>
                    <a:pt x="6178169" y="0"/>
                    <a:pt x="6464173" y="285877"/>
                    <a:pt x="6464173" y="638683"/>
                  </a:cubicBezTo>
                  <a:cubicBezTo>
                    <a:pt x="6464173" y="991489"/>
                    <a:pt x="6178296" y="1277366"/>
                    <a:pt x="5825490" y="1277366"/>
                  </a:cubicBezTo>
                  <a:lnTo>
                    <a:pt x="638683" y="1277366"/>
                  </a:lnTo>
                  <a:cubicBezTo>
                    <a:pt x="285877" y="1277239"/>
                    <a:pt x="0" y="991362"/>
                    <a:pt x="0" y="638683"/>
                  </a:cubicBezTo>
                  <a:close/>
                </a:path>
              </a:pathLst>
            </a:custGeom>
            <a:gradFill rotWithShape="1">
              <a:gsLst>
                <a:gs pos="0">
                  <a:srgbClr val="38EF7D">
                    <a:alpha val="100000"/>
                  </a:srgbClr>
                </a:gs>
                <a:gs pos="100000">
                  <a:srgbClr val="752AFF">
                    <a:alpha val="100000"/>
                  </a:srgbClr>
                </a:gs>
              </a:gsLst>
              <a:lin ang="4729360"/>
            </a:gradFill>
          </p:spPr>
          <p:txBody>
            <a:bodyPr/>
            <a:lstStyle/>
            <a:p>
              <a:endParaRPr lang="vi-VN"/>
            </a:p>
          </p:txBody>
        </p:sp>
      </p:grpSp>
      <p:grpSp>
        <p:nvGrpSpPr>
          <p:cNvPr id="12" name="Group 12"/>
          <p:cNvGrpSpPr/>
          <p:nvPr/>
        </p:nvGrpSpPr>
        <p:grpSpPr>
          <a:xfrm>
            <a:off x="6807460" y="371332"/>
            <a:ext cx="4673079" cy="801872"/>
            <a:chOff x="0" y="0"/>
            <a:chExt cx="6230772" cy="1069162"/>
          </a:xfrm>
        </p:grpSpPr>
        <p:sp>
          <p:nvSpPr>
            <p:cNvPr id="13" name="Freeform 13"/>
            <p:cNvSpPr/>
            <p:nvPr/>
          </p:nvSpPr>
          <p:spPr>
            <a:xfrm>
              <a:off x="0" y="0"/>
              <a:ext cx="6230747" cy="1069086"/>
            </a:xfrm>
            <a:custGeom>
              <a:avLst/>
              <a:gdLst/>
              <a:ahLst/>
              <a:cxnLst/>
              <a:rect l="l" t="t" r="r" b="b"/>
              <a:pathLst>
                <a:path w="6230747" h="1069086">
                  <a:moveTo>
                    <a:pt x="0" y="534543"/>
                  </a:moveTo>
                  <a:cubicBezTo>
                    <a:pt x="0" y="239395"/>
                    <a:pt x="239395" y="0"/>
                    <a:pt x="534543" y="0"/>
                  </a:cubicBezTo>
                  <a:lnTo>
                    <a:pt x="5696204" y="0"/>
                  </a:lnTo>
                  <a:cubicBezTo>
                    <a:pt x="5991479" y="0"/>
                    <a:pt x="6230747" y="239395"/>
                    <a:pt x="6230747" y="534543"/>
                  </a:cubicBezTo>
                  <a:cubicBezTo>
                    <a:pt x="6230747" y="829691"/>
                    <a:pt x="5991352" y="1069086"/>
                    <a:pt x="5696204" y="1069086"/>
                  </a:cubicBezTo>
                  <a:lnTo>
                    <a:pt x="534543" y="1069086"/>
                  </a:lnTo>
                  <a:cubicBezTo>
                    <a:pt x="239395" y="1069213"/>
                    <a:pt x="0" y="829818"/>
                    <a:pt x="0" y="534543"/>
                  </a:cubicBezTo>
                  <a:close/>
                </a:path>
              </a:pathLst>
            </a:custGeom>
            <a:solidFill>
              <a:srgbClr val="FFFFFF"/>
            </a:solidFill>
          </p:spPr>
          <p:txBody>
            <a:bodyPr/>
            <a:lstStyle/>
            <a:p>
              <a:endParaRPr lang="vi-VN"/>
            </a:p>
          </p:txBody>
        </p:sp>
      </p:grpSp>
      <p:grpSp>
        <p:nvGrpSpPr>
          <p:cNvPr id="14" name="Group 14"/>
          <p:cNvGrpSpPr/>
          <p:nvPr/>
        </p:nvGrpSpPr>
        <p:grpSpPr>
          <a:xfrm>
            <a:off x="9436446" y="197910"/>
            <a:ext cx="1163307" cy="1152592"/>
            <a:chOff x="0" y="0"/>
            <a:chExt cx="1551076" cy="1536789"/>
          </a:xfrm>
        </p:grpSpPr>
        <p:sp>
          <p:nvSpPr>
            <p:cNvPr id="15" name="Freeform 15" descr="Icon  Description automatically generated with medium confidence"/>
            <p:cNvSpPr/>
            <p:nvPr/>
          </p:nvSpPr>
          <p:spPr>
            <a:xfrm>
              <a:off x="0" y="0"/>
              <a:ext cx="1551051" cy="1536827"/>
            </a:xfrm>
            <a:custGeom>
              <a:avLst/>
              <a:gdLst/>
              <a:ahLst/>
              <a:cxnLst/>
              <a:rect l="l" t="t" r="r" b="b"/>
              <a:pathLst>
                <a:path w="1551051" h="1536827">
                  <a:moveTo>
                    <a:pt x="0" y="0"/>
                  </a:moveTo>
                  <a:lnTo>
                    <a:pt x="1551051" y="0"/>
                  </a:lnTo>
                  <a:lnTo>
                    <a:pt x="1551051" y="1536827"/>
                  </a:lnTo>
                  <a:lnTo>
                    <a:pt x="0" y="1536827"/>
                  </a:lnTo>
                  <a:lnTo>
                    <a:pt x="0" y="0"/>
                  </a:lnTo>
                  <a:close/>
                </a:path>
              </a:pathLst>
            </a:custGeom>
            <a:blipFill>
              <a:blip r:embed="rId3"/>
              <a:stretch>
                <a:fillRect l="-75" r="-76" b="2"/>
              </a:stretch>
            </a:blipFill>
          </p:spPr>
          <p:txBody>
            <a:bodyPr/>
            <a:lstStyle/>
            <a:p>
              <a:endParaRPr lang="vi-VN"/>
            </a:p>
          </p:txBody>
        </p:sp>
      </p:grpSp>
      <p:grpSp>
        <p:nvGrpSpPr>
          <p:cNvPr id="16" name="Group 16"/>
          <p:cNvGrpSpPr/>
          <p:nvPr/>
        </p:nvGrpSpPr>
        <p:grpSpPr>
          <a:xfrm>
            <a:off x="7688247" y="233439"/>
            <a:ext cx="1307516" cy="1081516"/>
            <a:chOff x="0" y="0"/>
            <a:chExt cx="1743354" cy="1442022"/>
          </a:xfrm>
        </p:grpSpPr>
        <p:sp>
          <p:nvSpPr>
            <p:cNvPr id="17" name="Freeform 17" descr="A picture containing clipart, vector graphics  Description automatically generated"/>
            <p:cNvSpPr/>
            <p:nvPr/>
          </p:nvSpPr>
          <p:spPr>
            <a:xfrm>
              <a:off x="0" y="0"/>
              <a:ext cx="1743329" cy="1442085"/>
            </a:xfrm>
            <a:custGeom>
              <a:avLst/>
              <a:gdLst/>
              <a:ahLst/>
              <a:cxnLst/>
              <a:rect l="l" t="t" r="r" b="b"/>
              <a:pathLst>
                <a:path w="1743329" h="1442085">
                  <a:moveTo>
                    <a:pt x="0" y="0"/>
                  </a:moveTo>
                  <a:lnTo>
                    <a:pt x="1743329" y="0"/>
                  </a:lnTo>
                  <a:lnTo>
                    <a:pt x="1743329" y="1442085"/>
                  </a:lnTo>
                  <a:lnTo>
                    <a:pt x="0" y="1442085"/>
                  </a:lnTo>
                  <a:lnTo>
                    <a:pt x="0" y="0"/>
                  </a:lnTo>
                  <a:close/>
                </a:path>
              </a:pathLst>
            </a:custGeom>
            <a:blipFill>
              <a:blip r:embed="rId4"/>
              <a:stretch>
                <a:fillRect t="-74" r="-1" b="-71"/>
              </a:stretch>
            </a:blipFill>
          </p:spPr>
          <p:txBody>
            <a:bodyPr/>
            <a:lstStyle/>
            <a:p>
              <a:endParaRPr lang="vi-VN"/>
            </a:p>
          </p:txBody>
        </p:sp>
      </p:grpSp>
      <p:sp>
        <p:nvSpPr>
          <p:cNvPr id="18" name="Freeform 18"/>
          <p:cNvSpPr/>
          <p:nvPr/>
        </p:nvSpPr>
        <p:spPr>
          <a:xfrm>
            <a:off x="17262338" y="364607"/>
            <a:ext cx="819198" cy="819198"/>
          </a:xfrm>
          <a:custGeom>
            <a:avLst/>
            <a:gdLst/>
            <a:ahLst/>
            <a:cxnLst/>
            <a:rect l="l" t="t" r="r" b="b"/>
            <a:pathLst>
              <a:path w="819198" h="819198">
                <a:moveTo>
                  <a:pt x="0" y="0"/>
                </a:moveTo>
                <a:lnTo>
                  <a:pt x="819198" y="0"/>
                </a:lnTo>
                <a:lnTo>
                  <a:pt x="819198" y="819198"/>
                </a:lnTo>
                <a:lnTo>
                  <a:pt x="0" y="81919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vi-VN"/>
          </a:p>
        </p:txBody>
      </p:sp>
      <p:grpSp>
        <p:nvGrpSpPr>
          <p:cNvPr id="19" name="Group 19"/>
          <p:cNvGrpSpPr/>
          <p:nvPr/>
        </p:nvGrpSpPr>
        <p:grpSpPr>
          <a:xfrm>
            <a:off x="1705232" y="2175643"/>
            <a:ext cx="15315943" cy="6434480"/>
            <a:chOff x="0" y="0"/>
            <a:chExt cx="20421257" cy="8579307"/>
          </a:xfrm>
        </p:grpSpPr>
        <p:sp>
          <p:nvSpPr>
            <p:cNvPr id="20" name="Freeform 20"/>
            <p:cNvSpPr/>
            <p:nvPr/>
          </p:nvSpPr>
          <p:spPr>
            <a:xfrm>
              <a:off x="0" y="0"/>
              <a:ext cx="20421346" cy="8579358"/>
            </a:xfrm>
            <a:custGeom>
              <a:avLst/>
              <a:gdLst/>
              <a:ahLst/>
              <a:cxnLst/>
              <a:rect l="l" t="t" r="r" b="b"/>
              <a:pathLst>
                <a:path w="20421346" h="8579358">
                  <a:moveTo>
                    <a:pt x="0" y="231775"/>
                  </a:moveTo>
                  <a:cubicBezTo>
                    <a:pt x="0" y="103759"/>
                    <a:pt x="103759" y="0"/>
                    <a:pt x="231775" y="0"/>
                  </a:cubicBezTo>
                  <a:lnTo>
                    <a:pt x="20189571" y="0"/>
                  </a:lnTo>
                  <a:cubicBezTo>
                    <a:pt x="20317586" y="0"/>
                    <a:pt x="20421346" y="103759"/>
                    <a:pt x="20421346" y="231775"/>
                  </a:cubicBezTo>
                  <a:lnTo>
                    <a:pt x="20421346" y="8347583"/>
                  </a:lnTo>
                  <a:cubicBezTo>
                    <a:pt x="20421346" y="8475599"/>
                    <a:pt x="20317586" y="8579358"/>
                    <a:pt x="20189571" y="8579358"/>
                  </a:cubicBezTo>
                  <a:lnTo>
                    <a:pt x="231775" y="8579358"/>
                  </a:lnTo>
                  <a:cubicBezTo>
                    <a:pt x="103759" y="8579358"/>
                    <a:pt x="0" y="8475599"/>
                    <a:pt x="0" y="8347583"/>
                  </a:cubicBezTo>
                  <a:close/>
                </a:path>
              </a:pathLst>
            </a:custGeom>
            <a:blipFill>
              <a:blip r:embed="rId6"/>
              <a:stretch>
                <a:fillRect l="-189" r="-189"/>
              </a:stretch>
            </a:blipFill>
          </p:spPr>
          <p:txBody>
            <a:bodyPr/>
            <a:lstStyle/>
            <a:p>
              <a:endParaRPr lang="vi-VN"/>
            </a:p>
          </p:txBody>
        </p:sp>
      </p:grpSp>
      <p:grpSp>
        <p:nvGrpSpPr>
          <p:cNvPr id="21" name="Group 21"/>
          <p:cNvGrpSpPr/>
          <p:nvPr/>
        </p:nvGrpSpPr>
        <p:grpSpPr>
          <a:xfrm>
            <a:off x="1705232" y="2175643"/>
            <a:ext cx="15315943" cy="6434480"/>
            <a:chOff x="0" y="0"/>
            <a:chExt cx="20421257" cy="8579307"/>
          </a:xfrm>
        </p:grpSpPr>
        <p:sp>
          <p:nvSpPr>
            <p:cNvPr id="22" name="Freeform 22"/>
            <p:cNvSpPr/>
            <p:nvPr/>
          </p:nvSpPr>
          <p:spPr>
            <a:xfrm>
              <a:off x="0" y="0"/>
              <a:ext cx="20421346" cy="8579358"/>
            </a:xfrm>
            <a:custGeom>
              <a:avLst/>
              <a:gdLst/>
              <a:ahLst/>
              <a:cxnLst/>
              <a:rect l="l" t="t" r="r" b="b"/>
              <a:pathLst>
                <a:path w="20421346" h="8579358">
                  <a:moveTo>
                    <a:pt x="0" y="231775"/>
                  </a:moveTo>
                  <a:cubicBezTo>
                    <a:pt x="0" y="103759"/>
                    <a:pt x="103759" y="0"/>
                    <a:pt x="231775" y="0"/>
                  </a:cubicBezTo>
                  <a:lnTo>
                    <a:pt x="20189571" y="0"/>
                  </a:lnTo>
                  <a:cubicBezTo>
                    <a:pt x="20317586" y="0"/>
                    <a:pt x="20421346" y="103759"/>
                    <a:pt x="20421346" y="231775"/>
                  </a:cubicBezTo>
                  <a:lnTo>
                    <a:pt x="20421346" y="8347583"/>
                  </a:lnTo>
                  <a:cubicBezTo>
                    <a:pt x="20421346" y="8475599"/>
                    <a:pt x="20317586" y="8579358"/>
                    <a:pt x="20189571" y="8579358"/>
                  </a:cubicBezTo>
                  <a:lnTo>
                    <a:pt x="231775" y="8579358"/>
                  </a:lnTo>
                  <a:cubicBezTo>
                    <a:pt x="103759" y="8579358"/>
                    <a:pt x="0" y="8475599"/>
                    <a:pt x="0" y="8347583"/>
                  </a:cubicBezTo>
                  <a:close/>
                </a:path>
              </a:pathLst>
            </a:custGeom>
            <a:gradFill rotWithShape="1">
              <a:gsLst>
                <a:gs pos="0">
                  <a:srgbClr val="38EF7D">
                    <a:alpha val="40000"/>
                  </a:srgbClr>
                </a:gs>
                <a:gs pos="100000">
                  <a:srgbClr val="11998E">
                    <a:alpha val="40000"/>
                  </a:srgbClr>
                </a:gs>
              </a:gsLst>
              <a:lin ang="4032715"/>
            </a:gradFill>
          </p:spPr>
          <p:txBody>
            <a:bodyPr/>
            <a:lstStyle/>
            <a:p>
              <a:endParaRPr lang="vi-VN"/>
            </a:p>
          </p:txBody>
        </p:sp>
      </p:grpSp>
      <p:grpSp>
        <p:nvGrpSpPr>
          <p:cNvPr id="23" name="Group 23"/>
          <p:cNvGrpSpPr/>
          <p:nvPr/>
        </p:nvGrpSpPr>
        <p:grpSpPr>
          <a:xfrm>
            <a:off x="0" y="2124"/>
            <a:ext cx="18291715" cy="10295487"/>
            <a:chOff x="0" y="0"/>
            <a:chExt cx="24388953" cy="13727316"/>
          </a:xfrm>
        </p:grpSpPr>
        <p:sp>
          <p:nvSpPr>
            <p:cNvPr id="24" name="Freeform 24"/>
            <p:cNvSpPr/>
            <p:nvPr/>
          </p:nvSpPr>
          <p:spPr>
            <a:xfrm>
              <a:off x="0" y="0"/>
              <a:ext cx="24388953" cy="13727303"/>
            </a:xfrm>
            <a:custGeom>
              <a:avLst/>
              <a:gdLst/>
              <a:ahLst/>
              <a:cxnLst/>
              <a:rect l="l" t="t" r="r" b="b"/>
              <a:pathLst>
                <a:path w="24388953" h="1372730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txBody>
            <a:bodyPr/>
            <a:lstStyle/>
            <a:p>
              <a:endParaRPr lang="vi-VN"/>
            </a:p>
          </p:txBody>
        </p:sp>
      </p:grpSp>
      <p:grpSp>
        <p:nvGrpSpPr>
          <p:cNvPr id="25" name="Group 25"/>
          <p:cNvGrpSpPr/>
          <p:nvPr/>
        </p:nvGrpSpPr>
        <p:grpSpPr>
          <a:xfrm>
            <a:off x="10848975" y="9534525"/>
            <a:ext cx="6172200" cy="547688"/>
            <a:chOff x="0" y="0"/>
            <a:chExt cx="8229600" cy="730250"/>
          </a:xfrm>
        </p:grpSpPr>
        <p:sp>
          <p:nvSpPr>
            <p:cNvPr id="26" name="Freeform 26"/>
            <p:cNvSpPr/>
            <p:nvPr/>
          </p:nvSpPr>
          <p:spPr>
            <a:xfrm>
              <a:off x="0" y="0"/>
              <a:ext cx="8229600" cy="730250"/>
            </a:xfrm>
            <a:custGeom>
              <a:avLst/>
              <a:gdLst/>
              <a:ahLst/>
              <a:cxnLst/>
              <a:rect l="l" t="t" r="r" b="b"/>
              <a:pathLst>
                <a:path w="8229600" h="730250">
                  <a:moveTo>
                    <a:pt x="0" y="0"/>
                  </a:moveTo>
                  <a:lnTo>
                    <a:pt x="8229600" y="0"/>
                  </a:lnTo>
                  <a:lnTo>
                    <a:pt x="8229600" y="730250"/>
                  </a:lnTo>
                  <a:lnTo>
                    <a:pt x="0" y="730250"/>
                  </a:lnTo>
                  <a:close/>
                </a:path>
              </a:pathLst>
            </a:custGeom>
            <a:blipFill>
              <a:blip r:embed="rId7">
                <a:alphaModFix amt="0"/>
              </a:blip>
              <a:stretch>
                <a:fillRect t="-169587" b="-169587"/>
              </a:stretch>
            </a:blipFill>
          </p:spPr>
          <p:txBody>
            <a:bodyPr/>
            <a:lstStyle/>
            <a:p>
              <a:endParaRPr lang="vi-VN"/>
            </a:p>
          </p:txBody>
        </p:sp>
        <p:sp>
          <p:nvSpPr>
            <p:cNvPr id="27" name="TextBox 27"/>
            <p:cNvSpPr txBox="1"/>
            <p:nvPr/>
          </p:nvSpPr>
          <p:spPr>
            <a:xfrm>
              <a:off x="0" y="-19050"/>
              <a:ext cx="8229600" cy="749300"/>
            </a:xfrm>
            <a:prstGeom prst="rect">
              <a:avLst/>
            </a:prstGeom>
          </p:spPr>
          <p:txBody>
            <a:bodyPr lIns="0" tIns="0" rIns="0" bIns="0" rtlCol="0" anchor="ctr"/>
            <a:lstStyle/>
            <a:p>
              <a:pPr algn="ctr">
                <a:lnSpc>
                  <a:spcPts val="2160"/>
                </a:lnSpc>
              </a:pPr>
              <a:r>
                <a:rPr lang="en-US" sz="1800">
                  <a:solidFill>
                    <a:srgbClr val="898989"/>
                  </a:solidFill>
                  <a:latin typeface="Arial"/>
                  <a:ea typeface="Arial"/>
                  <a:cs typeface="Arial"/>
                  <a:sym typeface="Arial"/>
                </a:rPr>
                <a:t>Copyrights 2024 CE-UIT. All Rights Reserved.</a:t>
              </a:r>
            </a:p>
          </p:txBody>
        </p:sp>
      </p:grpSp>
      <p:grpSp>
        <p:nvGrpSpPr>
          <p:cNvPr id="28" name="Group 28"/>
          <p:cNvGrpSpPr/>
          <p:nvPr/>
        </p:nvGrpSpPr>
        <p:grpSpPr>
          <a:xfrm>
            <a:off x="15614542" y="498424"/>
            <a:ext cx="4114800" cy="547688"/>
            <a:chOff x="0" y="0"/>
            <a:chExt cx="5486400" cy="730250"/>
          </a:xfrm>
        </p:grpSpPr>
        <p:sp>
          <p:nvSpPr>
            <p:cNvPr id="29" name="Freeform 29"/>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blipFill>
              <a:blip r:embed="rId7">
                <a:alphaModFix amt="0"/>
              </a:blip>
              <a:stretch>
                <a:fillRect t="-96391" b="-96391"/>
              </a:stretch>
            </a:blipFill>
          </p:spPr>
          <p:txBody>
            <a:bodyPr/>
            <a:lstStyle/>
            <a:p>
              <a:endParaRPr lang="vi-VN"/>
            </a:p>
          </p:txBody>
        </p:sp>
        <p:sp>
          <p:nvSpPr>
            <p:cNvPr id="30" name="TextBox 30"/>
            <p:cNvSpPr txBox="1"/>
            <p:nvPr/>
          </p:nvSpPr>
          <p:spPr>
            <a:xfrm>
              <a:off x="0" y="-19050"/>
              <a:ext cx="5486400" cy="749300"/>
            </a:xfrm>
            <a:prstGeom prst="rect">
              <a:avLst/>
            </a:prstGeom>
          </p:spPr>
          <p:txBody>
            <a:bodyPr lIns="0" tIns="0" rIns="0" bIns="0" rtlCol="0" anchor="ctr"/>
            <a:lstStyle/>
            <a:p>
              <a:pPr algn="ctr">
                <a:lnSpc>
                  <a:spcPts val="2160"/>
                </a:lnSpc>
              </a:pPr>
              <a:r>
                <a:rPr lang="en-US" sz="1800">
                  <a:solidFill>
                    <a:srgbClr val="FFFFFF"/>
                  </a:solidFill>
                  <a:latin typeface="Arial"/>
                  <a:ea typeface="Arial"/>
                  <a:cs typeface="Arial"/>
                  <a:sym typeface="Arial"/>
                </a:rPr>
                <a:t>17</a:t>
              </a:r>
            </a:p>
          </p:txBody>
        </p:sp>
      </p:grpSp>
      <p:grpSp>
        <p:nvGrpSpPr>
          <p:cNvPr id="31" name="Group 31"/>
          <p:cNvGrpSpPr/>
          <p:nvPr/>
        </p:nvGrpSpPr>
        <p:grpSpPr>
          <a:xfrm>
            <a:off x="2480043" y="3638074"/>
            <a:ext cx="13766321" cy="2258930"/>
            <a:chOff x="0" y="0"/>
            <a:chExt cx="18355094" cy="3011907"/>
          </a:xfrm>
        </p:grpSpPr>
        <p:sp>
          <p:nvSpPr>
            <p:cNvPr id="32" name="Freeform 32"/>
            <p:cNvSpPr/>
            <p:nvPr/>
          </p:nvSpPr>
          <p:spPr>
            <a:xfrm>
              <a:off x="0" y="0"/>
              <a:ext cx="18355097" cy="3011906"/>
            </a:xfrm>
            <a:custGeom>
              <a:avLst/>
              <a:gdLst/>
              <a:ahLst/>
              <a:cxnLst/>
              <a:rect l="l" t="t" r="r" b="b"/>
              <a:pathLst>
                <a:path w="18355097" h="3011906">
                  <a:moveTo>
                    <a:pt x="0" y="0"/>
                  </a:moveTo>
                  <a:lnTo>
                    <a:pt x="18355097" y="0"/>
                  </a:lnTo>
                  <a:lnTo>
                    <a:pt x="18355097" y="3011906"/>
                  </a:lnTo>
                  <a:lnTo>
                    <a:pt x="0" y="3011906"/>
                  </a:lnTo>
                  <a:close/>
                </a:path>
              </a:pathLst>
            </a:custGeom>
            <a:blipFill>
              <a:blip r:embed="rId7">
                <a:alphaModFix amt="0"/>
              </a:blip>
              <a:stretch>
                <a:fillRect t="-68745" b="-68745"/>
              </a:stretch>
            </a:blipFill>
          </p:spPr>
          <p:txBody>
            <a:bodyPr/>
            <a:lstStyle/>
            <a:p>
              <a:endParaRPr lang="vi-VN"/>
            </a:p>
          </p:txBody>
        </p:sp>
        <p:sp>
          <p:nvSpPr>
            <p:cNvPr id="33" name="TextBox 33"/>
            <p:cNvSpPr txBox="1"/>
            <p:nvPr/>
          </p:nvSpPr>
          <p:spPr>
            <a:xfrm>
              <a:off x="0" y="38100"/>
              <a:ext cx="18355094" cy="2973807"/>
            </a:xfrm>
            <a:prstGeom prst="rect">
              <a:avLst/>
            </a:prstGeom>
          </p:spPr>
          <p:txBody>
            <a:bodyPr lIns="0" tIns="0" rIns="0" bIns="0" rtlCol="0" anchor="ctr"/>
            <a:lstStyle/>
            <a:p>
              <a:pPr algn="l">
                <a:lnSpc>
                  <a:spcPts val="7873"/>
                </a:lnSpc>
              </a:pPr>
              <a:r>
                <a:rPr lang="en-US" sz="7290" b="1">
                  <a:solidFill>
                    <a:srgbClr val="FFFFFF"/>
                  </a:solidFill>
                  <a:latin typeface="Times New Roman Bold"/>
                  <a:ea typeface="Times New Roman Bold"/>
                  <a:cs typeface="Times New Roman Bold"/>
                  <a:sym typeface="Times New Roman Bold"/>
                </a:rPr>
                <a:t>KẾT LUẬN VÀ HƯỚNG</a:t>
              </a:r>
            </a:p>
            <a:p>
              <a:pPr algn="l">
                <a:lnSpc>
                  <a:spcPts val="7873"/>
                </a:lnSpc>
              </a:pPr>
              <a:r>
                <a:rPr lang="en-US" sz="7290" b="1">
                  <a:solidFill>
                    <a:srgbClr val="FFFFFF"/>
                  </a:solidFill>
                  <a:latin typeface="Times New Roman Bold"/>
                  <a:ea typeface="Times New Roman Bold"/>
                  <a:cs typeface="Times New Roman Bold"/>
                  <a:sym typeface="Times New Roman Bold"/>
                </a:rPr>
                <a:t>PHÁT TRIỂN CỦA ĐỀ TÀI</a:t>
              </a:r>
            </a:p>
          </p:txBody>
        </p:sp>
      </p:grpSp>
      <p:sp>
        <p:nvSpPr>
          <p:cNvPr id="34" name="TextBox 34"/>
          <p:cNvSpPr txBox="1"/>
          <p:nvPr/>
        </p:nvSpPr>
        <p:spPr>
          <a:xfrm>
            <a:off x="2571483" y="1020985"/>
            <a:ext cx="2896076" cy="2454116"/>
          </a:xfrm>
          <a:prstGeom prst="rect">
            <a:avLst/>
          </a:prstGeom>
        </p:spPr>
        <p:txBody>
          <a:bodyPr lIns="0" tIns="0" rIns="0" bIns="0" rtlCol="0" anchor="t">
            <a:spAutoFit/>
          </a:bodyPr>
          <a:lstStyle/>
          <a:p>
            <a:pPr algn="l">
              <a:lnSpc>
                <a:spcPts val="18630"/>
              </a:lnSpc>
            </a:pPr>
            <a:r>
              <a:rPr lang="en-US" sz="17250" b="1">
                <a:solidFill>
                  <a:srgbClr val="FFFFFF">
                    <a:alpha val="65098"/>
                  </a:srgbClr>
                </a:solidFill>
                <a:latin typeface="Arial Bold"/>
                <a:ea typeface="Arial Bold"/>
                <a:cs typeface="Arial Bold"/>
                <a:sym typeface="Arial Bold"/>
              </a:rPr>
              <a:t>04</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91440" y="-2287991"/>
            <a:ext cx="18105120" cy="527771"/>
          </a:xfrm>
          <a:prstGeom prst="rect">
            <a:avLst/>
          </a:prstGeom>
        </p:spPr>
        <p:txBody>
          <a:bodyPr lIns="0" tIns="0" rIns="0" bIns="0" rtlCol="0" anchor="t">
            <a:spAutoFit/>
          </a:bodyPr>
          <a:lstStyle/>
          <a:p>
            <a:pPr algn="ctr">
              <a:lnSpc>
                <a:spcPts val="3600"/>
              </a:lnSpc>
            </a:pPr>
            <a:r>
              <a:rPr lang="en-US" sz="3000">
                <a:solidFill>
                  <a:srgbClr val="C3C3C3"/>
                </a:solidFill>
                <a:latin typeface="Arial"/>
                <a:ea typeface="Arial"/>
                <a:cs typeface="Arial"/>
                <a:sym typeface="Arial"/>
              </a:rPr>
              <a:t>www.9slide.vn</a:t>
            </a:r>
          </a:p>
        </p:txBody>
      </p:sp>
      <p:grpSp>
        <p:nvGrpSpPr>
          <p:cNvPr id="3" name="Group 3"/>
          <p:cNvGrpSpPr/>
          <p:nvPr/>
        </p:nvGrpSpPr>
        <p:grpSpPr>
          <a:xfrm>
            <a:off x="0" y="2124"/>
            <a:ext cx="18291715" cy="10295487"/>
            <a:chOff x="0" y="0"/>
            <a:chExt cx="24388953" cy="13727316"/>
          </a:xfrm>
        </p:grpSpPr>
        <p:sp>
          <p:nvSpPr>
            <p:cNvPr id="4" name="Freeform 4"/>
            <p:cNvSpPr/>
            <p:nvPr/>
          </p:nvSpPr>
          <p:spPr>
            <a:xfrm>
              <a:off x="0" y="0"/>
              <a:ext cx="24388953" cy="13727303"/>
            </a:xfrm>
            <a:custGeom>
              <a:avLst/>
              <a:gdLst/>
              <a:ahLst/>
              <a:cxnLst/>
              <a:rect l="l" t="t" r="r" b="b"/>
              <a:pathLst>
                <a:path w="24388953" h="1372730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txBody>
            <a:bodyPr/>
            <a:lstStyle/>
            <a:p>
              <a:endParaRPr lang="vi-VN"/>
            </a:p>
          </p:txBody>
        </p:sp>
      </p:grpSp>
      <p:grpSp>
        <p:nvGrpSpPr>
          <p:cNvPr id="5" name="Group 5"/>
          <p:cNvGrpSpPr/>
          <p:nvPr/>
        </p:nvGrpSpPr>
        <p:grpSpPr>
          <a:xfrm rot="5400000">
            <a:off x="8668474" y="-8670065"/>
            <a:ext cx="947328" cy="18291715"/>
            <a:chOff x="0" y="0"/>
            <a:chExt cx="1263104" cy="24388953"/>
          </a:xfrm>
        </p:grpSpPr>
        <p:sp>
          <p:nvSpPr>
            <p:cNvPr id="6" name="Freeform 6"/>
            <p:cNvSpPr/>
            <p:nvPr/>
          </p:nvSpPr>
          <p:spPr>
            <a:xfrm>
              <a:off x="0" y="0"/>
              <a:ext cx="1263142" cy="24388953"/>
            </a:xfrm>
            <a:custGeom>
              <a:avLst/>
              <a:gdLst/>
              <a:ahLst/>
              <a:cxnLst/>
              <a:rect l="l" t="t" r="r" b="b"/>
              <a:pathLst>
                <a:path w="1263142" h="24388953">
                  <a:moveTo>
                    <a:pt x="0" y="0"/>
                  </a:moveTo>
                  <a:lnTo>
                    <a:pt x="1263142" y="0"/>
                  </a:lnTo>
                  <a:lnTo>
                    <a:pt x="1263142" y="24388953"/>
                  </a:lnTo>
                  <a:lnTo>
                    <a:pt x="0" y="24388953"/>
                  </a:lnTo>
                  <a:close/>
                </a:path>
              </a:pathLst>
            </a:custGeom>
            <a:gradFill rotWithShape="1">
              <a:gsLst>
                <a:gs pos="0">
                  <a:srgbClr val="10CD57">
                    <a:alpha val="100000"/>
                  </a:srgbClr>
                </a:gs>
                <a:gs pos="100000">
                  <a:srgbClr val="027159">
                    <a:alpha val="100000"/>
                  </a:srgbClr>
                </a:gs>
              </a:gsLst>
              <a:lin ang="0"/>
            </a:gradFill>
          </p:spPr>
          <p:txBody>
            <a:bodyPr/>
            <a:lstStyle/>
            <a:p>
              <a:endParaRPr lang="vi-VN"/>
            </a:p>
          </p:txBody>
        </p:sp>
      </p:grpSp>
      <p:grpSp>
        <p:nvGrpSpPr>
          <p:cNvPr id="7" name="Group 7"/>
          <p:cNvGrpSpPr/>
          <p:nvPr/>
        </p:nvGrpSpPr>
        <p:grpSpPr>
          <a:xfrm rot="5400000">
            <a:off x="8670331" y="-8672198"/>
            <a:ext cx="947328" cy="18291715"/>
            <a:chOff x="0" y="0"/>
            <a:chExt cx="1263104" cy="24388953"/>
          </a:xfrm>
        </p:grpSpPr>
        <p:sp>
          <p:nvSpPr>
            <p:cNvPr id="8" name="Freeform 8"/>
            <p:cNvSpPr/>
            <p:nvPr/>
          </p:nvSpPr>
          <p:spPr>
            <a:xfrm flipV="1">
              <a:off x="0" y="0"/>
              <a:ext cx="1263142" cy="24388953"/>
            </a:xfrm>
            <a:custGeom>
              <a:avLst/>
              <a:gdLst/>
              <a:ahLst/>
              <a:cxnLst/>
              <a:rect l="l" t="t" r="r" b="b"/>
              <a:pathLst>
                <a:path w="1263142" h="24388953">
                  <a:moveTo>
                    <a:pt x="0" y="0"/>
                  </a:moveTo>
                  <a:lnTo>
                    <a:pt x="1263142" y="0"/>
                  </a:lnTo>
                  <a:lnTo>
                    <a:pt x="1263142" y="24388953"/>
                  </a:lnTo>
                  <a:lnTo>
                    <a:pt x="0" y="24388953"/>
                  </a:lnTo>
                  <a:close/>
                </a:path>
              </a:pathLst>
            </a:custGeom>
            <a:blipFill>
              <a:blip r:embed="rId2"/>
              <a:stretch>
                <a:fillRect l="-35093" r="-35090"/>
              </a:stretch>
            </a:blipFill>
          </p:spPr>
          <p:txBody>
            <a:bodyPr/>
            <a:lstStyle/>
            <a:p>
              <a:endParaRPr lang="vi-VN"/>
            </a:p>
          </p:txBody>
        </p:sp>
      </p:grpSp>
      <p:sp>
        <p:nvSpPr>
          <p:cNvPr id="9" name="TextBox 9"/>
          <p:cNvSpPr txBox="1"/>
          <p:nvPr/>
        </p:nvSpPr>
        <p:spPr>
          <a:xfrm>
            <a:off x="451866" y="248326"/>
            <a:ext cx="10947559" cy="424158"/>
          </a:xfrm>
          <a:prstGeom prst="rect">
            <a:avLst/>
          </a:prstGeom>
        </p:spPr>
        <p:txBody>
          <a:bodyPr lIns="0" tIns="0" rIns="0" bIns="0" rtlCol="0" anchor="t">
            <a:spAutoFit/>
          </a:bodyPr>
          <a:lstStyle/>
          <a:p>
            <a:pPr algn="l">
              <a:lnSpc>
                <a:spcPts val="2879"/>
              </a:lnSpc>
            </a:pPr>
            <a:r>
              <a:rPr lang="en-US" sz="2400" b="1">
                <a:solidFill>
                  <a:srgbClr val="FFFFFF"/>
                </a:solidFill>
                <a:latin typeface="Arial Bold"/>
                <a:ea typeface="Arial Bold"/>
                <a:cs typeface="Arial Bold"/>
                <a:sym typeface="Arial Bold"/>
              </a:rPr>
              <a:t>FACULTY OF COMPUTER ENGINEERING</a:t>
            </a:r>
          </a:p>
        </p:txBody>
      </p:sp>
      <p:grpSp>
        <p:nvGrpSpPr>
          <p:cNvPr id="10" name="Group 10"/>
          <p:cNvGrpSpPr/>
          <p:nvPr/>
        </p:nvGrpSpPr>
        <p:grpSpPr>
          <a:xfrm>
            <a:off x="6719973" y="457933"/>
            <a:ext cx="4848044" cy="957948"/>
            <a:chOff x="0" y="0"/>
            <a:chExt cx="6464059" cy="1277264"/>
          </a:xfrm>
        </p:grpSpPr>
        <p:sp>
          <p:nvSpPr>
            <p:cNvPr id="11" name="Freeform 11"/>
            <p:cNvSpPr/>
            <p:nvPr/>
          </p:nvSpPr>
          <p:spPr>
            <a:xfrm>
              <a:off x="0" y="0"/>
              <a:ext cx="6464173" cy="1277366"/>
            </a:xfrm>
            <a:custGeom>
              <a:avLst/>
              <a:gdLst/>
              <a:ahLst/>
              <a:cxnLst/>
              <a:rect l="l" t="t" r="r" b="b"/>
              <a:pathLst>
                <a:path w="6464173" h="1277366">
                  <a:moveTo>
                    <a:pt x="0" y="638683"/>
                  </a:moveTo>
                  <a:cubicBezTo>
                    <a:pt x="0" y="285877"/>
                    <a:pt x="285877" y="0"/>
                    <a:pt x="638683" y="0"/>
                  </a:cubicBezTo>
                  <a:lnTo>
                    <a:pt x="5825490" y="0"/>
                  </a:lnTo>
                  <a:cubicBezTo>
                    <a:pt x="6178169" y="0"/>
                    <a:pt x="6464173" y="285877"/>
                    <a:pt x="6464173" y="638683"/>
                  </a:cubicBezTo>
                  <a:cubicBezTo>
                    <a:pt x="6464173" y="991489"/>
                    <a:pt x="6178296" y="1277366"/>
                    <a:pt x="5825490" y="1277366"/>
                  </a:cubicBezTo>
                  <a:lnTo>
                    <a:pt x="638683" y="1277366"/>
                  </a:lnTo>
                  <a:cubicBezTo>
                    <a:pt x="285877" y="1277239"/>
                    <a:pt x="0" y="991362"/>
                    <a:pt x="0" y="638683"/>
                  </a:cubicBezTo>
                  <a:close/>
                </a:path>
              </a:pathLst>
            </a:custGeom>
            <a:gradFill rotWithShape="1">
              <a:gsLst>
                <a:gs pos="0">
                  <a:srgbClr val="38EF7D">
                    <a:alpha val="100000"/>
                  </a:srgbClr>
                </a:gs>
                <a:gs pos="100000">
                  <a:srgbClr val="752AFF">
                    <a:alpha val="100000"/>
                  </a:srgbClr>
                </a:gs>
              </a:gsLst>
              <a:lin ang="4729360"/>
            </a:gradFill>
          </p:spPr>
          <p:txBody>
            <a:bodyPr/>
            <a:lstStyle/>
            <a:p>
              <a:endParaRPr lang="vi-VN"/>
            </a:p>
          </p:txBody>
        </p:sp>
      </p:grpSp>
      <p:grpSp>
        <p:nvGrpSpPr>
          <p:cNvPr id="12" name="Group 12"/>
          <p:cNvGrpSpPr/>
          <p:nvPr/>
        </p:nvGrpSpPr>
        <p:grpSpPr>
          <a:xfrm>
            <a:off x="6807460" y="535962"/>
            <a:ext cx="4673079" cy="801872"/>
            <a:chOff x="0" y="0"/>
            <a:chExt cx="6230772" cy="1069162"/>
          </a:xfrm>
        </p:grpSpPr>
        <p:sp>
          <p:nvSpPr>
            <p:cNvPr id="13" name="Freeform 13"/>
            <p:cNvSpPr/>
            <p:nvPr/>
          </p:nvSpPr>
          <p:spPr>
            <a:xfrm>
              <a:off x="0" y="0"/>
              <a:ext cx="6230747" cy="1069086"/>
            </a:xfrm>
            <a:custGeom>
              <a:avLst/>
              <a:gdLst/>
              <a:ahLst/>
              <a:cxnLst/>
              <a:rect l="l" t="t" r="r" b="b"/>
              <a:pathLst>
                <a:path w="6230747" h="1069086">
                  <a:moveTo>
                    <a:pt x="0" y="534543"/>
                  </a:moveTo>
                  <a:cubicBezTo>
                    <a:pt x="0" y="239395"/>
                    <a:pt x="239395" y="0"/>
                    <a:pt x="534543" y="0"/>
                  </a:cubicBezTo>
                  <a:lnTo>
                    <a:pt x="5696204" y="0"/>
                  </a:lnTo>
                  <a:cubicBezTo>
                    <a:pt x="5991479" y="0"/>
                    <a:pt x="6230747" y="239395"/>
                    <a:pt x="6230747" y="534543"/>
                  </a:cubicBezTo>
                  <a:cubicBezTo>
                    <a:pt x="6230747" y="829691"/>
                    <a:pt x="5991352" y="1069086"/>
                    <a:pt x="5696204" y="1069086"/>
                  </a:cubicBezTo>
                  <a:lnTo>
                    <a:pt x="534543" y="1069086"/>
                  </a:lnTo>
                  <a:cubicBezTo>
                    <a:pt x="239395" y="1069213"/>
                    <a:pt x="0" y="829818"/>
                    <a:pt x="0" y="534543"/>
                  </a:cubicBezTo>
                  <a:close/>
                </a:path>
              </a:pathLst>
            </a:custGeom>
            <a:solidFill>
              <a:srgbClr val="FFFFFF"/>
            </a:solidFill>
          </p:spPr>
          <p:txBody>
            <a:bodyPr/>
            <a:lstStyle/>
            <a:p>
              <a:endParaRPr lang="vi-VN"/>
            </a:p>
          </p:txBody>
        </p:sp>
      </p:grpSp>
      <p:grpSp>
        <p:nvGrpSpPr>
          <p:cNvPr id="14" name="Group 14"/>
          <p:cNvGrpSpPr/>
          <p:nvPr/>
        </p:nvGrpSpPr>
        <p:grpSpPr>
          <a:xfrm>
            <a:off x="9436446" y="362541"/>
            <a:ext cx="1163307" cy="1152592"/>
            <a:chOff x="0" y="0"/>
            <a:chExt cx="1551076" cy="1536789"/>
          </a:xfrm>
        </p:grpSpPr>
        <p:sp>
          <p:nvSpPr>
            <p:cNvPr id="15" name="Freeform 15" descr="Icon  Description automatically generated with medium confidence"/>
            <p:cNvSpPr/>
            <p:nvPr/>
          </p:nvSpPr>
          <p:spPr>
            <a:xfrm>
              <a:off x="0" y="0"/>
              <a:ext cx="1551051" cy="1536827"/>
            </a:xfrm>
            <a:custGeom>
              <a:avLst/>
              <a:gdLst/>
              <a:ahLst/>
              <a:cxnLst/>
              <a:rect l="l" t="t" r="r" b="b"/>
              <a:pathLst>
                <a:path w="1551051" h="1536827">
                  <a:moveTo>
                    <a:pt x="0" y="0"/>
                  </a:moveTo>
                  <a:lnTo>
                    <a:pt x="1551051" y="0"/>
                  </a:lnTo>
                  <a:lnTo>
                    <a:pt x="1551051" y="1536827"/>
                  </a:lnTo>
                  <a:lnTo>
                    <a:pt x="0" y="1536827"/>
                  </a:lnTo>
                  <a:lnTo>
                    <a:pt x="0" y="0"/>
                  </a:lnTo>
                  <a:close/>
                </a:path>
              </a:pathLst>
            </a:custGeom>
            <a:blipFill>
              <a:blip r:embed="rId3"/>
              <a:stretch>
                <a:fillRect l="-75" r="-76" b="2"/>
              </a:stretch>
            </a:blipFill>
          </p:spPr>
          <p:txBody>
            <a:bodyPr/>
            <a:lstStyle/>
            <a:p>
              <a:endParaRPr lang="vi-VN"/>
            </a:p>
          </p:txBody>
        </p:sp>
      </p:grpSp>
      <p:grpSp>
        <p:nvGrpSpPr>
          <p:cNvPr id="16" name="Group 16"/>
          <p:cNvGrpSpPr/>
          <p:nvPr/>
        </p:nvGrpSpPr>
        <p:grpSpPr>
          <a:xfrm>
            <a:off x="7688247" y="398078"/>
            <a:ext cx="1307516" cy="1081516"/>
            <a:chOff x="0" y="0"/>
            <a:chExt cx="1743354" cy="1442022"/>
          </a:xfrm>
        </p:grpSpPr>
        <p:sp>
          <p:nvSpPr>
            <p:cNvPr id="17" name="Freeform 17" descr="A picture containing clipart, vector graphics  Description automatically generated"/>
            <p:cNvSpPr/>
            <p:nvPr/>
          </p:nvSpPr>
          <p:spPr>
            <a:xfrm>
              <a:off x="0" y="0"/>
              <a:ext cx="1743329" cy="1442085"/>
            </a:xfrm>
            <a:custGeom>
              <a:avLst/>
              <a:gdLst/>
              <a:ahLst/>
              <a:cxnLst/>
              <a:rect l="l" t="t" r="r" b="b"/>
              <a:pathLst>
                <a:path w="1743329" h="1442085">
                  <a:moveTo>
                    <a:pt x="0" y="0"/>
                  </a:moveTo>
                  <a:lnTo>
                    <a:pt x="1743329" y="0"/>
                  </a:lnTo>
                  <a:lnTo>
                    <a:pt x="1743329" y="1442085"/>
                  </a:lnTo>
                  <a:lnTo>
                    <a:pt x="0" y="1442085"/>
                  </a:lnTo>
                  <a:lnTo>
                    <a:pt x="0" y="0"/>
                  </a:lnTo>
                  <a:close/>
                </a:path>
              </a:pathLst>
            </a:custGeom>
            <a:blipFill>
              <a:blip r:embed="rId4"/>
              <a:stretch>
                <a:fillRect t="-74" r="-1" b="-71"/>
              </a:stretch>
            </a:blipFill>
          </p:spPr>
          <p:txBody>
            <a:bodyPr/>
            <a:lstStyle/>
            <a:p>
              <a:endParaRPr lang="vi-VN"/>
            </a:p>
          </p:txBody>
        </p:sp>
      </p:grpSp>
      <p:sp>
        <p:nvSpPr>
          <p:cNvPr id="18" name="Freeform 18"/>
          <p:cNvSpPr/>
          <p:nvPr/>
        </p:nvSpPr>
        <p:spPr>
          <a:xfrm>
            <a:off x="17262338" y="9405385"/>
            <a:ext cx="819198" cy="819198"/>
          </a:xfrm>
          <a:custGeom>
            <a:avLst/>
            <a:gdLst/>
            <a:ahLst/>
            <a:cxnLst/>
            <a:rect l="l" t="t" r="r" b="b"/>
            <a:pathLst>
              <a:path w="819198" h="819198">
                <a:moveTo>
                  <a:pt x="0" y="0"/>
                </a:moveTo>
                <a:lnTo>
                  <a:pt x="819198" y="0"/>
                </a:lnTo>
                <a:lnTo>
                  <a:pt x="819198" y="819198"/>
                </a:lnTo>
                <a:lnTo>
                  <a:pt x="0" y="81919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vi-VN"/>
          </a:p>
        </p:txBody>
      </p:sp>
      <p:grpSp>
        <p:nvGrpSpPr>
          <p:cNvPr id="19" name="Group 19"/>
          <p:cNvGrpSpPr/>
          <p:nvPr/>
        </p:nvGrpSpPr>
        <p:grpSpPr>
          <a:xfrm>
            <a:off x="0" y="2124"/>
            <a:ext cx="18291715" cy="10295487"/>
            <a:chOff x="0" y="0"/>
            <a:chExt cx="24388953" cy="13727316"/>
          </a:xfrm>
        </p:grpSpPr>
        <p:sp>
          <p:nvSpPr>
            <p:cNvPr id="20" name="Freeform 20"/>
            <p:cNvSpPr/>
            <p:nvPr/>
          </p:nvSpPr>
          <p:spPr>
            <a:xfrm>
              <a:off x="0" y="0"/>
              <a:ext cx="24388953" cy="13727303"/>
            </a:xfrm>
            <a:custGeom>
              <a:avLst/>
              <a:gdLst/>
              <a:ahLst/>
              <a:cxnLst/>
              <a:rect l="l" t="t" r="r" b="b"/>
              <a:pathLst>
                <a:path w="24388953" h="1372730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txBody>
            <a:bodyPr/>
            <a:lstStyle/>
            <a:p>
              <a:endParaRPr lang="vi-VN"/>
            </a:p>
          </p:txBody>
        </p:sp>
      </p:grpSp>
      <p:grpSp>
        <p:nvGrpSpPr>
          <p:cNvPr id="21" name="Group 21"/>
          <p:cNvGrpSpPr/>
          <p:nvPr/>
        </p:nvGrpSpPr>
        <p:grpSpPr>
          <a:xfrm>
            <a:off x="908999" y="1555147"/>
            <a:ext cx="16470001" cy="1335996"/>
            <a:chOff x="0" y="0"/>
            <a:chExt cx="21960002" cy="1781327"/>
          </a:xfrm>
        </p:grpSpPr>
        <p:sp>
          <p:nvSpPr>
            <p:cNvPr id="22" name="Freeform 22"/>
            <p:cNvSpPr/>
            <p:nvPr/>
          </p:nvSpPr>
          <p:spPr>
            <a:xfrm>
              <a:off x="0" y="0"/>
              <a:ext cx="21960001" cy="1781326"/>
            </a:xfrm>
            <a:custGeom>
              <a:avLst/>
              <a:gdLst/>
              <a:ahLst/>
              <a:cxnLst/>
              <a:rect l="l" t="t" r="r" b="b"/>
              <a:pathLst>
                <a:path w="21960001" h="1781326">
                  <a:moveTo>
                    <a:pt x="0" y="0"/>
                  </a:moveTo>
                  <a:lnTo>
                    <a:pt x="21960001" y="0"/>
                  </a:lnTo>
                  <a:lnTo>
                    <a:pt x="21960001" y="1781326"/>
                  </a:lnTo>
                  <a:lnTo>
                    <a:pt x="0" y="1781326"/>
                  </a:lnTo>
                  <a:close/>
                </a:path>
              </a:pathLst>
            </a:custGeom>
            <a:blipFill>
              <a:blip r:embed="rId6">
                <a:alphaModFix amt="0"/>
              </a:blip>
              <a:stretch>
                <a:fillRect t="-190209" b="-190209"/>
              </a:stretch>
            </a:blipFill>
          </p:spPr>
          <p:txBody>
            <a:bodyPr/>
            <a:lstStyle/>
            <a:p>
              <a:endParaRPr lang="vi-VN"/>
            </a:p>
          </p:txBody>
        </p:sp>
        <p:sp>
          <p:nvSpPr>
            <p:cNvPr id="23" name="TextBox 23"/>
            <p:cNvSpPr txBox="1"/>
            <p:nvPr/>
          </p:nvSpPr>
          <p:spPr>
            <a:xfrm>
              <a:off x="0" y="38100"/>
              <a:ext cx="21960002" cy="1743227"/>
            </a:xfrm>
            <a:prstGeom prst="rect">
              <a:avLst/>
            </a:prstGeom>
          </p:spPr>
          <p:txBody>
            <a:bodyPr lIns="0" tIns="0" rIns="0" bIns="0" rtlCol="0" anchor="ctr"/>
            <a:lstStyle/>
            <a:p>
              <a:pPr algn="l">
                <a:lnSpc>
                  <a:spcPts val="7128"/>
                </a:lnSpc>
              </a:pPr>
              <a:r>
                <a:rPr lang="en-US" sz="6600" b="1">
                  <a:gradFill>
                    <a:gsLst>
                      <a:gs pos="0">
                        <a:srgbClr val="027159">
                          <a:alpha val="100000"/>
                        </a:srgbClr>
                      </a:gs>
                      <a:gs pos="100000">
                        <a:srgbClr val="10CD57">
                          <a:alpha val="100000"/>
                        </a:srgbClr>
                      </a:gs>
                    </a:gsLst>
                    <a:lin ang="16200000"/>
                  </a:gradFill>
                  <a:latin typeface="Times New Roman Bold"/>
                  <a:ea typeface="Times New Roman Bold"/>
                  <a:cs typeface="Times New Roman Bold"/>
                  <a:sym typeface="Times New Roman Bold"/>
                </a:rPr>
                <a:t>4. Kết luận và hướng phát triển của đề tài</a:t>
              </a:r>
            </a:p>
          </p:txBody>
        </p:sp>
      </p:grpSp>
      <p:sp>
        <p:nvSpPr>
          <p:cNvPr id="24" name="TextBox 24"/>
          <p:cNvSpPr txBox="1"/>
          <p:nvPr/>
        </p:nvSpPr>
        <p:spPr>
          <a:xfrm>
            <a:off x="1000439" y="2923737"/>
            <a:ext cx="16287121" cy="6295987"/>
          </a:xfrm>
          <a:prstGeom prst="rect">
            <a:avLst/>
          </a:prstGeom>
        </p:spPr>
        <p:txBody>
          <a:bodyPr lIns="0" tIns="0" rIns="0" bIns="0" rtlCol="0" anchor="t">
            <a:spAutoFit/>
          </a:bodyPr>
          <a:lstStyle/>
          <a:p>
            <a:pPr marL="651510" lvl="1" indent="-325755" algn="l">
              <a:lnSpc>
                <a:spcPts val="5616"/>
              </a:lnSpc>
              <a:buFont typeface="Arial"/>
              <a:buChar char="•"/>
            </a:pPr>
            <a:r>
              <a:rPr lang="en-US" sz="3600">
                <a:solidFill>
                  <a:srgbClr val="000000"/>
                </a:solidFill>
                <a:latin typeface="Times New Roman"/>
                <a:ea typeface="Times New Roman"/>
                <a:cs typeface="Times New Roman"/>
                <a:sym typeface="Times New Roman"/>
              </a:rPr>
              <a:t>Kết luận</a:t>
            </a:r>
          </a:p>
          <a:p>
            <a:pPr marL="1228725" lvl="2" indent="-409575" algn="l">
              <a:lnSpc>
                <a:spcPts val="4680"/>
              </a:lnSpc>
              <a:buFont typeface="Arial"/>
              <a:buChar char="⚬"/>
            </a:pPr>
            <a:r>
              <a:rPr lang="en-US" sz="3000">
                <a:solidFill>
                  <a:srgbClr val="000000"/>
                </a:solidFill>
                <a:latin typeface="Times New Roman"/>
                <a:ea typeface="Times New Roman"/>
                <a:cs typeface="Times New Roman"/>
                <a:sym typeface="Times New Roman"/>
              </a:rPr>
              <a:t>Đề tài đã nghiên cứu và thiết kế thành công bộ đồng xử lý dấu phẩy động (FPU) 64-bit tuân thủ kiến trúc RISC-V, hoạt động song song với lõi xử lý số nguyên RV64I. Kết quả mô phỏng và tổng hợp cho thấy hệ thống hoạt động ổn định, các khối giao tiếp giữa CPU và FPU được đồng bộ tốt.</a:t>
            </a:r>
          </a:p>
          <a:p>
            <a:pPr marL="1228725" lvl="2" indent="-409575" algn="l">
              <a:lnSpc>
                <a:spcPts val="4680"/>
              </a:lnSpc>
              <a:buFont typeface="Arial"/>
              <a:buChar char="⚬"/>
            </a:pPr>
            <a:r>
              <a:rPr lang="en-US" sz="3000">
                <a:solidFill>
                  <a:srgbClr val="000000"/>
                </a:solidFill>
                <a:latin typeface="Times New Roman"/>
                <a:ea typeface="Times New Roman"/>
                <a:cs typeface="Times New Roman"/>
                <a:sym typeface="Times New Roman"/>
              </a:rPr>
              <a:t>Về phần hạn chế, bộ phân phối lệnh mới hoàn thiện một phần, chưa triển khai đầy đủ cơ chế theo thuật toán Tomasulo. Ngoài ra, tần số hoạt động của FPU còn thấp hơn so với CPU, cho thấy cần tối ưu thêm về pipeline và timing.</a:t>
            </a:r>
          </a:p>
        </p:txBody>
      </p:sp>
      <p:grpSp>
        <p:nvGrpSpPr>
          <p:cNvPr id="25" name="Group 25"/>
          <p:cNvGrpSpPr/>
          <p:nvPr/>
        </p:nvGrpSpPr>
        <p:grpSpPr>
          <a:xfrm>
            <a:off x="6350346" y="9534525"/>
            <a:ext cx="6172200" cy="547688"/>
            <a:chOff x="0" y="0"/>
            <a:chExt cx="8229600" cy="730250"/>
          </a:xfrm>
        </p:grpSpPr>
        <p:sp>
          <p:nvSpPr>
            <p:cNvPr id="26" name="Freeform 26"/>
            <p:cNvSpPr/>
            <p:nvPr/>
          </p:nvSpPr>
          <p:spPr>
            <a:xfrm>
              <a:off x="0" y="0"/>
              <a:ext cx="8229600" cy="730250"/>
            </a:xfrm>
            <a:custGeom>
              <a:avLst/>
              <a:gdLst/>
              <a:ahLst/>
              <a:cxnLst/>
              <a:rect l="l" t="t" r="r" b="b"/>
              <a:pathLst>
                <a:path w="8229600" h="730250">
                  <a:moveTo>
                    <a:pt x="0" y="0"/>
                  </a:moveTo>
                  <a:lnTo>
                    <a:pt x="8229600" y="0"/>
                  </a:lnTo>
                  <a:lnTo>
                    <a:pt x="8229600" y="730250"/>
                  </a:lnTo>
                  <a:lnTo>
                    <a:pt x="0" y="730250"/>
                  </a:lnTo>
                  <a:close/>
                </a:path>
              </a:pathLst>
            </a:custGeom>
            <a:blipFill>
              <a:blip r:embed="rId6">
                <a:alphaModFix amt="0"/>
              </a:blip>
              <a:stretch>
                <a:fillRect t="-169587" b="-169587"/>
              </a:stretch>
            </a:blipFill>
          </p:spPr>
          <p:txBody>
            <a:bodyPr/>
            <a:lstStyle/>
            <a:p>
              <a:endParaRPr lang="vi-VN"/>
            </a:p>
          </p:txBody>
        </p:sp>
        <p:sp>
          <p:nvSpPr>
            <p:cNvPr id="27" name="TextBox 27"/>
            <p:cNvSpPr txBox="1"/>
            <p:nvPr/>
          </p:nvSpPr>
          <p:spPr>
            <a:xfrm>
              <a:off x="0" y="-19050"/>
              <a:ext cx="8229600" cy="749300"/>
            </a:xfrm>
            <a:prstGeom prst="rect">
              <a:avLst/>
            </a:prstGeom>
          </p:spPr>
          <p:txBody>
            <a:bodyPr lIns="0" tIns="0" rIns="0" bIns="0" rtlCol="0" anchor="ctr"/>
            <a:lstStyle/>
            <a:p>
              <a:pPr algn="ctr">
                <a:lnSpc>
                  <a:spcPts val="2160"/>
                </a:lnSpc>
              </a:pPr>
              <a:r>
                <a:rPr lang="en-US" sz="1800">
                  <a:solidFill>
                    <a:srgbClr val="898989"/>
                  </a:solidFill>
                  <a:latin typeface="Arial"/>
                  <a:ea typeface="Arial"/>
                  <a:cs typeface="Arial"/>
                  <a:sym typeface="Arial"/>
                </a:rPr>
                <a:t>Copyrights 2024 CE-UIT. All Rights Reserved.</a:t>
              </a:r>
            </a:p>
          </p:txBody>
        </p:sp>
      </p:grpSp>
      <p:grpSp>
        <p:nvGrpSpPr>
          <p:cNvPr id="28" name="Group 28"/>
          <p:cNvGrpSpPr/>
          <p:nvPr/>
        </p:nvGrpSpPr>
        <p:grpSpPr>
          <a:xfrm>
            <a:off x="15634421" y="9534525"/>
            <a:ext cx="4114800" cy="547688"/>
            <a:chOff x="0" y="0"/>
            <a:chExt cx="5486400" cy="730250"/>
          </a:xfrm>
        </p:grpSpPr>
        <p:sp>
          <p:nvSpPr>
            <p:cNvPr id="29" name="Freeform 29"/>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blipFill>
              <a:blip r:embed="rId6">
                <a:alphaModFix amt="0"/>
              </a:blip>
              <a:stretch>
                <a:fillRect t="-96391" b="-96391"/>
              </a:stretch>
            </a:blipFill>
          </p:spPr>
          <p:txBody>
            <a:bodyPr/>
            <a:lstStyle/>
            <a:p>
              <a:endParaRPr lang="vi-VN"/>
            </a:p>
          </p:txBody>
        </p:sp>
        <p:sp>
          <p:nvSpPr>
            <p:cNvPr id="30" name="TextBox 30"/>
            <p:cNvSpPr txBox="1"/>
            <p:nvPr/>
          </p:nvSpPr>
          <p:spPr>
            <a:xfrm>
              <a:off x="0" y="-19050"/>
              <a:ext cx="5486400" cy="749300"/>
            </a:xfrm>
            <a:prstGeom prst="rect">
              <a:avLst/>
            </a:prstGeom>
          </p:spPr>
          <p:txBody>
            <a:bodyPr lIns="0" tIns="0" rIns="0" bIns="0" rtlCol="0" anchor="ctr"/>
            <a:lstStyle/>
            <a:p>
              <a:pPr algn="ctr">
                <a:lnSpc>
                  <a:spcPts val="2160"/>
                </a:lnSpc>
              </a:pPr>
              <a:r>
                <a:rPr lang="en-US" sz="1800">
                  <a:solidFill>
                    <a:srgbClr val="FFFFFF"/>
                  </a:solidFill>
                  <a:latin typeface="Arial"/>
                  <a:ea typeface="Arial"/>
                  <a:cs typeface="Arial"/>
                  <a:sym typeface="Arial"/>
                </a:rPr>
                <a:t>18</a:t>
              </a:r>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91440" y="-2287991"/>
            <a:ext cx="18105120" cy="527771"/>
          </a:xfrm>
          <a:prstGeom prst="rect">
            <a:avLst/>
          </a:prstGeom>
        </p:spPr>
        <p:txBody>
          <a:bodyPr lIns="0" tIns="0" rIns="0" bIns="0" rtlCol="0" anchor="t">
            <a:spAutoFit/>
          </a:bodyPr>
          <a:lstStyle/>
          <a:p>
            <a:pPr algn="ctr">
              <a:lnSpc>
                <a:spcPts val="3600"/>
              </a:lnSpc>
            </a:pPr>
            <a:r>
              <a:rPr lang="en-US" sz="3000">
                <a:solidFill>
                  <a:srgbClr val="C3C3C3"/>
                </a:solidFill>
                <a:latin typeface="Arial"/>
                <a:ea typeface="Arial"/>
                <a:cs typeface="Arial"/>
                <a:sym typeface="Arial"/>
              </a:rPr>
              <a:t>www.9slide.vn</a:t>
            </a:r>
          </a:p>
        </p:txBody>
      </p:sp>
      <p:grpSp>
        <p:nvGrpSpPr>
          <p:cNvPr id="3" name="Group 3"/>
          <p:cNvGrpSpPr/>
          <p:nvPr/>
        </p:nvGrpSpPr>
        <p:grpSpPr>
          <a:xfrm>
            <a:off x="0" y="2124"/>
            <a:ext cx="18291715" cy="10295487"/>
            <a:chOff x="0" y="0"/>
            <a:chExt cx="24388953" cy="13727316"/>
          </a:xfrm>
        </p:grpSpPr>
        <p:sp>
          <p:nvSpPr>
            <p:cNvPr id="4" name="Freeform 4"/>
            <p:cNvSpPr/>
            <p:nvPr/>
          </p:nvSpPr>
          <p:spPr>
            <a:xfrm>
              <a:off x="0" y="0"/>
              <a:ext cx="24388953" cy="13727303"/>
            </a:xfrm>
            <a:custGeom>
              <a:avLst/>
              <a:gdLst/>
              <a:ahLst/>
              <a:cxnLst/>
              <a:rect l="l" t="t" r="r" b="b"/>
              <a:pathLst>
                <a:path w="24388953" h="1372730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txBody>
            <a:bodyPr/>
            <a:lstStyle/>
            <a:p>
              <a:endParaRPr lang="vi-VN"/>
            </a:p>
          </p:txBody>
        </p:sp>
      </p:grpSp>
      <p:grpSp>
        <p:nvGrpSpPr>
          <p:cNvPr id="5" name="Group 5"/>
          <p:cNvGrpSpPr/>
          <p:nvPr/>
        </p:nvGrpSpPr>
        <p:grpSpPr>
          <a:xfrm rot="5400000">
            <a:off x="8668474" y="-8670065"/>
            <a:ext cx="947328" cy="18291715"/>
            <a:chOff x="0" y="0"/>
            <a:chExt cx="1263104" cy="24388953"/>
          </a:xfrm>
        </p:grpSpPr>
        <p:sp>
          <p:nvSpPr>
            <p:cNvPr id="6" name="Freeform 6"/>
            <p:cNvSpPr/>
            <p:nvPr/>
          </p:nvSpPr>
          <p:spPr>
            <a:xfrm>
              <a:off x="0" y="0"/>
              <a:ext cx="1263142" cy="24388953"/>
            </a:xfrm>
            <a:custGeom>
              <a:avLst/>
              <a:gdLst/>
              <a:ahLst/>
              <a:cxnLst/>
              <a:rect l="l" t="t" r="r" b="b"/>
              <a:pathLst>
                <a:path w="1263142" h="24388953">
                  <a:moveTo>
                    <a:pt x="0" y="0"/>
                  </a:moveTo>
                  <a:lnTo>
                    <a:pt x="1263142" y="0"/>
                  </a:lnTo>
                  <a:lnTo>
                    <a:pt x="1263142" y="24388953"/>
                  </a:lnTo>
                  <a:lnTo>
                    <a:pt x="0" y="24388953"/>
                  </a:lnTo>
                  <a:close/>
                </a:path>
              </a:pathLst>
            </a:custGeom>
            <a:gradFill rotWithShape="1">
              <a:gsLst>
                <a:gs pos="0">
                  <a:srgbClr val="10CD57">
                    <a:alpha val="100000"/>
                  </a:srgbClr>
                </a:gs>
                <a:gs pos="100000">
                  <a:srgbClr val="027159">
                    <a:alpha val="100000"/>
                  </a:srgbClr>
                </a:gs>
              </a:gsLst>
              <a:lin ang="0"/>
            </a:gradFill>
          </p:spPr>
          <p:txBody>
            <a:bodyPr/>
            <a:lstStyle/>
            <a:p>
              <a:endParaRPr lang="vi-VN"/>
            </a:p>
          </p:txBody>
        </p:sp>
      </p:grpSp>
      <p:grpSp>
        <p:nvGrpSpPr>
          <p:cNvPr id="7" name="Group 7"/>
          <p:cNvGrpSpPr/>
          <p:nvPr/>
        </p:nvGrpSpPr>
        <p:grpSpPr>
          <a:xfrm rot="5400000">
            <a:off x="8670331" y="-8672198"/>
            <a:ext cx="947328" cy="18291715"/>
            <a:chOff x="0" y="0"/>
            <a:chExt cx="1263104" cy="24388953"/>
          </a:xfrm>
        </p:grpSpPr>
        <p:sp>
          <p:nvSpPr>
            <p:cNvPr id="8" name="Freeform 8"/>
            <p:cNvSpPr/>
            <p:nvPr/>
          </p:nvSpPr>
          <p:spPr>
            <a:xfrm flipV="1">
              <a:off x="0" y="0"/>
              <a:ext cx="1263142" cy="24388953"/>
            </a:xfrm>
            <a:custGeom>
              <a:avLst/>
              <a:gdLst/>
              <a:ahLst/>
              <a:cxnLst/>
              <a:rect l="l" t="t" r="r" b="b"/>
              <a:pathLst>
                <a:path w="1263142" h="24388953">
                  <a:moveTo>
                    <a:pt x="0" y="0"/>
                  </a:moveTo>
                  <a:lnTo>
                    <a:pt x="1263142" y="0"/>
                  </a:lnTo>
                  <a:lnTo>
                    <a:pt x="1263142" y="24388953"/>
                  </a:lnTo>
                  <a:lnTo>
                    <a:pt x="0" y="24388953"/>
                  </a:lnTo>
                  <a:close/>
                </a:path>
              </a:pathLst>
            </a:custGeom>
            <a:blipFill>
              <a:blip r:embed="rId2"/>
              <a:stretch>
                <a:fillRect l="-35093" r="-35090"/>
              </a:stretch>
            </a:blipFill>
          </p:spPr>
          <p:txBody>
            <a:bodyPr/>
            <a:lstStyle/>
            <a:p>
              <a:endParaRPr lang="vi-VN"/>
            </a:p>
          </p:txBody>
        </p:sp>
      </p:grpSp>
      <p:sp>
        <p:nvSpPr>
          <p:cNvPr id="9" name="TextBox 9"/>
          <p:cNvSpPr txBox="1"/>
          <p:nvPr/>
        </p:nvSpPr>
        <p:spPr>
          <a:xfrm>
            <a:off x="451866" y="248326"/>
            <a:ext cx="10947559" cy="424158"/>
          </a:xfrm>
          <a:prstGeom prst="rect">
            <a:avLst/>
          </a:prstGeom>
        </p:spPr>
        <p:txBody>
          <a:bodyPr lIns="0" tIns="0" rIns="0" bIns="0" rtlCol="0" anchor="t">
            <a:spAutoFit/>
          </a:bodyPr>
          <a:lstStyle/>
          <a:p>
            <a:pPr algn="l">
              <a:lnSpc>
                <a:spcPts val="2879"/>
              </a:lnSpc>
            </a:pPr>
            <a:r>
              <a:rPr lang="en-US" sz="2400" b="1">
                <a:solidFill>
                  <a:srgbClr val="FFFFFF"/>
                </a:solidFill>
                <a:latin typeface="Arial Bold"/>
                <a:ea typeface="Arial Bold"/>
                <a:cs typeface="Arial Bold"/>
                <a:sym typeface="Arial Bold"/>
              </a:rPr>
              <a:t>FACULTY OF COMPUTER ENGINEERING</a:t>
            </a:r>
          </a:p>
        </p:txBody>
      </p:sp>
      <p:grpSp>
        <p:nvGrpSpPr>
          <p:cNvPr id="10" name="Group 10"/>
          <p:cNvGrpSpPr/>
          <p:nvPr/>
        </p:nvGrpSpPr>
        <p:grpSpPr>
          <a:xfrm>
            <a:off x="6719973" y="457933"/>
            <a:ext cx="4848044" cy="957948"/>
            <a:chOff x="0" y="0"/>
            <a:chExt cx="6464059" cy="1277264"/>
          </a:xfrm>
        </p:grpSpPr>
        <p:sp>
          <p:nvSpPr>
            <p:cNvPr id="11" name="Freeform 11"/>
            <p:cNvSpPr/>
            <p:nvPr/>
          </p:nvSpPr>
          <p:spPr>
            <a:xfrm>
              <a:off x="0" y="0"/>
              <a:ext cx="6464173" cy="1277366"/>
            </a:xfrm>
            <a:custGeom>
              <a:avLst/>
              <a:gdLst/>
              <a:ahLst/>
              <a:cxnLst/>
              <a:rect l="l" t="t" r="r" b="b"/>
              <a:pathLst>
                <a:path w="6464173" h="1277366">
                  <a:moveTo>
                    <a:pt x="0" y="638683"/>
                  </a:moveTo>
                  <a:cubicBezTo>
                    <a:pt x="0" y="285877"/>
                    <a:pt x="285877" y="0"/>
                    <a:pt x="638683" y="0"/>
                  </a:cubicBezTo>
                  <a:lnTo>
                    <a:pt x="5825490" y="0"/>
                  </a:lnTo>
                  <a:cubicBezTo>
                    <a:pt x="6178169" y="0"/>
                    <a:pt x="6464173" y="285877"/>
                    <a:pt x="6464173" y="638683"/>
                  </a:cubicBezTo>
                  <a:cubicBezTo>
                    <a:pt x="6464173" y="991489"/>
                    <a:pt x="6178296" y="1277366"/>
                    <a:pt x="5825490" y="1277366"/>
                  </a:cubicBezTo>
                  <a:lnTo>
                    <a:pt x="638683" y="1277366"/>
                  </a:lnTo>
                  <a:cubicBezTo>
                    <a:pt x="285877" y="1277239"/>
                    <a:pt x="0" y="991362"/>
                    <a:pt x="0" y="638683"/>
                  </a:cubicBezTo>
                  <a:close/>
                </a:path>
              </a:pathLst>
            </a:custGeom>
            <a:gradFill rotWithShape="1">
              <a:gsLst>
                <a:gs pos="0">
                  <a:srgbClr val="38EF7D">
                    <a:alpha val="100000"/>
                  </a:srgbClr>
                </a:gs>
                <a:gs pos="100000">
                  <a:srgbClr val="752AFF">
                    <a:alpha val="100000"/>
                  </a:srgbClr>
                </a:gs>
              </a:gsLst>
              <a:lin ang="4729360"/>
            </a:gradFill>
          </p:spPr>
          <p:txBody>
            <a:bodyPr/>
            <a:lstStyle/>
            <a:p>
              <a:endParaRPr lang="vi-VN"/>
            </a:p>
          </p:txBody>
        </p:sp>
      </p:grpSp>
      <p:grpSp>
        <p:nvGrpSpPr>
          <p:cNvPr id="12" name="Group 12"/>
          <p:cNvGrpSpPr/>
          <p:nvPr/>
        </p:nvGrpSpPr>
        <p:grpSpPr>
          <a:xfrm>
            <a:off x="6807460" y="535962"/>
            <a:ext cx="4673079" cy="801872"/>
            <a:chOff x="0" y="0"/>
            <a:chExt cx="6230772" cy="1069162"/>
          </a:xfrm>
        </p:grpSpPr>
        <p:sp>
          <p:nvSpPr>
            <p:cNvPr id="13" name="Freeform 13"/>
            <p:cNvSpPr/>
            <p:nvPr/>
          </p:nvSpPr>
          <p:spPr>
            <a:xfrm>
              <a:off x="0" y="0"/>
              <a:ext cx="6230747" cy="1069086"/>
            </a:xfrm>
            <a:custGeom>
              <a:avLst/>
              <a:gdLst/>
              <a:ahLst/>
              <a:cxnLst/>
              <a:rect l="l" t="t" r="r" b="b"/>
              <a:pathLst>
                <a:path w="6230747" h="1069086">
                  <a:moveTo>
                    <a:pt x="0" y="534543"/>
                  </a:moveTo>
                  <a:cubicBezTo>
                    <a:pt x="0" y="239395"/>
                    <a:pt x="239395" y="0"/>
                    <a:pt x="534543" y="0"/>
                  </a:cubicBezTo>
                  <a:lnTo>
                    <a:pt x="5696204" y="0"/>
                  </a:lnTo>
                  <a:cubicBezTo>
                    <a:pt x="5991479" y="0"/>
                    <a:pt x="6230747" y="239395"/>
                    <a:pt x="6230747" y="534543"/>
                  </a:cubicBezTo>
                  <a:cubicBezTo>
                    <a:pt x="6230747" y="829691"/>
                    <a:pt x="5991352" y="1069086"/>
                    <a:pt x="5696204" y="1069086"/>
                  </a:cubicBezTo>
                  <a:lnTo>
                    <a:pt x="534543" y="1069086"/>
                  </a:lnTo>
                  <a:cubicBezTo>
                    <a:pt x="239395" y="1069213"/>
                    <a:pt x="0" y="829818"/>
                    <a:pt x="0" y="534543"/>
                  </a:cubicBezTo>
                  <a:close/>
                </a:path>
              </a:pathLst>
            </a:custGeom>
            <a:solidFill>
              <a:srgbClr val="FFFFFF"/>
            </a:solidFill>
          </p:spPr>
          <p:txBody>
            <a:bodyPr/>
            <a:lstStyle/>
            <a:p>
              <a:endParaRPr lang="vi-VN"/>
            </a:p>
          </p:txBody>
        </p:sp>
      </p:grpSp>
      <p:grpSp>
        <p:nvGrpSpPr>
          <p:cNvPr id="14" name="Group 14"/>
          <p:cNvGrpSpPr/>
          <p:nvPr/>
        </p:nvGrpSpPr>
        <p:grpSpPr>
          <a:xfrm>
            <a:off x="9436446" y="362541"/>
            <a:ext cx="1163307" cy="1152592"/>
            <a:chOff x="0" y="0"/>
            <a:chExt cx="1551076" cy="1536789"/>
          </a:xfrm>
        </p:grpSpPr>
        <p:sp>
          <p:nvSpPr>
            <p:cNvPr id="15" name="Freeform 15" descr="Icon  Description automatically generated with medium confidence"/>
            <p:cNvSpPr/>
            <p:nvPr/>
          </p:nvSpPr>
          <p:spPr>
            <a:xfrm>
              <a:off x="0" y="0"/>
              <a:ext cx="1551051" cy="1536827"/>
            </a:xfrm>
            <a:custGeom>
              <a:avLst/>
              <a:gdLst/>
              <a:ahLst/>
              <a:cxnLst/>
              <a:rect l="l" t="t" r="r" b="b"/>
              <a:pathLst>
                <a:path w="1551051" h="1536827">
                  <a:moveTo>
                    <a:pt x="0" y="0"/>
                  </a:moveTo>
                  <a:lnTo>
                    <a:pt x="1551051" y="0"/>
                  </a:lnTo>
                  <a:lnTo>
                    <a:pt x="1551051" y="1536827"/>
                  </a:lnTo>
                  <a:lnTo>
                    <a:pt x="0" y="1536827"/>
                  </a:lnTo>
                  <a:lnTo>
                    <a:pt x="0" y="0"/>
                  </a:lnTo>
                  <a:close/>
                </a:path>
              </a:pathLst>
            </a:custGeom>
            <a:blipFill>
              <a:blip r:embed="rId3"/>
              <a:stretch>
                <a:fillRect l="-75" r="-76" b="2"/>
              </a:stretch>
            </a:blipFill>
          </p:spPr>
          <p:txBody>
            <a:bodyPr/>
            <a:lstStyle/>
            <a:p>
              <a:endParaRPr lang="vi-VN"/>
            </a:p>
          </p:txBody>
        </p:sp>
      </p:grpSp>
      <p:grpSp>
        <p:nvGrpSpPr>
          <p:cNvPr id="16" name="Group 16"/>
          <p:cNvGrpSpPr/>
          <p:nvPr/>
        </p:nvGrpSpPr>
        <p:grpSpPr>
          <a:xfrm>
            <a:off x="7688247" y="398078"/>
            <a:ext cx="1307516" cy="1081516"/>
            <a:chOff x="0" y="0"/>
            <a:chExt cx="1743354" cy="1442022"/>
          </a:xfrm>
        </p:grpSpPr>
        <p:sp>
          <p:nvSpPr>
            <p:cNvPr id="17" name="Freeform 17" descr="A picture containing clipart, vector graphics  Description automatically generated"/>
            <p:cNvSpPr/>
            <p:nvPr/>
          </p:nvSpPr>
          <p:spPr>
            <a:xfrm>
              <a:off x="0" y="0"/>
              <a:ext cx="1743329" cy="1442085"/>
            </a:xfrm>
            <a:custGeom>
              <a:avLst/>
              <a:gdLst/>
              <a:ahLst/>
              <a:cxnLst/>
              <a:rect l="l" t="t" r="r" b="b"/>
              <a:pathLst>
                <a:path w="1743329" h="1442085">
                  <a:moveTo>
                    <a:pt x="0" y="0"/>
                  </a:moveTo>
                  <a:lnTo>
                    <a:pt x="1743329" y="0"/>
                  </a:lnTo>
                  <a:lnTo>
                    <a:pt x="1743329" y="1442085"/>
                  </a:lnTo>
                  <a:lnTo>
                    <a:pt x="0" y="1442085"/>
                  </a:lnTo>
                  <a:lnTo>
                    <a:pt x="0" y="0"/>
                  </a:lnTo>
                  <a:close/>
                </a:path>
              </a:pathLst>
            </a:custGeom>
            <a:blipFill>
              <a:blip r:embed="rId4"/>
              <a:stretch>
                <a:fillRect t="-74" r="-1" b="-71"/>
              </a:stretch>
            </a:blipFill>
          </p:spPr>
          <p:txBody>
            <a:bodyPr/>
            <a:lstStyle/>
            <a:p>
              <a:endParaRPr lang="vi-VN"/>
            </a:p>
          </p:txBody>
        </p:sp>
      </p:grpSp>
      <p:sp>
        <p:nvSpPr>
          <p:cNvPr id="18" name="Freeform 18"/>
          <p:cNvSpPr/>
          <p:nvPr/>
        </p:nvSpPr>
        <p:spPr>
          <a:xfrm>
            <a:off x="17262338" y="9405385"/>
            <a:ext cx="819198" cy="819198"/>
          </a:xfrm>
          <a:custGeom>
            <a:avLst/>
            <a:gdLst/>
            <a:ahLst/>
            <a:cxnLst/>
            <a:rect l="l" t="t" r="r" b="b"/>
            <a:pathLst>
              <a:path w="819198" h="819198">
                <a:moveTo>
                  <a:pt x="0" y="0"/>
                </a:moveTo>
                <a:lnTo>
                  <a:pt x="819198" y="0"/>
                </a:lnTo>
                <a:lnTo>
                  <a:pt x="819198" y="819198"/>
                </a:lnTo>
                <a:lnTo>
                  <a:pt x="0" y="81919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vi-VN"/>
          </a:p>
        </p:txBody>
      </p:sp>
      <p:grpSp>
        <p:nvGrpSpPr>
          <p:cNvPr id="19" name="Group 19"/>
          <p:cNvGrpSpPr/>
          <p:nvPr/>
        </p:nvGrpSpPr>
        <p:grpSpPr>
          <a:xfrm>
            <a:off x="0" y="2124"/>
            <a:ext cx="18291715" cy="10295487"/>
            <a:chOff x="0" y="0"/>
            <a:chExt cx="24388953" cy="13727316"/>
          </a:xfrm>
        </p:grpSpPr>
        <p:sp>
          <p:nvSpPr>
            <p:cNvPr id="20" name="Freeform 20"/>
            <p:cNvSpPr/>
            <p:nvPr/>
          </p:nvSpPr>
          <p:spPr>
            <a:xfrm>
              <a:off x="0" y="0"/>
              <a:ext cx="24388953" cy="13727303"/>
            </a:xfrm>
            <a:custGeom>
              <a:avLst/>
              <a:gdLst/>
              <a:ahLst/>
              <a:cxnLst/>
              <a:rect l="l" t="t" r="r" b="b"/>
              <a:pathLst>
                <a:path w="24388953" h="1372730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txBody>
            <a:bodyPr/>
            <a:lstStyle/>
            <a:p>
              <a:endParaRPr lang="vi-VN"/>
            </a:p>
          </p:txBody>
        </p:sp>
      </p:grpSp>
      <p:grpSp>
        <p:nvGrpSpPr>
          <p:cNvPr id="21" name="Group 21"/>
          <p:cNvGrpSpPr/>
          <p:nvPr/>
        </p:nvGrpSpPr>
        <p:grpSpPr>
          <a:xfrm>
            <a:off x="908999" y="1555147"/>
            <a:ext cx="16470001" cy="1335996"/>
            <a:chOff x="0" y="0"/>
            <a:chExt cx="21960002" cy="1781327"/>
          </a:xfrm>
        </p:grpSpPr>
        <p:sp>
          <p:nvSpPr>
            <p:cNvPr id="22" name="Freeform 22"/>
            <p:cNvSpPr/>
            <p:nvPr/>
          </p:nvSpPr>
          <p:spPr>
            <a:xfrm>
              <a:off x="0" y="0"/>
              <a:ext cx="21960001" cy="1781326"/>
            </a:xfrm>
            <a:custGeom>
              <a:avLst/>
              <a:gdLst/>
              <a:ahLst/>
              <a:cxnLst/>
              <a:rect l="l" t="t" r="r" b="b"/>
              <a:pathLst>
                <a:path w="21960001" h="1781326">
                  <a:moveTo>
                    <a:pt x="0" y="0"/>
                  </a:moveTo>
                  <a:lnTo>
                    <a:pt x="21960001" y="0"/>
                  </a:lnTo>
                  <a:lnTo>
                    <a:pt x="21960001" y="1781326"/>
                  </a:lnTo>
                  <a:lnTo>
                    <a:pt x="0" y="1781326"/>
                  </a:lnTo>
                  <a:close/>
                </a:path>
              </a:pathLst>
            </a:custGeom>
            <a:blipFill>
              <a:blip r:embed="rId6">
                <a:alphaModFix amt="0"/>
              </a:blip>
              <a:stretch>
                <a:fillRect t="-190209" b="-190209"/>
              </a:stretch>
            </a:blipFill>
          </p:spPr>
          <p:txBody>
            <a:bodyPr/>
            <a:lstStyle/>
            <a:p>
              <a:endParaRPr lang="vi-VN"/>
            </a:p>
          </p:txBody>
        </p:sp>
        <p:sp>
          <p:nvSpPr>
            <p:cNvPr id="23" name="TextBox 23"/>
            <p:cNvSpPr txBox="1"/>
            <p:nvPr/>
          </p:nvSpPr>
          <p:spPr>
            <a:xfrm>
              <a:off x="0" y="38100"/>
              <a:ext cx="21960002" cy="1743227"/>
            </a:xfrm>
            <a:prstGeom prst="rect">
              <a:avLst/>
            </a:prstGeom>
          </p:spPr>
          <p:txBody>
            <a:bodyPr lIns="0" tIns="0" rIns="0" bIns="0" rtlCol="0" anchor="ctr"/>
            <a:lstStyle/>
            <a:p>
              <a:pPr algn="l">
                <a:lnSpc>
                  <a:spcPts val="7128"/>
                </a:lnSpc>
              </a:pPr>
              <a:r>
                <a:rPr lang="en-US" sz="6600" b="1">
                  <a:gradFill>
                    <a:gsLst>
                      <a:gs pos="0">
                        <a:srgbClr val="027159">
                          <a:alpha val="100000"/>
                        </a:srgbClr>
                      </a:gs>
                      <a:gs pos="100000">
                        <a:srgbClr val="10CD57">
                          <a:alpha val="100000"/>
                        </a:srgbClr>
                      </a:gs>
                    </a:gsLst>
                    <a:lin ang="16200000"/>
                  </a:gradFill>
                  <a:latin typeface="Times New Roman Bold"/>
                  <a:ea typeface="Times New Roman Bold"/>
                  <a:cs typeface="Times New Roman Bold"/>
                  <a:sym typeface="Times New Roman Bold"/>
                </a:rPr>
                <a:t>4. Kết luận và hướng phát triển của đề tài</a:t>
              </a:r>
            </a:p>
          </p:txBody>
        </p:sp>
      </p:grpSp>
      <p:sp>
        <p:nvSpPr>
          <p:cNvPr id="24" name="TextBox 24"/>
          <p:cNvSpPr txBox="1"/>
          <p:nvPr/>
        </p:nvSpPr>
        <p:spPr>
          <a:xfrm>
            <a:off x="1000439" y="2923737"/>
            <a:ext cx="16287121" cy="6295987"/>
          </a:xfrm>
          <a:prstGeom prst="rect">
            <a:avLst/>
          </a:prstGeom>
        </p:spPr>
        <p:txBody>
          <a:bodyPr lIns="0" tIns="0" rIns="0" bIns="0" rtlCol="0" anchor="t">
            <a:spAutoFit/>
          </a:bodyPr>
          <a:lstStyle/>
          <a:p>
            <a:pPr marL="651510" lvl="1" indent="-325755" algn="l">
              <a:lnSpc>
                <a:spcPts val="5616"/>
              </a:lnSpc>
              <a:buFont typeface="Arial"/>
              <a:buChar char="•"/>
            </a:pPr>
            <a:r>
              <a:rPr lang="en-US" sz="3600">
                <a:solidFill>
                  <a:srgbClr val="000000"/>
                </a:solidFill>
                <a:latin typeface="Times New Roman"/>
                <a:ea typeface="Times New Roman"/>
                <a:cs typeface="Times New Roman"/>
                <a:sym typeface="Times New Roman"/>
              </a:rPr>
              <a:t>Hướng phát triển và công việc tiếp theo</a:t>
            </a:r>
          </a:p>
          <a:p>
            <a:pPr marL="1228725" lvl="2" indent="-409575" algn="l">
              <a:lnSpc>
                <a:spcPts val="4680"/>
              </a:lnSpc>
              <a:buFont typeface="Arial"/>
              <a:buChar char="⚬"/>
            </a:pPr>
            <a:r>
              <a:rPr lang="en-US" sz="3000">
                <a:solidFill>
                  <a:srgbClr val="000000"/>
                </a:solidFill>
                <a:latin typeface="Times New Roman"/>
                <a:ea typeface="Times New Roman"/>
                <a:cs typeface="Times New Roman"/>
                <a:sym typeface="Times New Roman"/>
              </a:rPr>
              <a:t>Hoàn thiện khối dispatcher với thuật toán Tomasulo mở rộng để hỗ trợ lập lịch động và thực thi ngoài thứ tự ở cấp hệ thống, tối ưu thiết kế nhằm tăng tần số hoạt động và giảm tiêu thụ năng lượng. Ngoài ra, cần hoàn thiện kịch bản kiểm thử cho toàn bộ hệ thống.</a:t>
            </a:r>
          </a:p>
        </p:txBody>
      </p:sp>
      <p:grpSp>
        <p:nvGrpSpPr>
          <p:cNvPr id="25" name="Group 25"/>
          <p:cNvGrpSpPr/>
          <p:nvPr/>
        </p:nvGrpSpPr>
        <p:grpSpPr>
          <a:xfrm>
            <a:off x="6350346" y="9534525"/>
            <a:ext cx="6172200" cy="547688"/>
            <a:chOff x="0" y="0"/>
            <a:chExt cx="8229600" cy="730250"/>
          </a:xfrm>
        </p:grpSpPr>
        <p:sp>
          <p:nvSpPr>
            <p:cNvPr id="26" name="Freeform 26"/>
            <p:cNvSpPr/>
            <p:nvPr/>
          </p:nvSpPr>
          <p:spPr>
            <a:xfrm>
              <a:off x="0" y="0"/>
              <a:ext cx="8229600" cy="730250"/>
            </a:xfrm>
            <a:custGeom>
              <a:avLst/>
              <a:gdLst/>
              <a:ahLst/>
              <a:cxnLst/>
              <a:rect l="l" t="t" r="r" b="b"/>
              <a:pathLst>
                <a:path w="8229600" h="730250">
                  <a:moveTo>
                    <a:pt x="0" y="0"/>
                  </a:moveTo>
                  <a:lnTo>
                    <a:pt x="8229600" y="0"/>
                  </a:lnTo>
                  <a:lnTo>
                    <a:pt x="8229600" y="730250"/>
                  </a:lnTo>
                  <a:lnTo>
                    <a:pt x="0" y="730250"/>
                  </a:lnTo>
                  <a:close/>
                </a:path>
              </a:pathLst>
            </a:custGeom>
            <a:blipFill>
              <a:blip r:embed="rId6">
                <a:alphaModFix amt="0"/>
              </a:blip>
              <a:stretch>
                <a:fillRect t="-169587" b="-169587"/>
              </a:stretch>
            </a:blipFill>
          </p:spPr>
          <p:txBody>
            <a:bodyPr/>
            <a:lstStyle/>
            <a:p>
              <a:endParaRPr lang="vi-VN"/>
            </a:p>
          </p:txBody>
        </p:sp>
        <p:sp>
          <p:nvSpPr>
            <p:cNvPr id="27" name="TextBox 27"/>
            <p:cNvSpPr txBox="1"/>
            <p:nvPr/>
          </p:nvSpPr>
          <p:spPr>
            <a:xfrm>
              <a:off x="0" y="-19050"/>
              <a:ext cx="8229600" cy="749300"/>
            </a:xfrm>
            <a:prstGeom prst="rect">
              <a:avLst/>
            </a:prstGeom>
          </p:spPr>
          <p:txBody>
            <a:bodyPr lIns="0" tIns="0" rIns="0" bIns="0" rtlCol="0" anchor="ctr"/>
            <a:lstStyle/>
            <a:p>
              <a:pPr algn="ctr">
                <a:lnSpc>
                  <a:spcPts val="2160"/>
                </a:lnSpc>
              </a:pPr>
              <a:r>
                <a:rPr lang="en-US" sz="1800">
                  <a:solidFill>
                    <a:srgbClr val="898989"/>
                  </a:solidFill>
                  <a:latin typeface="Arial"/>
                  <a:ea typeface="Arial"/>
                  <a:cs typeface="Arial"/>
                  <a:sym typeface="Arial"/>
                </a:rPr>
                <a:t>Copyrights 2024 CE-UIT. All Rights Reserved.</a:t>
              </a:r>
            </a:p>
          </p:txBody>
        </p:sp>
      </p:grpSp>
      <p:grpSp>
        <p:nvGrpSpPr>
          <p:cNvPr id="28" name="Group 28"/>
          <p:cNvGrpSpPr/>
          <p:nvPr/>
        </p:nvGrpSpPr>
        <p:grpSpPr>
          <a:xfrm>
            <a:off x="15634421" y="9534525"/>
            <a:ext cx="4114800" cy="547688"/>
            <a:chOff x="0" y="0"/>
            <a:chExt cx="5486400" cy="730250"/>
          </a:xfrm>
        </p:grpSpPr>
        <p:sp>
          <p:nvSpPr>
            <p:cNvPr id="29" name="Freeform 29"/>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blipFill>
              <a:blip r:embed="rId6">
                <a:alphaModFix amt="0"/>
              </a:blip>
              <a:stretch>
                <a:fillRect t="-96391" b="-96391"/>
              </a:stretch>
            </a:blipFill>
          </p:spPr>
          <p:txBody>
            <a:bodyPr/>
            <a:lstStyle/>
            <a:p>
              <a:endParaRPr lang="vi-VN"/>
            </a:p>
          </p:txBody>
        </p:sp>
        <p:sp>
          <p:nvSpPr>
            <p:cNvPr id="30" name="TextBox 30"/>
            <p:cNvSpPr txBox="1"/>
            <p:nvPr/>
          </p:nvSpPr>
          <p:spPr>
            <a:xfrm>
              <a:off x="0" y="-19050"/>
              <a:ext cx="5486400" cy="749300"/>
            </a:xfrm>
            <a:prstGeom prst="rect">
              <a:avLst/>
            </a:prstGeom>
          </p:spPr>
          <p:txBody>
            <a:bodyPr lIns="0" tIns="0" rIns="0" bIns="0" rtlCol="0" anchor="ctr"/>
            <a:lstStyle/>
            <a:p>
              <a:pPr algn="ctr">
                <a:lnSpc>
                  <a:spcPts val="2160"/>
                </a:lnSpc>
              </a:pPr>
              <a:r>
                <a:rPr lang="en-US" sz="1800">
                  <a:solidFill>
                    <a:srgbClr val="FFFFFF"/>
                  </a:solidFill>
                  <a:latin typeface="Arial"/>
                  <a:ea typeface="Arial"/>
                  <a:cs typeface="Arial"/>
                  <a:sym typeface="Arial"/>
                </a:rPr>
                <a:t>19</a:t>
              </a: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91440" y="-2287991"/>
            <a:ext cx="18105120" cy="527771"/>
          </a:xfrm>
          <a:prstGeom prst="rect">
            <a:avLst/>
          </a:prstGeom>
        </p:spPr>
        <p:txBody>
          <a:bodyPr lIns="0" tIns="0" rIns="0" bIns="0" rtlCol="0" anchor="t">
            <a:spAutoFit/>
          </a:bodyPr>
          <a:lstStyle/>
          <a:p>
            <a:pPr algn="ctr">
              <a:lnSpc>
                <a:spcPts val="3600"/>
              </a:lnSpc>
            </a:pPr>
            <a:r>
              <a:rPr lang="en-US" sz="3000">
                <a:solidFill>
                  <a:srgbClr val="C3C3C3"/>
                </a:solidFill>
                <a:latin typeface="Arial"/>
                <a:ea typeface="Arial"/>
                <a:cs typeface="Arial"/>
                <a:sym typeface="Arial"/>
              </a:rPr>
              <a:t>www.9slide.vn</a:t>
            </a:r>
          </a:p>
        </p:txBody>
      </p:sp>
      <p:grpSp>
        <p:nvGrpSpPr>
          <p:cNvPr id="3" name="Group 3"/>
          <p:cNvGrpSpPr/>
          <p:nvPr/>
        </p:nvGrpSpPr>
        <p:grpSpPr>
          <a:xfrm>
            <a:off x="0" y="2124"/>
            <a:ext cx="18291715" cy="10295487"/>
            <a:chOff x="0" y="0"/>
            <a:chExt cx="24388953" cy="13727316"/>
          </a:xfrm>
        </p:grpSpPr>
        <p:sp>
          <p:nvSpPr>
            <p:cNvPr id="4" name="Freeform 4"/>
            <p:cNvSpPr/>
            <p:nvPr/>
          </p:nvSpPr>
          <p:spPr>
            <a:xfrm>
              <a:off x="0" y="0"/>
              <a:ext cx="24388953" cy="13727303"/>
            </a:xfrm>
            <a:custGeom>
              <a:avLst/>
              <a:gdLst/>
              <a:ahLst/>
              <a:cxnLst/>
              <a:rect l="l" t="t" r="r" b="b"/>
              <a:pathLst>
                <a:path w="24388953" h="1372730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txBody>
            <a:bodyPr/>
            <a:lstStyle/>
            <a:p>
              <a:endParaRPr lang="vi-VN"/>
            </a:p>
          </p:txBody>
        </p:sp>
      </p:grpSp>
      <p:grpSp>
        <p:nvGrpSpPr>
          <p:cNvPr id="5" name="Group 5"/>
          <p:cNvGrpSpPr/>
          <p:nvPr/>
        </p:nvGrpSpPr>
        <p:grpSpPr>
          <a:xfrm rot="5400000">
            <a:off x="8668474" y="-8670065"/>
            <a:ext cx="947328" cy="18291715"/>
            <a:chOff x="0" y="0"/>
            <a:chExt cx="1263104" cy="24388953"/>
          </a:xfrm>
        </p:grpSpPr>
        <p:sp>
          <p:nvSpPr>
            <p:cNvPr id="6" name="Freeform 6"/>
            <p:cNvSpPr/>
            <p:nvPr/>
          </p:nvSpPr>
          <p:spPr>
            <a:xfrm>
              <a:off x="0" y="0"/>
              <a:ext cx="1263142" cy="24388953"/>
            </a:xfrm>
            <a:custGeom>
              <a:avLst/>
              <a:gdLst/>
              <a:ahLst/>
              <a:cxnLst/>
              <a:rect l="l" t="t" r="r" b="b"/>
              <a:pathLst>
                <a:path w="1263142" h="24388953">
                  <a:moveTo>
                    <a:pt x="0" y="0"/>
                  </a:moveTo>
                  <a:lnTo>
                    <a:pt x="1263142" y="0"/>
                  </a:lnTo>
                  <a:lnTo>
                    <a:pt x="1263142" y="24388953"/>
                  </a:lnTo>
                  <a:lnTo>
                    <a:pt x="0" y="24388953"/>
                  </a:lnTo>
                  <a:close/>
                </a:path>
              </a:pathLst>
            </a:custGeom>
            <a:gradFill rotWithShape="1">
              <a:gsLst>
                <a:gs pos="0">
                  <a:srgbClr val="10CD57">
                    <a:alpha val="100000"/>
                  </a:srgbClr>
                </a:gs>
                <a:gs pos="100000">
                  <a:srgbClr val="027159">
                    <a:alpha val="100000"/>
                  </a:srgbClr>
                </a:gs>
              </a:gsLst>
              <a:lin ang="0"/>
            </a:gradFill>
          </p:spPr>
          <p:txBody>
            <a:bodyPr/>
            <a:lstStyle/>
            <a:p>
              <a:endParaRPr lang="vi-VN"/>
            </a:p>
          </p:txBody>
        </p:sp>
      </p:grpSp>
      <p:grpSp>
        <p:nvGrpSpPr>
          <p:cNvPr id="7" name="Group 7"/>
          <p:cNvGrpSpPr/>
          <p:nvPr/>
        </p:nvGrpSpPr>
        <p:grpSpPr>
          <a:xfrm rot="5400000">
            <a:off x="8670331" y="-8672198"/>
            <a:ext cx="947328" cy="18291715"/>
            <a:chOff x="0" y="0"/>
            <a:chExt cx="1263104" cy="24388953"/>
          </a:xfrm>
        </p:grpSpPr>
        <p:sp>
          <p:nvSpPr>
            <p:cNvPr id="8" name="Freeform 8"/>
            <p:cNvSpPr/>
            <p:nvPr/>
          </p:nvSpPr>
          <p:spPr>
            <a:xfrm flipV="1">
              <a:off x="0" y="0"/>
              <a:ext cx="1263142" cy="24388953"/>
            </a:xfrm>
            <a:custGeom>
              <a:avLst/>
              <a:gdLst/>
              <a:ahLst/>
              <a:cxnLst/>
              <a:rect l="l" t="t" r="r" b="b"/>
              <a:pathLst>
                <a:path w="1263142" h="24388953">
                  <a:moveTo>
                    <a:pt x="0" y="0"/>
                  </a:moveTo>
                  <a:lnTo>
                    <a:pt x="1263142" y="0"/>
                  </a:lnTo>
                  <a:lnTo>
                    <a:pt x="1263142" y="24388953"/>
                  </a:lnTo>
                  <a:lnTo>
                    <a:pt x="0" y="24388953"/>
                  </a:lnTo>
                  <a:close/>
                </a:path>
              </a:pathLst>
            </a:custGeom>
            <a:blipFill>
              <a:blip r:embed="rId2"/>
              <a:stretch>
                <a:fillRect l="-35093" r="-35090"/>
              </a:stretch>
            </a:blipFill>
          </p:spPr>
          <p:txBody>
            <a:bodyPr/>
            <a:lstStyle/>
            <a:p>
              <a:endParaRPr lang="vi-VN"/>
            </a:p>
          </p:txBody>
        </p:sp>
      </p:grpSp>
      <p:sp>
        <p:nvSpPr>
          <p:cNvPr id="9" name="TextBox 9"/>
          <p:cNvSpPr txBox="1"/>
          <p:nvPr/>
        </p:nvSpPr>
        <p:spPr>
          <a:xfrm>
            <a:off x="451866" y="248326"/>
            <a:ext cx="10947559" cy="424158"/>
          </a:xfrm>
          <a:prstGeom prst="rect">
            <a:avLst/>
          </a:prstGeom>
        </p:spPr>
        <p:txBody>
          <a:bodyPr lIns="0" tIns="0" rIns="0" bIns="0" rtlCol="0" anchor="t">
            <a:spAutoFit/>
          </a:bodyPr>
          <a:lstStyle/>
          <a:p>
            <a:pPr algn="l">
              <a:lnSpc>
                <a:spcPts val="2879"/>
              </a:lnSpc>
            </a:pPr>
            <a:r>
              <a:rPr lang="en-US" sz="2400" b="1">
                <a:solidFill>
                  <a:srgbClr val="FFFFFF"/>
                </a:solidFill>
                <a:latin typeface="Arial Bold"/>
                <a:ea typeface="Arial Bold"/>
                <a:cs typeface="Arial Bold"/>
                <a:sym typeface="Arial Bold"/>
              </a:rPr>
              <a:t>FACULTY OF COMPUTER ENGINEERING</a:t>
            </a:r>
          </a:p>
        </p:txBody>
      </p:sp>
      <p:grpSp>
        <p:nvGrpSpPr>
          <p:cNvPr id="10" name="Group 10"/>
          <p:cNvGrpSpPr/>
          <p:nvPr/>
        </p:nvGrpSpPr>
        <p:grpSpPr>
          <a:xfrm>
            <a:off x="6719973" y="457933"/>
            <a:ext cx="4848044" cy="957948"/>
            <a:chOff x="0" y="0"/>
            <a:chExt cx="6464059" cy="1277264"/>
          </a:xfrm>
        </p:grpSpPr>
        <p:sp>
          <p:nvSpPr>
            <p:cNvPr id="11" name="Freeform 11"/>
            <p:cNvSpPr/>
            <p:nvPr/>
          </p:nvSpPr>
          <p:spPr>
            <a:xfrm>
              <a:off x="0" y="0"/>
              <a:ext cx="6464173" cy="1277366"/>
            </a:xfrm>
            <a:custGeom>
              <a:avLst/>
              <a:gdLst/>
              <a:ahLst/>
              <a:cxnLst/>
              <a:rect l="l" t="t" r="r" b="b"/>
              <a:pathLst>
                <a:path w="6464173" h="1277366">
                  <a:moveTo>
                    <a:pt x="0" y="638683"/>
                  </a:moveTo>
                  <a:cubicBezTo>
                    <a:pt x="0" y="285877"/>
                    <a:pt x="285877" y="0"/>
                    <a:pt x="638683" y="0"/>
                  </a:cubicBezTo>
                  <a:lnTo>
                    <a:pt x="5825490" y="0"/>
                  </a:lnTo>
                  <a:cubicBezTo>
                    <a:pt x="6178169" y="0"/>
                    <a:pt x="6464173" y="285877"/>
                    <a:pt x="6464173" y="638683"/>
                  </a:cubicBezTo>
                  <a:cubicBezTo>
                    <a:pt x="6464173" y="991489"/>
                    <a:pt x="6178296" y="1277366"/>
                    <a:pt x="5825490" y="1277366"/>
                  </a:cubicBezTo>
                  <a:lnTo>
                    <a:pt x="638683" y="1277366"/>
                  </a:lnTo>
                  <a:cubicBezTo>
                    <a:pt x="285877" y="1277239"/>
                    <a:pt x="0" y="991362"/>
                    <a:pt x="0" y="638683"/>
                  </a:cubicBezTo>
                  <a:close/>
                </a:path>
              </a:pathLst>
            </a:custGeom>
            <a:gradFill rotWithShape="1">
              <a:gsLst>
                <a:gs pos="0">
                  <a:srgbClr val="38EF7D">
                    <a:alpha val="100000"/>
                  </a:srgbClr>
                </a:gs>
                <a:gs pos="100000">
                  <a:srgbClr val="752AFF">
                    <a:alpha val="100000"/>
                  </a:srgbClr>
                </a:gs>
              </a:gsLst>
              <a:lin ang="4729360"/>
            </a:gradFill>
          </p:spPr>
          <p:txBody>
            <a:bodyPr/>
            <a:lstStyle/>
            <a:p>
              <a:endParaRPr lang="vi-VN"/>
            </a:p>
          </p:txBody>
        </p:sp>
      </p:grpSp>
      <p:grpSp>
        <p:nvGrpSpPr>
          <p:cNvPr id="12" name="Group 12"/>
          <p:cNvGrpSpPr/>
          <p:nvPr/>
        </p:nvGrpSpPr>
        <p:grpSpPr>
          <a:xfrm>
            <a:off x="6807460" y="535962"/>
            <a:ext cx="4673079" cy="801872"/>
            <a:chOff x="0" y="0"/>
            <a:chExt cx="6230772" cy="1069162"/>
          </a:xfrm>
        </p:grpSpPr>
        <p:sp>
          <p:nvSpPr>
            <p:cNvPr id="13" name="Freeform 13"/>
            <p:cNvSpPr/>
            <p:nvPr/>
          </p:nvSpPr>
          <p:spPr>
            <a:xfrm>
              <a:off x="0" y="0"/>
              <a:ext cx="6230747" cy="1069086"/>
            </a:xfrm>
            <a:custGeom>
              <a:avLst/>
              <a:gdLst/>
              <a:ahLst/>
              <a:cxnLst/>
              <a:rect l="l" t="t" r="r" b="b"/>
              <a:pathLst>
                <a:path w="6230747" h="1069086">
                  <a:moveTo>
                    <a:pt x="0" y="534543"/>
                  </a:moveTo>
                  <a:cubicBezTo>
                    <a:pt x="0" y="239395"/>
                    <a:pt x="239395" y="0"/>
                    <a:pt x="534543" y="0"/>
                  </a:cubicBezTo>
                  <a:lnTo>
                    <a:pt x="5696204" y="0"/>
                  </a:lnTo>
                  <a:cubicBezTo>
                    <a:pt x="5991479" y="0"/>
                    <a:pt x="6230747" y="239395"/>
                    <a:pt x="6230747" y="534543"/>
                  </a:cubicBezTo>
                  <a:cubicBezTo>
                    <a:pt x="6230747" y="829691"/>
                    <a:pt x="5991352" y="1069086"/>
                    <a:pt x="5696204" y="1069086"/>
                  </a:cubicBezTo>
                  <a:lnTo>
                    <a:pt x="534543" y="1069086"/>
                  </a:lnTo>
                  <a:cubicBezTo>
                    <a:pt x="239395" y="1069213"/>
                    <a:pt x="0" y="829818"/>
                    <a:pt x="0" y="534543"/>
                  </a:cubicBezTo>
                  <a:close/>
                </a:path>
              </a:pathLst>
            </a:custGeom>
            <a:solidFill>
              <a:srgbClr val="FFFFFF"/>
            </a:solidFill>
          </p:spPr>
          <p:txBody>
            <a:bodyPr/>
            <a:lstStyle/>
            <a:p>
              <a:endParaRPr lang="vi-VN"/>
            </a:p>
          </p:txBody>
        </p:sp>
      </p:grpSp>
      <p:grpSp>
        <p:nvGrpSpPr>
          <p:cNvPr id="14" name="Group 14"/>
          <p:cNvGrpSpPr/>
          <p:nvPr/>
        </p:nvGrpSpPr>
        <p:grpSpPr>
          <a:xfrm>
            <a:off x="9436446" y="362541"/>
            <a:ext cx="1163307" cy="1152592"/>
            <a:chOff x="0" y="0"/>
            <a:chExt cx="1551076" cy="1536789"/>
          </a:xfrm>
        </p:grpSpPr>
        <p:sp>
          <p:nvSpPr>
            <p:cNvPr id="15" name="Freeform 15" descr="Icon  Description automatically generated with medium confidence"/>
            <p:cNvSpPr/>
            <p:nvPr/>
          </p:nvSpPr>
          <p:spPr>
            <a:xfrm>
              <a:off x="0" y="0"/>
              <a:ext cx="1551051" cy="1536827"/>
            </a:xfrm>
            <a:custGeom>
              <a:avLst/>
              <a:gdLst/>
              <a:ahLst/>
              <a:cxnLst/>
              <a:rect l="l" t="t" r="r" b="b"/>
              <a:pathLst>
                <a:path w="1551051" h="1536827">
                  <a:moveTo>
                    <a:pt x="0" y="0"/>
                  </a:moveTo>
                  <a:lnTo>
                    <a:pt x="1551051" y="0"/>
                  </a:lnTo>
                  <a:lnTo>
                    <a:pt x="1551051" y="1536827"/>
                  </a:lnTo>
                  <a:lnTo>
                    <a:pt x="0" y="1536827"/>
                  </a:lnTo>
                  <a:lnTo>
                    <a:pt x="0" y="0"/>
                  </a:lnTo>
                  <a:close/>
                </a:path>
              </a:pathLst>
            </a:custGeom>
            <a:blipFill>
              <a:blip r:embed="rId3"/>
              <a:stretch>
                <a:fillRect l="-75" r="-76" b="2"/>
              </a:stretch>
            </a:blipFill>
          </p:spPr>
          <p:txBody>
            <a:bodyPr/>
            <a:lstStyle/>
            <a:p>
              <a:endParaRPr lang="vi-VN"/>
            </a:p>
          </p:txBody>
        </p:sp>
      </p:grpSp>
      <p:grpSp>
        <p:nvGrpSpPr>
          <p:cNvPr id="16" name="Group 16"/>
          <p:cNvGrpSpPr/>
          <p:nvPr/>
        </p:nvGrpSpPr>
        <p:grpSpPr>
          <a:xfrm>
            <a:off x="7688247" y="398078"/>
            <a:ext cx="1307516" cy="1081516"/>
            <a:chOff x="0" y="0"/>
            <a:chExt cx="1743354" cy="1442022"/>
          </a:xfrm>
        </p:grpSpPr>
        <p:sp>
          <p:nvSpPr>
            <p:cNvPr id="17" name="Freeform 17" descr="A picture containing clipart, vector graphics  Description automatically generated"/>
            <p:cNvSpPr/>
            <p:nvPr/>
          </p:nvSpPr>
          <p:spPr>
            <a:xfrm>
              <a:off x="0" y="0"/>
              <a:ext cx="1743329" cy="1442085"/>
            </a:xfrm>
            <a:custGeom>
              <a:avLst/>
              <a:gdLst/>
              <a:ahLst/>
              <a:cxnLst/>
              <a:rect l="l" t="t" r="r" b="b"/>
              <a:pathLst>
                <a:path w="1743329" h="1442085">
                  <a:moveTo>
                    <a:pt x="0" y="0"/>
                  </a:moveTo>
                  <a:lnTo>
                    <a:pt x="1743329" y="0"/>
                  </a:lnTo>
                  <a:lnTo>
                    <a:pt x="1743329" y="1442085"/>
                  </a:lnTo>
                  <a:lnTo>
                    <a:pt x="0" y="1442085"/>
                  </a:lnTo>
                  <a:lnTo>
                    <a:pt x="0" y="0"/>
                  </a:lnTo>
                  <a:close/>
                </a:path>
              </a:pathLst>
            </a:custGeom>
            <a:blipFill>
              <a:blip r:embed="rId4"/>
              <a:stretch>
                <a:fillRect t="-74" r="-1" b="-71"/>
              </a:stretch>
            </a:blipFill>
          </p:spPr>
          <p:txBody>
            <a:bodyPr/>
            <a:lstStyle/>
            <a:p>
              <a:endParaRPr lang="vi-VN"/>
            </a:p>
          </p:txBody>
        </p:sp>
      </p:grpSp>
      <p:sp>
        <p:nvSpPr>
          <p:cNvPr id="18" name="Freeform 18"/>
          <p:cNvSpPr/>
          <p:nvPr/>
        </p:nvSpPr>
        <p:spPr>
          <a:xfrm>
            <a:off x="17262338" y="9405385"/>
            <a:ext cx="819198" cy="819198"/>
          </a:xfrm>
          <a:custGeom>
            <a:avLst/>
            <a:gdLst/>
            <a:ahLst/>
            <a:cxnLst/>
            <a:rect l="l" t="t" r="r" b="b"/>
            <a:pathLst>
              <a:path w="819198" h="819198">
                <a:moveTo>
                  <a:pt x="0" y="0"/>
                </a:moveTo>
                <a:lnTo>
                  <a:pt x="819198" y="0"/>
                </a:lnTo>
                <a:lnTo>
                  <a:pt x="819198" y="819198"/>
                </a:lnTo>
                <a:lnTo>
                  <a:pt x="0" y="81919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vi-VN"/>
          </a:p>
        </p:txBody>
      </p:sp>
      <p:grpSp>
        <p:nvGrpSpPr>
          <p:cNvPr id="19" name="Group 19"/>
          <p:cNvGrpSpPr/>
          <p:nvPr/>
        </p:nvGrpSpPr>
        <p:grpSpPr>
          <a:xfrm>
            <a:off x="0" y="2124"/>
            <a:ext cx="18291715" cy="10295487"/>
            <a:chOff x="0" y="0"/>
            <a:chExt cx="24388953" cy="13727316"/>
          </a:xfrm>
        </p:grpSpPr>
        <p:sp>
          <p:nvSpPr>
            <p:cNvPr id="20" name="Freeform 20"/>
            <p:cNvSpPr/>
            <p:nvPr/>
          </p:nvSpPr>
          <p:spPr>
            <a:xfrm>
              <a:off x="0" y="0"/>
              <a:ext cx="24388953" cy="13727303"/>
            </a:xfrm>
            <a:custGeom>
              <a:avLst/>
              <a:gdLst/>
              <a:ahLst/>
              <a:cxnLst/>
              <a:rect l="l" t="t" r="r" b="b"/>
              <a:pathLst>
                <a:path w="24388953" h="1372730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txBody>
            <a:bodyPr/>
            <a:lstStyle/>
            <a:p>
              <a:endParaRPr lang="vi-VN"/>
            </a:p>
          </p:txBody>
        </p:sp>
      </p:grpSp>
      <p:grpSp>
        <p:nvGrpSpPr>
          <p:cNvPr id="21" name="Group 21"/>
          <p:cNvGrpSpPr/>
          <p:nvPr/>
        </p:nvGrpSpPr>
        <p:grpSpPr>
          <a:xfrm>
            <a:off x="908999" y="1555147"/>
            <a:ext cx="16470001" cy="1335996"/>
            <a:chOff x="0" y="0"/>
            <a:chExt cx="21960002" cy="1781327"/>
          </a:xfrm>
        </p:grpSpPr>
        <p:sp>
          <p:nvSpPr>
            <p:cNvPr id="22" name="Freeform 22"/>
            <p:cNvSpPr/>
            <p:nvPr/>
          </p:nvSpPr>
          <p:spPr>
            <a:xfrm>
              <a:off x="0" y="0"/>
              <a:ext cx="21960001" cy="1781326"/>
            </a:xfrm>
            <a:custGeom>
              <a:avLst/>
              <a:gdLst/>
              <a:ahLst/>
              <a:cxnLst/>
              <a:rect l="l" t="t" r="r" b="b"/>
              <a:pathLst>
                <a:path w="21960001" h="1781326">
                  <a:moveTo>
                    <a:pt x="0" y="0"/>
                  </a:moveTo>
                  <a:lnTo>
                    <a:pt x="21960001" y="0"/>
                  </a:lnTo>
                  <a:lnTo>
                    <a:pt x="21960001" y="1781326"/>
                  </a:lnTo>
                  <a:lnTo>
                    <a:pt x="0" y="1781326"/>
                  </a:lnTo>
                  <a:close/>
                </a:path>
              </a:pathLst>
            </a:custGeom>
            <a:blipFill>
              <a:blip r:embed="rId6">
                <a:alphaModFix amt="0"/>
              </a:blip>
              <a:stretch>
                <a:fillRect t="-190209" b="-190209"/>
              </a:stretch>
            </a:blipFill>
          </p:spPr>
          <p:txBody>
            <a:bodyPr/>
            <a:lstStyle/>
            <a:p>
              <a:endParaRPr lang="vi-VN"/>
            </a:p>
          </p:txBody>
        </p:sp>
        <p:sp>
          <p:nvSpPr>
            <p:cNvPr id="23" name="TextBox 23"/>
            <p:cNvSpPr txBox="1"/>
            <p:nvPr/>
          </p:nvSpPr>
          <p:spPr>
            <a:xfrm>
              <a:off x="0" y="38100"/>
              <a:ext cx="21960002" cy="1743227"/>
            </a:xfrm>
            <a:prstGeom prst="rect">
              <a:avLst/>
            </a:prstGeom>
          </p:spPr>
          <p:txBody>
            <a:bodyPr lIns="0" tIns="0" rIns="0" bIns="0" rtlCol="0" anchor="ctr"/>
            <a:lstStyle/>
            <a:p>
              <a:pPr algn="l">
                <a:lnSpc>
                  <a:spcPts val="7128"/>
                </a:lnSpc>
              </a:pPr>
              <a:r>
                <a:rPr lang="en-US" sz="6600" b="1">
                  <a:gradFill>
                    <a:gsLst>
                      <a:gs pos="0">
                        <a:srgbClr val="027159">
                          <a:alpha val="100000"/>
                        </a:srgbClr>
                      </a:gs>
                      <a:gs pos="100000">
                        <a:srgbClr val="10CD57">
                          <a:alpha val="100000"/>
                        </a:srgbClr>
                      </a:gs>
                    </a:gsLst>
                    <a:lin ang="16200000"/>
                  </a:gradFill>
                  <a:latin typeface="Times New Roman Bold"/>
                  <a:ea typeface="Times New Roman Bold"/>
                  <a:cs typeface="Times New Roman Bold"/>
                  <a:sym typeface="Times New Roman Bold"/>
                </a:rPr>
                <a:t>Tài liệu tham khảo</a:t>
              </a:r>
            </a:p>
          </p:txBody>
        </p:sp>
      </p:grpSp>
      <p:sp>
        <p:nvSpPr>
          <p:cNvPr id="24" name="TextBox 24"/>
          <p:cNvSpPr txBox="1"/>
          <p:nvPr/>
        </p:nvSpPr>
        <p:spPr>
          <a:xfrm>
            <a:off x="1000439" y="3047562"/>
            <a:ext cx="16287121" cy="6172162"/>
          </a:xfrm>
          <a:prstGeom prst="rect">
            <a:avLst/>
          </a:prstGeom>
        </p:spPr>
        <p:txBody>
          <a:bodyPr lIns="0" tIns="0" rIns="0" bIns="0" rtlCol="0" anchor="t">
            <a:spAutoFit/>
          </a:bodyPr>
          <a:lstStyle/>
          <a:p>
            <a:pPr marL="475059" lvl="1" indent="-237530" algn="l">
              <a:lnSpc>
                <a:spcPts val="3276"/>
              </a:lnSpc>
              <a:buAutoNum type="arabicPeriod"/>
            </a:pPr>
            <a:r>
              <a:rPr lang="en-US" sz="2625">
                <a:solidFill>
                  <a:srgbClr val="000000"/>
                </a:solidFill>
                <a:latin typeface="Arial"/>
                <a:ea typeface="Arial"/>
                <a:cs typeface="Arial"/>
                <a:sym typeface="Arial"/>
              </a:rPr>
              <a:t>https://developer.arm.com/documentation/ka005091/latest/ </a:t>
            </a:r>
          </a:p>
          <a:p>
            <a:pPr marL="475059" lvl="1" indent="-237530" algn="l">
              <a:lnSpc>
                <a:spcPts val="3276"/>
              </a:lnSpc>
              <a:buAutoNum type="arabicPeriod"/>
            </a:pPr>
            <a:r>
              <a:rPr lang="en-US" sz="2625">
                <a:solidFill>
                  <a:srgbClr val="000000"/>
                </a:solidFill>
                <a:latin typeface="Arial"/>
                <a:ea typeface="Arial"/>
                <a:cs typeface="Arial"/>
                <a:sym typeface="Arial"/>
              </a:rPr>
              <a:t>https://www.cp.eng.chula.ac.th/~prabhas/teaching/ads/ads1999/adv-pipe.htm</a:t>
            </a:r>
          </a:p>
          <a:p>
            <a:pPr marL="475059" lvl="1" indent="-237530" algn="l">
              <a:lnSpc>
                <a:spcPts val="3276"/>
              </a:lnSpc>
              <a:buAutoNum type="arabicPeriod"/>
            </a:pPr>
            <a:r>
              <a:rPr lang="en-US" sz="2625">
                <a:solidFill>
                  <a:srgbClr val="000000"/>
                </a:solidFill>
                <a:latin typeface="Arial"/>
                <a:ea typeface="Arial"/>
                <a:cs typeface="Arial"/>
                <a:sym typeface="Arial"/>
              </a:rPr>
              <a:t>Vinayak Patil, Aneesh Raveendran, Sobha P M, A David Selvakumar, Vivian D, “Out Of Order Floating Point Coprocessor For RISC V ISA”, IEEE Explore, June 2015.</a:t>
            </a:r>
          </a:p>
          <a:p>
            <a:pPr marL="475059" lvl="1" indent="-237530" algn="l">
              <a:lnSpc>
                <a:spcPts val="3276"/>
              </a:lnSpc>
              <a:buAutoNum type="arabicPeriod"/>
            </a:pPr>
            <a:r>
              <a:rPr lang="en-US" sz="2625">
                <a:solidFill>
                  <a:srgbClr val="000000"/>
                </a:solidFill>
                <a:latin typeface="Arial"/>
                <a:ea typeface="Arial"/>
                <a:cs typeface="Arial"/>
                <a:sym typeface="Arial"/>
              </a:rPr>
              <a:t>“Out Of Order Floating Point Coprocessor For RISC V ISA”, Vinayak Patil, Aneesh Raveendran, Sobha P M, A David Selvakumar, Vivian D Centre for Development of Advanced Computing, Bangalore, INDIA.</a:t>
            </a:r>
          </a:p>
          <a:p>
            <a:pPr marL="475059" lvl="1" indent="-237530" algn="l">
              <a:lnSpc>
                <a:spcPts val="3276"/>
              </a:lnSpc>
              <a:buAutoNum type="arabicPeriod"/>
            </a:pPr>
            <a:r>
              <a:rPr lang="en-US" sz="2625">
                <a:solidFill>
                  <a:srgbClr val="000000"/>
                </a:solidFill>
                <a:latin typeface="Arial"/>
                <a:ea typeface="Arial"/>
                <a:cs typeface="Arial"/>
                <a:sym typeface="Arial"/>
              </a:rPr>
              <a:t>“FAUST: Design and implementation of a pipelined RISC-V vector floating-point unit”, Mate Kovač, Leon Dragić, Branimir Malnar, Francesco Minervini, Oscar Palomar, Carlos Rojas, Mauro Olivieri, Josip Knezović, Mario Kovač.</a:t>
            </a:r>
          </a:p>
          <a:p>
            <a:pPr marL="475059" lvl="1" indent="-237530" algn="l">
              <a:lnSpc>
                <a:spcPts val="3276"/>
              </a:lnSpc>
              <a:buAutoNum type="arabicPeriod"/>
            </a:pPr>
            <a:r>
              <a:rPr lang="en-US" sz="2625">
                <a:solidFill>
                  <a:srgbClr val="000000"/>
                </a:solidFill>
                <a:latin typeface="Arial"/>
                <a:ea typeface="Arial"/>
                <a:cs typeface="Arial"/>
                <a:sym typeface="Arial"/>
              </a:rPr>
              <a:t>“RisCO2: Implementation and Performance Evaluation of RISC-V Processors for Low-Power CO2 Concentration Sensing”, Ricardo Núñez-Prieto, David Castells-Rufas, Lluís Terés-Terés.</a:t>
            </a:r>
          </a:p>
          <a:p>
            <a:pPr marL="475059" lvl="1" indent="-237530" algn="l">
              <a:lnSpc>
                <a:spcPts val="3276"/>
              </a:lnSpc>
            </a:pPr>
            <a:endParaRPr lang="en-US" sz="2625">
              <a:solidFill>
                <a:srgbClr val="000000"/>
              </a:solidFill>
              <a:latin typeface="Arial"/>
              <a:ea typeface="Arial"/>
              <a:cs typeface="Arial"/>
              <a:sym typeface="Arial"/>
            </a:endParaRPr>
          </a:p>
        </p:txBody>
      </p:sp>
      <p:grpSp>
        <p:nvGrpSpPr>
          <p:cNvPr id="25" name="Group 25"/>
          <p:cNvGrpSpPr/>
          <p:nvPr/>
        </p:nvGrpSpPr>
        <p:grpSpPr>
          <a:xfrm>
            <a:off x="6350346" y="9534525"/>
            <a:ext cx="6172200" cy="547688"/>
            <a:chOff x="0" y="0"/>
            <a:chExt cx="8229600" cy="730250"/>
          </a:xfrm>
        </p:grpSpPr>
        <p:sp>
          <p:nvSpPr>
            <p:cNvPr id="26" name="Freeform 26"/>
            <p:cNvSpPr/>
            <p:nvPr/>
          </p:nvSpPr>
          <p:spPr>
            <a:xfrm>
              <a:off x="0" y="0"/>
              <a:ext cx="8229600" cy="730250"/>
            </a:xfrm>
            <a:custGeom>
              <a:avLst/>
              <a:gdLst/>
              <a:ahLst/>
              <a:cxnLst/>
              <a:rect l="l" t="t" r="r" b="b"/>
              <a:pathLst>
                <a:path w="8229600" h="730250">
                  <a:moveTo>
                    <a:pt x="0" y="0"/>
                  </a:moveTo>
                  <a:lnTo>
                    <a:pt x="8229600" y="0"/>
                  </a:lnTo>
                  <a:lnTo>
                    <a:pt x="8229600" y="730250"/>
                  </a:lnTo>
                  <a:lnTo>
                    <a:pt x="0" y="730250"/>
                  </a:lnTo>
                  <a:close/>
                </a:path>
              </a:pathLst>
            </a:custGeom>
            <a:blipFill>
              <a:blip r:embed="rId6">
                <a:alphaModFix amt="0"/>
              </a:blip>
              <a:stretch>
                <a:fillRect t="-169587" b="-169587"/>
              </a:stretch>
            </a:blipFill>
          </p:spPr>
          <p:txBody>
            <a:bodyPr/>
            <a:lstStyle/>
            <a:p>
              <a:endParaRPr lang="vi-VN"/>
            </a:p>
          </p:txBody>
        </p:sp>
        <p:sp>
          <p:nvSpPr>
            <p:cNvPr id="27" name="TextBox 27"/>
            <p:cNvSpPr txBox="1"/>
            <p:nvPr/>
          </p:nvSpPr>
          <p:spPr>
            <a:xfrm>
              <a:off x="0" y="-19050"/>
              <a:ext cx="8229600" cy="749300"/>
            </a:xfrm>
            <a:prstGeom prst="rect">
              <a:avLst/>
            </a:prstGeom>
          </p:spPr>
          <p:txBody>
            <a:bodyPr lIns="0" tIns="0" rIns="0" bIns="0" rtlCol="0" anchor="ctr"/>
            <a:lstStyle/>
            <a:p>
              <a:pPr algn="ctr">
                <a:lnSpc>
                  <a:spcPts val="2160"/>
                </a:lnSpc>
              </a:pPr>
              <a:r>
                <a:rPr lang="en-US" sz="1800">
                  <a:solidFill>
                    <a:srgbClr val="898989"/>
                  </a:solidFill>
                  <a:latin typeface="Arial"/>
                  <a:ea typeface="Arial"/>
                  <a:cs typeface="Arial"/>
                  <a:sym typeface="Arial"/>
                </a:rPr>
                <a:t>Copyrights 2024 CE-UIT. All Rights Reserved.</a:t>
              </a:r>
            </a:p>
          </p:txBody>
        </p:sp>
      </p:grpSp>
      <p:grpSp>
        <p:nvGrpSpPr>
          <p:cNvPr id="28" name="Group 28"/>
          <p:cNvGrpSpPr/>
          <p:nvPr/>
        </p:nvGrpSpPr>
        <p:grpSpPr>
          <a:xfrm>
            <a:off x="15634421" y="9534525"/>
            <a:ext cx="4114800" cy="547688"/>
            <a:chOff x="0" y="0"/>
            <a:chExt cx="5486400" cy="730250"/>
          </a:xfrm>
        </p:grpSpPr>
        <p:sp>
          <p:nvSpPr>
            <p:cNvPr id="29" name="Freeform 29"/>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blipFill>
              <a:blip r:embed="rId6">
                <a:alphaModFix amt="0"/>
              </a:blip>
              <a:stretch>
                <a:fillRect t="-96391" b="-96391"/>
              </a:stretch>
            </a:blipFill>
          </p:spPr>
          <p:txBody>
            <a:bodyPr/>
            <a:lstStyle/>
            <a:p>
              <a:endParaRPr lang="vi-VN"/>
            </a:p>
          </p:txBody>
        </p:sp>
        <p:sp>
          <p:nvSpPr>
            <p:cNvPr id="30" name="TextBox 30"/>
            <p:cNvSpPr txBox="1"/>
            <p:nvPr/>
          </p:nvSpPr>
          <p:spPr>
            <a:xfrm>
              <a:off x="0" y="-19050"/>
              <a:ext cx="5486400" cy="749300"/>
            </a:xfrm>
            <a:prstGeom prst="rect">
              <a:avLst/>
            </a:prstGeom>
          </p:spPr>
          <p:txBody>
            <a:bodyPr lIns="0" tIns="0" rIns="0" bIns="0" rtlCol="0" anchor="ctr"/>
            <a:lstStyle/>
            <a:p>
              <a:pPr algn="ctr">
                <a:lnSpc>
                  <a:spcPts val="2160"/>
                </a:lnSpc>
              </a:pPr>
              <a:r>
                <a:rPr lang="en-US" sz="1800">
                  <a:solidFill>
                    <a:srgbClr val="FFFFFF"/>
                  </a:solidFill>
                  <a:latin typeface="Arial"/>
                  <a:ea typeface="Arial"/>
                  <a:cs typeface="Arial"/>
                  <a:sym typeface="Arial"/>
                </a:rPr>
                <a:t>20</a:t>
              </a: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91440" y="-2287991"/>
            <a:ext cx="18105120" cy="527771"/>
          </a:xfrm>
          <a:prstGeom prst="rect">
            <a:avLst/>
          </a:prstGeom>
        </p:spPr>
        <p:txBody>
          <a:bodyPr lIns="0" tIns="0" rIns="0" bIns="0" rtlCol="0" anchor="t">
            <a:spAutoFit/>
          </a:bodyPr>
          <a:lstStyle/>
          <a:p>
            <a:pPr algn="ctr">
              <a:lnSpc>
                <a:spcPts val="3600"/>
              </a:lnSpc>
            </a:pPr>
            <a:r>
              <a:rPr lang="en-US" sz="3000">
                <a:solidFill>
                  <a:srgbClr val="C3C3C3"/>
                </a:solidFill>
                <a:latin typeface="Arial"/>
                <a:ea typeface="Arial"/>
                <a:cs typeface="Arial"/>
                <a:sym typeface="Arial"/>
              </a:rPr>
              <a:t>www.9slide.vn</a:t>
            </a:r>
          </a:p>
        </p:txBody>
      </p:sp>
      <p:grpSp>
        <p:nvGrpSpPr>
          <p:cNvPr id="3" name="Group 3"/>
          <p:cNvGrpSpPr/>
          <p:nvPr/>
        </p:nvGrpSpPr>
        <p:grpSpPr>
          <a:xfrm>
            <a:off x="0" y="2124"/>
            <a:ext cx="18291715" cy="10295487"/>
            <a:chOff x="0" y="0"/>
            <a:chExt cx="24388953" cy="13727316"/>
          </a:xfrm>
        </p:grpSpPr>
        <p:sp>
          <p:nvSpPr>
            <p:cNvPr id="4" name="Freeform 4"/>
            <p:cNvSpPr/>
            <p:nvPr/>
          </p:nvSpPr>
          <p:spPr>
            <a:xfrm>
              <a:off x="0" y="0"/>
              <a:ext cx="24388953" cy="13727303"/>
            </a:xfrm>
            <a:custGeom>
              <a:avLst/>
              <a:gdLst/>
              <a:ahLst/>
              <a:cxnLst/>
              <a:rect l="l" t="t" r="r" b="b"/>
              <a:pathLst>
                <a:path w="24388953" h="1372730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txBody>
            <a:bodyPr/>
            <a:lstStyle/>
            <a:p>
              <a:endParaRPr lang="vi-VN"/>
            </a:p>
          </p:txBody>
        </p:sp>
      </p:grpSp>
      <p:grpSp>
        <p:nvGrpSpPr>
          <p:cNvPr id="5" name="Group 5"/>
          <p:cNvGrpSpPr/>
          <p:nvPr/>
        </p:nvGrpSpPr>
        <p:grpSpPr>
          <a:xfrm>
            <a:off x="-36214" y="0"/>
            <a:ext cx="6084589" cy="10287000"/>
            <a:chOff x="0" y="0"/>
            <a:chExt cx="8112785" cy="13716000"/>
          </a:xfrm>
        </p:grpSpPr>
        <p:sp>
          <p:nvSpPr>
            <p:cNvPr id="6" name="Freeform 6"/>
            <p:cNvSpPr/>
            <p:nvPr/>
          </p:nvSpPr>
          <p:spPr>
            <a:xfrm>
              <a:off x="0" y="0"/>
              <a:ext cx="8112760" cy="13716000"/>
            </a:xfrm>
            <a:custGeom>
              <a:avLst/>
              <a:gdLst/>
              <a:ahLst/>
              <a:cxnLst/>
              <a:rect l="l" t="t" r="r" b="b"/>
              <a:pathLst>
                <a:path w="8112760" h="13716000">
                  <a:moveTo>
                    <a:pt x="0" y="0"/>
                  </a:moveTo>
                  <a:lnTo>
                    <a:pt x="8112760" y="0"/>
                  </a:lnTo>
                  <a:lnTo>
                    <a:pt x="8112760" y="13716000"/>
                  </a:lnTo>
                  <a:lnTo>
                    <a:pt x="0" y="13716000"/>
                  </a:lnTo>
                  <a:close/>
                </a:path>
              </a:pathLst>
            </a:custGeom>
            <a:gradFill rotWithShape="1">
              <a:gsLst>
                <a:gs pos="0">
                  <a:srgbClr val="38EF7D">
                    <a:alpha val="100000"/>
                  </a:srgbClr>
                </a:gs>
                <a:gs pos="100000">
                  <a:srgbClr val="11998E">
                    <a:alpha val="100000"/>
                  </a:srgbClr>
                </a:gs>
              </a:gsLst>
              <a:lin ang="5400000"/>
            </a:gradFill>
          </p:spPr>
          <p:txBody>
            <a:bodyPr/>
            <a:lstStyle/>
            <a:p>
              <a:endParaRPr lang="vi-VN"/>
            </a:p>
          </p:txBody>
        </p:sp>
      </p:grpSp>
      <p:grpSp>
        <p:nvGrpSpPr>
          <p:cNvPr id="7" name="Group 7"/>
          <p:cNvGrpSpPr/>
          <p:nvPr/>
        </p:nvGrpSpPr>
        <p:grpSpPr>
          <a:xfrm>
            <a:off x="-46873" y="0"/>
            <a:ext cx="2707176" cy="10287000"/>
            <a:chOff x="0" y="0"/>
            <a:chExt cx="3609569" cy="13716000"/>
          </a:xfrm>
        </p:grpSpPr>
        <p:sp>
          <p:nvSpPr>
            <p:cNvPr id="8" name="Freeform 8"/>
            <p:cNvSpPr/>
            <p:nvPr/>
          </p:nvSpPr>
          <p:spPr>
            <a:xfrm flipV="1">
              <a:off x="0" y="0"/>
              <a:ext cx="3609594" cy="13716000"/>
            </a:xfrm>
            <a:custGeom>
              <a:avLst/>
              <a:gdLst/>
              <a:ahLst/>
              <a:cxnLst/>
              <a:rect l="l" t="t" r="r" b="b"/>
              <a:pathLst>
                <a:path w="3609594" h="13716000">
                  <a:moveTo>
                    <a:pt x="0" y="0"/>
                  </a:moveTo>
                  <a:lnTo>
                    <a:pt x="3609594" y="0"/>
                  </a:lnTo>
                  <a:lnTo>
                    <a:pt x="3609594" y="13716000"/>
                  </a:lnTo>
                  <a:lnTo>
                    <a:pt x="0" y="13716000"/>
                  </a:lnTo>
                  <a:close/>
                </a:path>
              </a:pathLst>
            </a:custGeom>
            <a:blipFill>
              <a:blip r:embed="rId2"/>
              <a:stretch>
                <a:fillRect l="-2907" r="-2906"/>
              </a:stretch>
            </a:blipFill>
          </p:spPr>
          <p:txBody>
            <a:bodyPr/>
            <a:lstStyle/>
            <a:p>
              <a:endParaRPr lang="vi-VN"/>
            </a:p>
          </p:txBody>
        </p:sp>
      </p:grpSp>
      <p:sp>
        <p:nvSpPr>
          <p:cNvPr id="9" name="TextBox 9"/>
          <p:cNvSpPr txBox="1"/>
          <p:nvPr/>
        </p:nvSpPr>
        <p:spPr>
          <a:xfrm rot="-5400000">
            <a:off x="-2614688" y="6739452"/>
            <a:ext cx="6076721" cy="425920"/>
          </a:xfrm>
          <a:prstGeom prst="rect">
            <a:avLst/>
          </a:prstGeom>
        </p:spPr>
        <p:txBody>
          <a:bodyPr lIns="0" tIns="0" rIns="0" bIns="0" rtlCol="0" anchor="t">
            <a:spAutoFit/>
          </a:bodyPr>
          <a:lstStyle/>
          <a:p>
            <a:pPr algn="l">
              <a:lnSpc>
                <a:spcPts val="2879"/>
              </a:lnSpc>
            </a:pPr>
            <a:r>
              <a:rPr lang="en-US" sz="2400" b="1">
                <a:solidFill>
                  <a:srgbClr val="FFFFFF"/>
                </a:solidFill>
                <a:latin typeface="Arial Bold"/>
                <a:ea typeface="Arial Bold"/>
                <a:cs typeface="Arial Bold"/>
                <a:sym typeface="Arial Bold"/>
              </a:rPr>
              <a:t>FACULTY OF COMPUTER ENGINEERING</a:t>
            </a:r>
          </a:p>
        </p:txBody>
      </p:sp>
      <p:grpSp>
        <p:nvGrpSpPr>
          <p:cNvPr id="10" name="Group 10"/>
          <p:cNvGrpSpPr/>
          <p:nvPr/>
        </p:nvGrpSpPr>
        <p:grpSpPr>
          <a:xfrm>
            <a:off x="6719973" y="293294"/>
            <a:ext cx="4848044" cy="957948"/>
            <a:chOff x="0" y="0"/>
            <a:chExt cx="6464059" cy="1277264"/>
          </a:xfrm>
        </p:grpSpPr>
        <p:sp>
          <p:nvSpPr>
            <p:cNvPr id="11" name="Freeform 11"/>
            <p:cNvSpPr/>
            <p:nvPr/>
          </p:nvSpPr>
          <p:spPr>
            <a:xfrm>
              <a:off x="0" y="0"/>
              <a:ext cx="6464173" cy="1277366"/>
            </a:xfrm>
            <a:custGeom>
              <a:avLst/>
              <a:gdLst/>
              <a:ahLst/>
              <a:cxnLst/>
              <a:rect l="l" t="t" r="r" b="b"/>
              <a:pathLst>
                <a:path w="6464173" h="1277366">
                  <a:moveTo>
                    <a:pt x="0" y="638683"/>
                  </a:moveTo>
                  <a:cubicBezTo>
                    <a:pt x="0" y="285877"/>
                    <a:pt x="285877" y="0"/>
                    <a:pt x="638683" y="0"/>
                  </a:cubicBezTo>
                  <a:lnTo>
                    <a:pt x="5825490" y="0"/>
                  </a:lnTo>
                  <a:cubicBezTo>
                    <a:pt x="6178169" y="0"/>
                    <a:pt x="6464173" y="285877"/>
                    <a:pt x="6464173" y="638683"/>
                  </a:cubicBezTo>
                  <a:cubicBezTo>
                    <a:pt x="6464173" y="991489"/>
                    <a:pt x="6178296" y="1277366"/>
                    <a:pt x="5825490" y="1277366"/>
                  </a:cubicBezTo>
                  <a:lnTo>
                    <a:pt x="638683" y="1277366"/>
                  </a:lnTo>
                  <a:cubicBezTo>
                    <a:pt x="285877" y="1277239"/>
                    <a:pt x="0" y="991362"/>
                    <a:pt x="0" y="638683"/>
                  </a:cubicBezTo>
                  <a:close/>
                </a:path>
              </a:pathLst>
            </a:custGeom>
            <a:gradFill rotWithShape="1">
              <a:gsLst>
                <a:gs pos="0">
                  <a:srgbClr val="38EF7D">
                    <a:alpha val="100000"/>
                  </a:srgbClr>
                </a:gs>
                <a:gs pos="100000">
                  <a:srgbClr val="752AFF">
                    <a:alpha val="100000"/>
                  </a:srgbClr>
                </a:gs>
              </a:gsLst>
              <a:lin ang="4729360"/>
            </a:gradFill>
          </p:spPr>
          <p:txBody>
            <a:bodyPr/>
            <a:lstStyle/>
            <a:p>
              <a:endParaRPr lang="vi-VN"/>
            </a:p>
          </p:txBody>
        </p:sp>
      </p:grpSp>
      <p:grpSp>
        <p:nvGrpSpPr>
          <p:cNvPr id="12" name="Group 12"/>
          <p:cNvGrpSpPr/>
          <p:nvPr/>
        </p:nvGrpSpPr>
        <p:grpSpPr>
          <a:xfrm>
            <a:off x="6807460" y="371332"/>
            <a:ext cx="4673079" cy="801872"/>
            <a:chOff x="0" y="0"/>
            <a:chExt cx="6230772" cy="1069162"/>
          </a:xfrm>
        </p:grpSpPr>
        <p:sp>
          <p:nvSpPr>
            <p:cNvPr id="13" name="Freeform 13"/>
            <p:cNvSpPr/>
            <p:nvPr/>
          </p:nvSpPr>
          <p:spPr>
            <a:xfrm>
              <a:off x="0" y="0"/>
              <a:ext cx="6230747" cy="1069086"/>
            </a:xfrm>
            <a:custGeom>
              <a:avLst/>
              <a:gdLst/>
              <a:ahLst/>
              <a:cxnLst/>
              <a:rect l="l" t="t" r="r" b="b"/>
              <a:pathLst>
                <a:path w="6230747" h="1069086">
                  <a:moveTo>
                    <a:pt x="0" y="534543"/>
                  </a:moveTo>
                  <a:cubicBezTo>
                    <a:pt x="0" y="239395"/>
                    <a:pt x="239395" y="0"/>
                    <a:pt x="534543" y="0"/>
                  </a:cubicBezTo>
                  <a:lnTo>
                    <a:pt x="5696204" y="0"/>
                  </a:lnTo>
                  <a:cubicBezTo>
                    <a:pt x="5991479" y="0"/>
                    <a:pt x="6230747" y="239395"/>
                    <a:pt x="6230747" y="534543"/>
                  </a:cubicBezTo>
                  <a:cubicBezTo>
                    <a:pt x="6230747" y="829691"/>
                    <a:pt x="5991352" y="1069086"/>
                    <a:pt x="5696204" y="1069086"/>
                  </a:cubicBezTo>
                  <a:lnTo>
                    <a:pt x="534543" y="1069086"/>
                  </a:lnTo>
                  <a:cubicBezTo>
                    <a:pt x="239395" y="1069213"/>
                    <a:pt x="0" y="829818"/>
                    <a:pt x="0" y="534543"/>
                  </a:cubicBezTo>
                  <a:close/>
                </a:path>
              </a:pathLst>
            </a:custGeom>
            <a:solidFill>
              <a:srgbClr val="FFFFFF"/>
            </a:solidFill>
          </p:spPr>
          <p:txBody>
            <a:bodyPr/>
            <a:lstStyle/>
            <a:p>
              <a:endParaRPr lang="vi-VN"/>
            </a:p>
          </p:txBody>
        </p:sp>
      </p:grpSp>
      <p:grpSp>
        <p:nvGrpSpPr>
          <p:cNvPr id="14" name="Group 14"/>
          <p:cNvGrpSpPr/>
          <p:nvPr/>
        </p:nvGrpSpPr>
        <p:grpSpPr>
          <a:xfrm>
            <a:off x="9436446" y="197910"/>
            <a:ext cx="1163307" cy="1152592"/>
            <a:chOff x="0" y="0"/>
            <a:chExt cx="1551076" cy="1536789"/>
          </a:xfrm>
        </p:grpSpPr>
        <p:sp>
          <p:nvSpPr>
            <p:cNvPr id="15" name="Freeform 15" descr="Icon  Description automatically generated with medium confidence"/>
            <p:cNvSpPr/>
            <p:nvPr/>
          </p:nvSpPr>
          <p:spPr>
            <a:xfrm>
              <a:off x="0" y="0"/>
              <a:ext cx="1551051" cy="1536827"/>
            </a:xfrm>
            <a:custGeom>
              <a:avLst/>
              <a:gdLst/>
              <a:ahLst/>
              <a:cxnLst/>
              <a:rect l="l" t="t" r="r" b="b"/>
              <a:pathLst>
                <a:path w="1551051" h="1536827">
                  <a:moveTo>
                    <a:pt x="0" y="0"/>
                  </a:moveTo>
                  <a:lnTo>
                    <a:pt x="1551051" y="0"/>
                  </a:lnTo>
                  <a:lnTo>
                    <a:pt x="1551051" y="1536827"/>
                  </a:lnTo>
                  <a:lnTo>
                    <a:pt x="0" y="1536827"/>
                  </a:lnTo>
                  <a:lnTo>
                    <a:pt x="0" y="0"/>
                  </a:lnTo>
                  <a:close/>
                </a:path>
              </a:pathLst>
            </a:custGeom>
            <a:blipFill>
              <a:blip r:embed="rId3"/>
              <a:stretch>
                <a:fillRect l="-75" r="-76" b="2"/>
              </a:stretch>
            </a:blipFill>
          </p:spPr>
          <p:txBody>
            <a:bodyPr/>
            <a:lstStyle/>
            <a:p>
              <a:endParaRPr lang="vi-VN"/>
            </a:p>
          </p:txBody>
        </p:sp>
      </p:grpSp>
      <p:grpSp>
        <p:nvGrpSpPr>
          <p:cNvPr id="16" name="Group 16"/>
          <p:cNvGrpSpPr/>
          <p:nvPr/>
        </p:nvGrpSpPr>
        <p:grpSpPr>
          <a:xfrm>
            <a:off x="7688247" y="233439"/>
            <a:ext cx="1307516" cy="1081516"/>
            <a:chOff x="0" y="0"/>
            <a:chExt cx="1743354" cy="1442022"/>
          </a:xfrm>
        </p:grpSpPr>
        <p:sp>
          <p:nvSpPr>
            <p:cNvPr id="17" name="Freeform 17" descr="A picture containing clipart, vector graphics  Description automatically generated"/>
            <p:cNvSpPr/>
            <p:nvPr/>
          </p:nvSpPr>
          <p:spPr>
            <a:xfrm>
              <a:off x="0" y="0"/>
              <a:ext cx="1743329" cy="1442085"/>
            </a:xfrm>
            <a:custGeom>
              <a:avLst/>
              <a:gdLst/>
              <a:ahLst/>
              <a:cxnLst/>
              <a:rect l="l" t="t" r="r" b="b"/>
              <a:pathLst>
                <a:path w="1743329" h="1442085">
                  <a:moveTo>
                    <a:pt x="0" y="0"/>
                  </a:moveTo>
                  <a:lnTo>
                    <a:pt x="1743329" y="0"/>
                  </a:lnTo>
                  <a:lnTo>
                    <a:pt x="1743329" y="1442085"/>
                  </a:lnTo>
                  <a:lnTo>
                    <a:pt x="0" y="1442085"/>
                  </a:lnTo>
                  <a:lnTo>
                    <a:pt x="0" y="0"/>
                  </a:lnTo>
                  <a:close/>
                </a:path>
              </a:pathLst>
            </a:custGeom>
            <a:blipFill>
              <a:blip r:embed="rId4"/>
              <a:stretch>
                <a:fillRect t="-74" r="-1" b="-71"/>
              </a:stretch>
            </a:blipFill>
          </p:spPr>
          <p:txBody>
            <a:bodyPr/>
            <a:lstStyle/>
            <a:p>
              <a:endParaRPr lang="vi-VN"/>
            </a:p>
          </p:txBody>
        </p:sp>
      </p:grpSp>
      <p:sp>
        <p:nvSpPr>
          <p:cNvPr id="18" name="Freeform 18"/>
          <p:cNvSpPr/>
          <p:nvPr/>
        </p:nvSpPr>
        <p:spPr>
          <a:xfrm>
            <a:off x="17262338" y="364607"/>
            <a:ext cx="819198" cy="819198"/>
          </a:xfrm>
          <a:custGeom>
            <a:avLst/>
            <a:gdLst/>
            <a:ahLst/>
            <a:cxnLst/>
            <a:rect l="l" t="t" r="r" b="b"/>
            <a:pathLst>
              <a:path w="819198" h="819198">
                <a:moveTo>
                  <a:pt x="0" y="0"/>
                </a:moveTo>
                <a:lnTo>
                  <a:pt x="819198" y="0"/>
                </a:lnTo>
                <a:lnTo>
                  <a:pt x="819198" y="819198"/>
                </a:lnTo>
                <a:lnTo>
                  <a:pt x="0" y="81919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vi-VN"/>
          </a:p>
        </p:txBody>
      </p:sp>
      <p:grpSp>
        <p:nvGrpSpPr>
          <p:cNvPr id="19" name="Group 19"/>
          <p:cNvGrpSpPr/>
          <p:nvPr/>
        </p:nvGrpSpPr>
        <p:grpSpPr>
          <a:xfrm>
            <a:off x="1705232" y="2175643"/>
            <a:ext cx="15315943" cy="6434480"/>
            <a:chOff x="0" y="0"/>
            <a:chExt cx="20421257" cy="8579307"/>
          </a:xfrm>
        </p:grpSpPr>
        <p:sp>
          <p:nvSpPr>
            <p:cNvPr id="20" name="Freeform 20"/>
            <p:cNvSpPr/>
            <p:nvPr/>
          </p:nvSpPr>
          <p:spPr>
            <a:xfrm>
              <a:off x="0" y="0"/>
              <a:ext cx="20421346" cy="8579358"/>
            </a:xfrm>
            <a:custGeom>
              <a:avLst/>
              <a:gdLst/>
              <a:ahLst/>
              <a:cxnLst/>
              <a:rect l="l" t="t" r="r" b="b"/>
              <a:pathLst>
                <a:path w="20421346" h="8579358">
                  <a:moveTo>
                    <a:pt x="0" y="231775"/>
                  </a:moveTo>
                  <a:cubicBezTo>
                    <a:pt x="0" y="103759"/>
                    <a:pt x="103759" y="0"/>
                    <a:pt x="231775" y="0"/>
                  </a:cubicBezTo>
                  <a:lnTo>
                    <a:pt x="20189571" y="0"/>
                  </a:lnTo>
                  <a:cubicBezTo>
                    <a:pt x="20317586" y="0"/>
                    <a:pt x="20421346" y="103759"/>
                    <a:pt x="20421346" y="231775"/>
                  </a:cubicBezTo>
                  <a:lnTo>
                    <a:pt x="20421346" y="8347583"/>
                  </a:lnTo>
                  <a:cubicBezTo>
                    <a:pt x="20421346" y="8475599"/>
                    <a:pt x="20317586" y="8579358"/>
                    <a:pt x="20189571" y="8579358"/>
                  </a:cubicBezTo>
                  <a:lnTo>
                    <a:pt x="231775" y="8579358"/>
                  </a:lnTo>
                  <a:cubicBezTo>
                    <a:pt x="103759" y="8579358"/>
                    <a:pt x="0" y="8475599"/>
                    <a:pt x="0" y="8347583"/>
                  </a:cubicBezTo>
                  <a:close/>
                </a:path>
              </a:pathLst>
            </a:custGeom>
            <a:blipFill>
              <a:blip r:embed="rId6"/>
              <a:stretch>
                <a:fillRect l="-189" r="-189"/>
              </a:stretch>
            </a:blipFill>
          </p:spPr>
          <p:txBody>
            <a:bodyPr/>
            <a:lstStyle/>
            <a:p>
              <a:endParaRPr lang="vi-VN"/>
            </a:p>
          </p:txBody>
        </p:sp>
      </p:grpSp>
      <p:grpSp>
        <p:nvGrpSpPr>
          <p:cNvPr id="21" name="Group 21"/>
          <p:cNvGrpSpPr/>
          <p:nvPr/>
        </p:nvGrpSpPr>
        <p:grpSpPr>
          <a:xfrm>
            <a:off x="1705232" y="2175643"/>
            <a:ext cx="15315943" cy="6434480"/>
            <a:chOff x="0" y="0"/>
            <a:chExt cx="20421257" cy="8579307"/>
          </a:xfrm>
        </p:grpSpPr>
        <p:sp>
          <p:nvSpPr>
            <p:cNvPr id="22" name="Freeform 22"/>
            <p:cNvSpPr/>
            <p:nvPr/>
          </p:nvSpPr>
          <p:spPr>
            <a:xfrm>
              <a:off x="0" y="0"/>
              <a:ext cx="20421346" cy="8579358"/>
            </a:xfrm>
            <a:custGeom>
              <a:avLst/>
              <a:gdLst/>
              <a:ahLst/>
              <a:cxnLst/>
              <a:rect l="l" t="t" r="r" b="b"/>
              <a:pathLst>
                <a:path w="20421346" h="8579358">
                  <a:moveTo>
                    <a:pt x="0" y="231775"/>
                  </a:moveTo>
                  <a:cubicBezTo>
                    <a:pt x="0" y="103759"/>
                    <a:pt x="103759" y="0"/>
                    <a:pt x="231775" y="0"/>
                  </a:cubicBezTo>
                  <a:lnTo>
                    <a:pt x="20189571" y="0"/>
                  </a:lnTo>
                  <a:cubicBezTo>
                    <a:pt x="20317586" y="0"/>
                    <a:pt x="20421346" y="103759"/>
                    <a:pt x="20421346" y="231775"/>
                  </a:cubicBezTo>
                  <a:lnTo>
                    <a:pt x="20421346" y="8347583"/>
                  </a:lnTo>
                  <a:cubicBezTo>
                    <a:pt x="20421346" y="8475599"/>
                    <a:pt x="20317586" y="8579358"/>
                    <a:pt x="20189571" y="8579358"/>
                  </a:cubicBezTo>
                  <a:lnTo>
                    <a:pt x="231775" y="8579358"/>
                  </a:lnTo>
                  <a:cubicBezTo>
                    <a:pt x="103759" y="8579358"/>
                    <a:pt x="0" y="8475599"/>
                    <a:pt x="0" y="8347583"/>
                  </a:cubicBezTo>
                  <a:close/>
                </a:path>
              </a:pathLst>
            </a:custGeom>
            <a:gradFill rotWithShape="1">
              <a:gsLst>
                <a:gs pos="0">
                  <a:srgbClr val="38EF7D">
                    <a:alpha val="40000"/>
                  </a:srgbClr>
                </a:gs>
                <a:gs pos="100000">
                  <a:srgbClr val="11998E">
                    <a:alpha val="40000"/>
                  </a:srgbClr>
                </a:gs>
              </a:gsLst>
              <a:lin ang="4032715"/>
            </a:gradFill>
          </p:spPr>
          <p:txBody>
            <a:bodyPr/>
            <a:lstStyle/>
            <a:p>
              <a:endParaRPr lang="vi-VN"/>
            </a:p>
          </p:txBody>
        </p:sp>
      </p:grpSp>
      <p:grpSp>
        <p:nvGrpSpPr>
          <p:cNvPr id="23" name="Group 23"/>
          <p:cNvGrpSpPr/>
          <p:nvPr/>
        </p:nvGrpSpPr>
        <p:grpSpPr>
          <a:xfrm>
            <a:off x="0" y="2124"/>
            <a:ext cx="18291715" cy="10295487"/>
            <a:chOff x="0" y="0"/>
            <a:chExt cx="24388953" cy="13727316"/>
          </a:xfrm>
        </p:grpSpPr>
        <p:sp>
          <p:nvSpPr>
            <p:cNvPr id="24" name="Freeform 24"/>
            <p:cNvSpPr/>
            <p:nvPr/>
          </p:nvSpPr>
          <p:spPr>
            <a:xfrm>
              <a:off x="0" y="0"/>
              <a:ext cx="24388953" cy="13727303"/>
            </a:xfrm>
            <a:custGeom>
              <a:avLst/>
              <a:gdLst/>
              <a:ahLst/>
              <a:cxnLst/>
              <a:rect l="l" t="t" r="r" b="b"/>
              <a:pathLst>
                <a:path w="24388953" h="1372730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txBody>
            <a:bodyPr/>
            <a:lstStyle/>
            <a:p>
              <a:endParaRPr lang="vi-VN"/>
            </a:p>
          </p:txBody>
        </p:sp>
      </p:grpSp>
      <p:grpSp>
        <p:nvGrpSpPr>
          <p:cNvPr id="25" name="Group 25"/>
          <p:cNvGrpSpPr/>
          <p:nvPr/>
        </p:nvGrpSpPr>
        <p:grpSpPr>
          <a:xfrm>
            <a:off x="10848975" y="9534525"/>
            <a:ext cx="6172200" cy="547688"/>
            <a:chOff x="0" y="0"/>
            <a:chExt cx="8229600" cy="730250"/>
          </a:xfrm>
        </p:grpSpPr>
        <p:sp>
          <p:nvSpPr>
            <p:cNvPr id="26" name="Freeform 26"/>
            <p:cNvSpPr/>
            <p:nvPr/>
          </p:nvSpPr>
          <p:spPr>
            <a:xfrm>
              <a:off x="0" y="0"/>
              <a:ext cx="8229600" cy="730250"/>
            </a:xfrm>
            <a:custGeom>
              <a:avLst/>
              <a:gdLst/>
              <a:ahLst/>
              <a:cxnLst/>
              <a:rect l="l" t="t" r="r" b="b"/>
              <a:pathLst>
                <a:path w="8229600" h="730250">
                  <a:moveTo>
                    <a:pt x="0" y="0"/>
                  </a:moveTo>
                  <a:lnTo>
                    <a:pt x="8229600" y="0"/>
                  </a:lnTo>
                  <a:lnTo>
                    <a:pt x="8229600" y="730250"/>
                  </a:lnTo>
                  <a:lnTo>
                    <a:pt x="0" y="730250"/>
                  </a:lnTo>
                  <a:close/>
                </a:path>
              </a:pathLst>
            </a:custGeom>
            <a:blipFill>
              <a:blip r:embed="rId7">
                <a:alphaModFix amt="0"/>
              </a:blip>
              <a:stretch>
                <a:fillRect t="-169587" b="-169587"/>
              </a:stretch>
            </a:blipFill>
          </p:spPr>
          <p:txBody>
            <a:bodyPr/>
            <a:lstStyle/>
            <a:p>
              <a:endParaRPr lang="vi-VN"/>
            </a:p>
          </p:txBody>
        </p:sp>
        <p:sp>
          <p:nvSpPr>
            <p:cNvPr id="27" name="TextBox 27"/>
            <p:cNvSpPr txBox="1"/>
            <p:nvPr/>
          </p:nvSpPr>
          <p:spPr>
            <a:xfrm>
              <a:off x="0" y="-19050"/>
              <a:ext cx="8229600" cy="749300"/>
            </a:xfrm>
            <a:prstGeom prst="rect">
              <a:avLst/>
            </a:prstGeom>
          </p:spPr>
          <p:txBody>
            <a:bodyPr lIns="0" tIns="0" rIns="0" bIns="0" rtlCol="0" anchor="ctr"/>
            <a:lstStyle/>
            <a:p>
              <a:pPr algn="ctr">
                <a:lnSpc>
                  <a:spcPts val="2160"/>
                </a:lnSpc>
              </a:pPr>
              <a:r>
                <a:rPr lang="en-US" sz="1800">
                  <a:solidFill>
                    <a:srgbClr val="898989"/>
                  </a:solidFill>
                  <a:latin typeface="Arial"/>
                  <a:ea typeface="Arial"/>
                  <a:cs typeface="Arial"/>
                  <a:sym typeface="Arial"/>
                </a:rPr>
                <a:t>Copyrights 2024 CE-UIT. All Rights Reserved.</a:t>
              </a:r>
            </a:p>
          </p:txBody>
        </p:sp>
      </p:grpSp>
      <p:grpSp>
        <p:nvGrpSpPr>
          <p:cNvPr id="28" name="Group 28"/>
          <p:cNvGrpSpPr/>
          <p:nvPr/>
        </p:nvGrpSpPr>
        <p:grpSpPr>
          <a:xfrm>
            <a:off x="15614542" y="498424"/>
            <a:ext cx="4114800" cy="547688"/>
            <a:chOff x="0" y="0"/>
            <a:chExt cx="5486400" cy="730250"/>
          </a:xfrm>
        </p:grpSpPr>
        <p:sp>
          <p:nvSpPr>
            <p:cNvPr id="29" name="Freeform 29"/>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blipFill>
              <a:blip r:embed="rId7">
                <a:alphaModFix amt="0"/>
              </a:blip>
              <a:stretch>
                <a:fillRect t="-96391" b="-96391"/>
              </a:stretch>
            </a:blipFill>
          </p:spPr>
          <p:txBody>
            <a:bodyPr/>
            <a:lstStyle/>
            <a:p>
              <a:endParaRPr lang="vi-VN"/>
            </a:p>
          </p:txBody>
        </p:sp>
        <p:sp>
          <p:nvSpPr>
            <p:cNvPr id="30" name="TextBox 30"/>
            <p:cNvSpPr txBox="1"/>
            <p:nvPr/>
          </p:nvSpPr>
          <p:spPr>
            <a:xfrm>
              <a:off x="0" y="-19050"/>
              <a:ext cx="5486400" cy="749300"/>
            </a:xfrm>
            <a:prstGeom prst="rect">
              <a:avLst/>
            </a:prstGeom>
          </p:spPr>
          <p:txBody>
            <a:bodyPr lIns="0" tIns="0" rIns="0" bIns="0" rtlCol="0" anchor="ctr"/>
            <a:lstStyle/>
            <a:p>
              <a:pPr algn="ctr">
                <a:lnSpc>
                  <a:spcPts val="2160"/>
                </a:lnSpc>
              </a:pPr>
              <a:r>
                <a:rPr lang="en-US" sz="1800">
                  <a:solidFill>
                    <a:srgbClr val="FFFFFF"/>
                  </a:solidFill>
                  <a:latin typeface="Arial"/>
                  <a:ea typeface="Arial"/>
                  <a:cs typeface="Arial"/>
                  <a:sym typeface="Arial"/>
                </a:rPr>
                <a:t>21</a:t>
              </a:r>
            </a:p>
          </p:txBody>
        </p:sp>
      </p:grpSp>
      <p:grpSp>
        <p:nvGrpSpPr>
          <p:cNvPr id="31" name="Group 31"/>
          <p:cNvGrpSpPr/>
          <p:nvPr/>
        </p:nvGrpSpPr>
        <p:grpSpPr>
          <a:xfrm>
            <a:off x="2480043" y="3638074"/>
            <a:ext cx="13766321" cy="2258930"/>
            <a:chOff x="0" y="0"/>
            <a:chExt cx="18355094" cy="3011907"/>
          </a:xfrm>
        </p:grpSpPr>
        <p:sp>
          <p:nvSpPr>
            <p:cNvPr id="32" name="Freeform 32"/>
            <p:cNvSpPr/>
            <p:nvPr/>
          </p:nvSpPr>
          <p:spPr>
            <a:xfrm>
              <a:off x="0" y="0"/>
              <a:ext cx="18355097" cy="3011906"/>
            </a:xfrm>
            <a:custGeom>
              <a:avLst/>
              <a:gdLst/>
              <a:ahLst/>
              <a:cxnLst/>
              <a:rect l="l" t="t" r="r" b="b"/>
              <a:pathLst>
                <a:path w="18355097" h="3011906">
                  <a:moveTo>
                    <a:pt x="0" y="0"/>
                  </a:moveTo>
                  <a:lnTo>
                    <a:pt x="18355097" y="0"/>
                  </a:lnTo>
                  <a:lnTo>
                    <a:pt x="18355097" y="3011906"/>
                  </a:lnTo>
                  <a:lnTo>
                    <a:pt x="0" y="3011906"/>
                  </a:lnTo>
                  <a:close/>
                </a:path>
              </a:pathLst>
            </a:custGeom>
            <a:blipFill>
              <a:blip r:embed="rId7">
                <a:alphaModFix amt="0"/>
              </a:blip>
              <a:stretch>
                <a:fillRect t="-68745" b="-68745"/>
              </a:stretch>
            </a:blipFill>
          </p:spPr>
          <p:txBody>
            <a:bodyPr/>
            <a:lstStyle/>
            <a:p>
              <a:endParaRPr lang="vi-VN"/>
            </a:p>
          </p:txBody>
        </p:sp>
        <p:sp>
          <p:nvSpPr>
            <p:cNvPr id="33" name="TextBox 33"/>
            <p:cNvSpPr txBox="1"/>
            <p:nvPr/>
          </p:nvSpPr>
          <p:spPr>
            <a:xfrm>
              <a:off x="0" y="57150"/>
              <a:ext cx="18355094" cy="2954757"/>
            </a:xfrm>
            <a:prstGeom prst="rect">
              <a:avLst/>
            </a:prstGeom>
          </p:spPr>
          <p:txBody>
            <a:bodyPr lIns="0" tIns="0" rIns="0" bIns="0" rtlCol="0" anchor="ctr"/>
            <a:lstStyle/>
            <a:p>
              <a:pPr algn="l">
                <a:lnSpc>
                  <a:spcPts val="8748"/>
                </a:lnSpc>
              </a:pPr>
              <a:r>
                <a:rPr lang="en-US" sz="8100" b="1">
                  <a:solidFill>
                    <a:srgbClr val="FFFFFF"/>
                  </a:solidFill>
                  <a:latin typeface="Times New Roman Bold"/>
                  <a:ea typeface="Times New Roman Bold"/>
                  <a:cs typeface="Times New Roman Bold"/>
                  <a:sym typeface="Times New Roman Bold"/>
                </a:rPr>
                <a:t>HỎI VÀ ĐÁP</a:t>
              </a:r>
            </a:p>
          </p:txBody>
        </p:sp>
      </p:grpSp>
      <p:sp>
        <p:nvSpPr>
          <p:cNvPr id="34" name="TextBox 34"/>
          <p:cNvSpPr txBox="1"/>
          <p:nvPr/>
        </p:nvSpPr>
        <p:spPr>
          <a:xfrm>
            <a:off x="2571483" y="1020985"/>
            <a:ext cx="2896076" cy="2454116"/>
          </a:xfrm>
          <a:prstGeom prst="rect">
            <a:avLst/>
          </a:prstGeom>
        </p:spPr>
        <p:txBody>
          <a:bodyPr lIns="0" tIns="0" rIns="0" bIns="0" rtlCol="0" anchor="t">
            <a:spAutoFit/>
          </a:bodyPr>
          <a:lstStyle/>
          <a:p>
            <a:pPr algn="l">
              <a:lnSpc>
                <a:spcPts val="18630"/>
              </a:lnSpc>
            </a:pPr>
            <a:r>
              <a:rPr lang="en-US" sz="17250" b="1">
                <a:solidFill>
                  <a:srgbClr val="FFFFFF">
                    <a:alpha val="65098"/>
                  </a:srgbClr>
                </a:solidFill>
                <a:latin typeface="Arial Bold"/>
                <a:ea typeface="Arial Bold"/>
                <a:cs typeface="Arial Bold"/>
                <a:sym typeface="Arial Bold"/>
              </a:rPr>
              <a:t>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334</TotalTime>
  <Words>1744</Words>
  <Application>Microsoft Office PowerPoint</Application>
  <PresentationFormat>Custom</PresentationFormat>
  <Paragraphs>194</Paragraphs>
  <Slides>21</Slides>
  <Notes>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21</vt:i4>
      </vt:variant>
    </vt:vector>
  </HeadingPairs>
  <TitlesOfParts>
    <vt:vector size="30" baseType="lpstr">
      <vt:lpstr>Arial Italics</vt:lpstr>
      <vt:lpstr>Courier New</vt:lpstr>
      <vt:lpstr>Times New Roman</vt:lpstr>
      <vt:lpstr>Arial</vt:lpstr>
      <vt:lpstr>Wingdings</vt:lpstr>
      <vt:lpstr>Arial Bold</vt:lpstr>
      <vt:lpstr>Times New Roman Bold</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BẢO VỆ ĐỀ CƯƠNG - VDTK</dc:title>
  <cp:lastModifiedBy>Nguyễn Xuân Dũng</cp:lastModifiedBy>
  <cp:revision>7</cp:revision>
  <dcterms:created xsi:type="dcterms:W3CDTF">2006-08-16T00:00:00Z</dcterms:created>
  <dcterms:modified xsi:type="dcterms:W3CDTF">2026-09-12T08:36:10Z</dcterms:modified>
  <dc:identifier>DAHER-P0Xlg</dc:identifier>
</cp:coreProperties>
</file>